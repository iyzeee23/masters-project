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25" d="100"/>
          <a:sy n="125" d="100"/>
        </p:scale>
        <p:origin x="96" y="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35816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Tema rada je razvoj interaktivnog sistema koji povezuje vizualizaciju, poređenje, merenje i aktivno učenje algoritama za pronalaženje puta. Veštačka inteligencija ima pomoćnu ulogu: objašnjava rezultate koje je sistem prethodno proverio.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Polazni problem nije samo pronalaženje puta. Postojeći vizualizatori uglavnom dobro prikazuju tok jednog algoritma, ali često razdvajaju ono što je za razumevanje potrebno zajedno: posmatranje, direktno poređenje, merenje i samostalno rešavanje. Cilj rada bio je da se ta iskustva objedine u jednom nastavnom alatu.</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Rešenje je organizovano kao progresija. Vizualizacija odgovara na pitanje kako jedan algoritam radi. Poređenje pokazuje zašto se više algoritama ponaša različito na istom problemu. Igraonica zatim pretvara korisnika iz posmatrača u učesnika: put se konstruiše ručno, a sistem proverava ispravnost, cenu i kvalitet rešenja.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 glavnom ekranu centralno mesto zauzima mapa. Sa leve strane je legenda, sa desne merene vrednosti, a kontrole ostaju iznad mreže. Korisnik može da crta prepreke i težinski teren, pokrene ili premota izvršavanje, generiše mape i zatraži objašnjenje. Isti raspored se zadržava kroz sva tri režima, kako bi pažnja ostala na ponašanju algoritma.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Klijentski deo je realizovan u Angular-u i TypeScript-u, a mreža se crta na Canvas-u radi efikasnog prikaza velikog broja ćelija. Node.js i Express čine serverski sloj za naloge, čuvanje, bodovanje, brza izvršavanja i komunikaciju sa AI servisom. MongoDB obezbeđuje trajne podatke, Socket.IO osvežava rang-listu, a Python se koristi nakon eksperimenata za statističku obradu i grafikone.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Centralna implementaciona odluka jeste potpuno razdvajanje algoritma od prikaza. Svaki korak algoritma emituje standardizovane događaje, na primer otkriven čvor, obrađen čvor ili pronađen put. Prikaz samo reprodukuje trag. Tako su omogućeni pauza, korak napred, korak nazad i premotavanje, a dodavanje novog algoritma ne zahteva novu logiku crtanja.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Veštačka inteligencija nije postavljena kao kalkulator niti kao konačni autoritet. Server prvo pokreće algoritme, proverava put, računa metrike ili bira ključne trenutke. Jezički model dobija taj provereni kontekst i pretvara ga u razumljivo objašnjenje. Ovaj obrazac se koristi u Tutoru, Generatoru, Preporuci i kontekstualnoj pomoći.</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Za evaluaciju je napravljen poseban benchmark podsistem. Tok počinje istraživačkim pitanjem, zatim se menja jedna kontrolisana osobina scenarija, čuvaju se sirovi rezultati svakog pokretanja i tek potom se rade statistička obrada i zaključivanje. Obim je obuhvatio 9.444 simulacije algoritama, 11.250 simulacija bodovnog sistema i 430 poziva ka pet jezičkih modela.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Četiri mere nose glavno tumačenje. Broj proširenih čvorova opisuje količinu rada. Maksimalni frontijer daje približnu sliku memorijskog pritiska. Stvarna cena puta ponovo se računa istim pravilom za sve algoritme. Suboptimalnost pokazuje koliko taj put odstupa od Dijkstrine referentne cene. Vreme je zadržano kao dopuna, ali ne kao jedini kriterijum, jer zavisi od računara i trenutnog opterećenja.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Najjasniji rezultat je poređenje Dijkstre i A*. Oba algoritma su u zbirnom eksperimentu imala nultu suboptimalnost, dakle vraćala su najjeftiniji put. A* je ipak prosečno proširio oko 219 čvorova, naspram 584 kod Dijkstre, što predstavlja 62,5 odsto manje istraživanja. Heuristika je usmerila pretragu bez gubitka kvaliteta.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Drugi važan rezultat pokazuje kompromis. U zbirnom eksperimentu A* je prosečno proširio 218,74 čvora uz nultu suboptimalnost. Swarm je proširio 123,50 čvorova, odnosno 43,5 odsto manje, uz prosečnu suboptimalnost od 2,97 odsto. Povećanjem težine heuristike dobija se brzina, ali se napušta stroga garancija optimalnosti.</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Svaki od osam algoritama ima smisla u odgovarajućem kontekstu. BFS garantuje najkraći broj koraka na neponderisanom grafu. DFS je dubinski i ne garantuje optimalnost. Dijkstra je referenca za najnižu cenu. A* zadržava optimalnost uz odgovarajuću heuristiku. Greedy daje najmanje rada, ali veći rizik suboptimalnosti. Swarm i Convergent Swarm pomeraju kompromis ka brzini, dok je 0–1 BFS specijalista isključivo za binarne težine.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Evaluacija obuhvata četiri nivoa. Algoritmi su provereni kroz 9.444 ponovljive simulacije, bodovanje u Igraonici kroz 11.250 simuliranih profila, AI sloj kroz 430 poziva ka pet modela, a interfejs kroz svih deset Nielsenovih heurističkih principa. Ove četiri perspektive zajedno proveravaju ponašanje celog sistema.</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Interfejs je pregledan prema svih deset Nielsenovih heuristika. Status je stalno vidljiv, metafora mape je razumljiva, korisnik kontroliše tok, a boje i raspored ostaju dosledni. Greške se sprečavaju validacijom, potrebne informacije su vidljive, napredne kontrole ubrzavaju rad, Canvas ostaje u fokusu, poruke pomažu oporavku, a vodič i AI Tutor pružaju pomoć u kontekstu.</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Pathfinder povezuje vizualizaciju, poređenje, merenje, aktivno rešavanje i AI objašnjenje u jednom proverljivom sistemu. Hvala na pažnji. Otvara se prostor za pitanja komisije.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3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
          </a:xfrm>
          <a:prstGeom prst="rect">
            <a:avLst/>
          </a:prstGeom>
          <a:solidFill>
            <a:srgbClr val="8B5E50"/>
          </a:solidFill>
          <a:ln w="12700">
            <a:solidFill>
              <a:srgbClr val="8B5E50"/>
            </a:solidFill>
            <a:prstDash val="solid"/>
          </a:ln>
        </p:spPr>
        <p:txBody>
          <a:bodyPr/>
          <a:lstStyle/>
          <a:p>
            <a:endParaRPr lang="en-US"/>
          </a:p>
        </p:txBody>
      </p:sp>
      <p:sp>
        <p:nvSpPr>
          <p:cNvPr id="3" name="Text 1"/>
          <p:cNvSpPr/>
          <p:nvPr/>
        </p:nvSpPr>
        <p:spPr>
          <a:xfrm>
            <a:off x="786384" y="475488"/>
            <a:ext cx="7680960" cy="256032"/>
          </a:xfrm>
          <a:prstGeom prst="rect">
            <a:avLst/>
          </a:prstGeom>
          <a:noFill/>
          <a:ln/>
        </p:spPr>
        <p:txBody>
          <a:bodyPr wrap="square" lIns="0" tIns="0" rIns="0" bIns="0" rtlCol="0" anchor="ctr">
            <a:normAutofit/>
          </a:bodyPr>
          <a:lstStyle/>
          <a:p>
            <a:pPr marL="0" indent="0">
              <a:buNone/>
            </a:pPr>
            <a:r>
              <a:rPr lang="en-US" sz="1200" b="1" kern="0" spc="70" dirty="0">
                <a:solidFill>
                  <a:srgbClr val="6E473B"/>
                </a:solidFill>
                <a:latin typeface="Aptos" pitchFamily="34" charset="0"/>
                <a:ea typeface="Aptos" pitchFamily="34" charset="-122"/>
                <a:cs typeface="Aptos" pitchFamily="34" charset="-120"/>
              </a:rPr>
              <a:t>UNIVERZITET U BEOGRADU · ELEKTROTEHNIČKI FAKULTET</a:t>
            </a:r>
            <a:endParaRPr lang="en-US" sz="1200" dirty="0"/>
          </a:p>
        </p:txBody>
      </p:sp>
      <p:sp>
        <p:nvSpPr>
          <p:cNvPr id="4" name="Shape 2"/>
          <p:cNvSpPr/>
          <p:nvPr/>
        </p:nvSpPr>
        <p:spPr>
          <a:xfrm>
            <a:off x="8668512" y="749808"/>
            <a:ext cx="2706624" cy="3968496"/>
          </a:xfrm>
          <a:prstGeom prst="roundRect">
            <a:avLst/>
          </a:prstGeom>
          <a:solidFill>
            <a:srgbClr val="F3ECE4"/>
          </a:solidFill>
          <a:ln w="12700">
            <a:solidFill>
              <a:srgbClr val="F3ECE4"/>
            </a:solidFill>
            <a:prstDash val="solid"/>
          </a:ln>
        </p:spPr>
        <p:txBody>
          <a:bodyPr/>
          <a:lstStyle/>
          <a:p>
            <a:endParaRPr lang="en-US"/>
          </a:p>
        </p:txBody>
      </p:sp>
      <p:sp>
        <p:nvSpPr>
          <p:cNvPr id="5" name="Shape 3"/>
          <p:cNvSpPr/>
          <p:nvPr/>
        </p:nvSpPr>
        <p:spPr>
          <a:xfrm>
            <a:off x="9015984" y="1216152"/>
            <a:ext cx="2011680" cy="2011680"/>
          </a:xfrm>
          <a:prstGeom prst="ellipse">
            <a:avLst/>
          </a:prstGeom>
          <a:solidFill>
            <a:srgbClr val="FFFFFF">
              <a:alpha val="58000"/>
            </a:srgbClr>
          </a:solidFill>
          <a:ln w="12700">
            <a:solidFill>
              <a:srgbClr val="DED2C5">
                <a:alpha val="0"/>
              </a:srgbClr>
            </a:solidFill>
            <a:prstDash val="solid"/>
          </a:ln>
        </p:spPr>
        <p:txBody>
          <a:bodyPr/>
          <a:lstStyle/>
          <a:p>
            <a:endParaRPr lang="en-US"/>
          </a:p>
        </p:txBody>
      </p:sp>
      <p:pic>
        <p:nvPicPr>
          <p:cNvPr id="6" name="Image 0" descr="Grb Elektrotehničkog fakulteta Univerziteta u Beogradu"/>
          <p:cNvPicPr>
            <a:picLocks noChangeAspect="1"/>
          </p:cNvPicPr>
          <p:nvPr/>
        </p:nvPicPr>
        <p:blipFill>
          <a:blip r:embed="rId3"/>
          <a:srcRect/>
          <a:stretch/>
        </p:blipFill>
        <p:spPr>
          <a:xfrm>
            <a:off x="8887968" y="987552"/>
            <a:ext cx="2267712" cy="2999232"/>
          </a:xfrm>
          <a:prstGeom prst="rect">
            <a:avLst/>
          </a:prstGeom>
        </p:spPr>
      </p:pic>
      <p:sp>
        <p:nvSpPr>
          <p:cNvPr id="7" name="Text 4"/>
          <p:cNvSpPr/>
          <p:nvPr/>
        </p:nvSpPr>
        <p:spPr>
          <a:xfrm>
            <a:off x="8961120" y="4160520"/>
            <a:ext cx="2121408" cy="228600"/>
          </a:xfrm>
          <a:prstGeom prst="rect">
            <a:avLst/>
          </a:prstGeom>
          <a:noFill/>
          <a:ln/>
        </p:spPr>
        <p:txBody>
          <a:bodyPr wrap="square" lIns="0" tIns="0" rIns="0" bIns="0" rtlCol="0" anchor="ctr">
            <a:normAutofit/>
          </a:bodyPr>
          <a:lstStyle/>
          <a:p>
            <a:pPr marL="0" indent="0" algn="ctr">
              <a:buNone/>
            </a:pPr>
            <a:r>
              <a:rPr lang="en-US" sz="1000" b="1" kern="0" spc="180" dirty="0">
                <a:solidFill>
                  <a:srgbClr val="8B5E50"/>
                </a:solidFill>
                <a:latin typeface="Aptos" pitchFamily="34" charset="0"/>
                <a:ea typeface="Aptos" pitchFamily="34" charset="-122"/>
                <a:cs typeface="Aptos" pitchFamily="34" charset="-120"/>
              </a:rPr>
              <a:t>MASTER RAD</a:t>
            </a:r>
            <a:endParaRPr lang="en-US" sz="1000" dirty="0"/>
          </a:p>
        </p:txBody>
      </p:sp>
      <p:sp>
        <p:nvSpPr>
          <p:cNvPr id="8" name="Shape 5"/>
          <p:cNvSpPr/>
          <p:nvPr/>
        </p:nvSpPr>
        <p:spPr>
          <a:xfrm>
            <a:off x="786384" y="1298448"/>
            <a:ext cx="77724" cy="3090672"/>
          </a:xfrm>
          <a:prstGeom prst="rect">
            <a:avLst/>
          </a:prstGeom>
          <a:solidFill>
            <a:srgbClr val="8B5E50"/>
          </a:solidFill>
          <a:ln w="12700">
            <a:solidFill>
              <a:srgbClr val="8B5E50"/>
            </a:solidFill>
            <a:prstDash val="solid"/>
          </a:ln>
        </p:spPr>
        <p:txBody>
          <a:bodyPr/>
          <a:lstStyle/>
          <a:p>
            <a:endParaRPr lang="en-US"/>
          </a:p>
        </p:txBody>
      </p:sp>
      <p:sp>
        <p:nvSpPr>
          <p:cNvPr id="9" name="Text 6"/>
          <p:cNvSpPr/>
          <p:nvPr/>
        </p:nvSpPr>
        <p:spPr>
          <a:xfrm>
            <a:off x="1115568" y="1271016"/>
            <a:ext cx="7159752" cy="2971800"/>
          </a:xfrm>
          <a:prstGeom prst="rect">
            <a:avLst/>
          </a:prstGeom>
          <a:noFill/>
          <a:ln/>
        </p:spPr>
        <p:txBody>
          <a:bodyPr wrap="square" lIns="0" tIns="0" rIns="0" bIns="0" rtlCol="0" anchor="ctr">
            <a:normAutofit/>
          </a:bodyPr>
          <a:lstStyle/>
          <a:p>
            <a:pPr marL="0" indent="0">
              <a:buNone/>
            </a:pPr>
            <a:r>
              <a:rPr lang="en-US" sz="3100" dirty="0">
                <a:solidFill>
                  <a:srgbClr val="352B26"/>
                </a:solidFill>
                <a:latin typeface="Georgia" pitchFamily="34" charset="0"/>
                <a:ea typeface="Georgia" pitchFamily="34" charset="-122"/>
                <a:cs typeface="Georgia" pitchFamily="34" charset="-120"/>
              </a:rPr>
              <a:t>Interaktivna vizualizacija grafovskih algoritama za pronalaženje puta sa podrškom veštačke inteligencije</a:t>
            </a:r>
            <a:endParaRPr lang="en-US" sz="3100" dirty="0"/>
          </a:p>
        </p:txBody>
      </p:sp>
      <p:sp>
        <p:nvSpPr>
          <p:cNvPr id="10" name="Shape 7"/>
          <p:cNvSpPr/>
          <p:nvPr/>
        </p:nvSpPr>
        <p:spPr>
          <a:xfrm>
            <a:off x="771297" y="5184648"/>
            <a:ext cx="10588752" cy="1060704"/>
          </a:xfrm>
          <a:prstGeom prst="roundRect">
            <a:avLst/>
          </a:prstGeom>
          <a:solidFill>
            <a:srgbClr val="F3ECE4"/>
          </a:solidFill>
          <a:ln w="12700">
            <a:solidFill>
              <a:srgbClr val="F3ECE4"/>
            </a:solidFill>
            <a:prstDash val="solid"/>
          </a:ln>
        </p:spPr>
        <p:txBody>
          <a:bodyPr/>
          <a:lstStyle/>
          <a:p>
            <a:endParaRPr lang="en-US"/>
          </a:p>
        </p:txBody>
      </p:sp>
      <p:sp>
        <p:nvSpPr>
          <p:cNvPr id="11" name="Shape 8"/>
          <p:cNvSpPr/>
          <p:nvPr/>
        </p:nvSpPr>
        <p:spPr>
          <a:xfrm>
            <a:off x="801624" y="4917186"/>
            <a:ext cx="10588752" cy="50292"/>
          </a:xfrm>
          <a:prstGeom prst="rect">
            <a:avLst/>
          </a:prstGeom>
          <a:solidFill>
            <a:srgbClr val="8B5E50"/>
          </a:solidFill>
          <a:ln w="12700">
            <a:solidFill>
              <a:srgbClr val="8B5E50"/>
            </a:solidFill>
            <a:prstDash val="solid"/>
          </a:ln>
        </p:spPr>
        <p:txBody>
          <a:bodyPr/>
          <a:lstStyle/>
          <a:p>
            <a:endParaRPr lang="en-US"/>
          </a:p>
        </p:txBody>
      </p:sp>
      <p:sp>
        <p:nvSpPr>
          <p:cNvPr id="12" name="Text 9"/>
          <p:cNvSpPr/>
          <p:nvPr/>
        </p:nvSpPr>
        <p:spPr>
          <a:xfrm>
            <a:off x="1027329" y="5404104"/>
            <a:ext cx="1389888" cy="164592"/>
          </a:xfrm>
          <a:prstGeom prst="rect">
            <a:avLst/>
          </a:prstGeom>
          <a:noFill/>
          <a:ln/>
        </p:spPr>
        <p:txBody>
          <a:bodyPr wrap="square" lIns="0" tIns="0" rIns="0" bIns="0" rtlCol="0" anchor="ctr">
            <a:normAutofit/>
          </a:bodyPr>
          <a:lstStyle/>
          <a:p>
            <a:pPr marL="0" indent="0">
              <a:buNone/>
            </a:pPr>
            <a:r>
              <a:rPr lang="en-US" sz="950" b="1" kern="0" spc="110" dirty="0">
                <a:solidFill>
                  <a:srgbClr val="8B5E50"/>
                </a:solidFill>
                <a:latin typeface="Aptos" pitchFamily="34" charset="0"/>
                <a:ea typeface="Aptos" pitchFamily="34" charset="-122"/>
                <a:cs typeface="Aptos" pitchFamily="34" charset="-120"/>
              </a:rPr>
              <a:t>KANDIDAT</a:t>
            </a:r>
            <a:endParaRPr lang="en-US" sz="950" dirty="0"/>
          </a:p>
        </p:txBody>
      </p:sp>
      <p:sp>
        <p:nvSpPr>
          <p:cNvPr id="13" name="Text 10"/>
          <p:cNvSpPr/>
          <p:nvPr/>
        </p:nvSpPr>
        <p:spPr>
          <a:xfrm>
            <a:off x="1027329" y="5669280"/>
            <a:ext cx="3154680" cy="310896"/>
          </a:xfrm>
          <a:prstGeom prst="rect">
            <a:avLst/>
          </a:prstGeom>
          <a:noFill/>
          <a:ln/>
        </p:spPr>
        <p:txBody>
          <a:bodyPr wrap="square" lIns="0" tIns="0" rIns="0" bIns="0" rtlCol="0" anchor="ctr">
            <a:normAutofit/>
          </a:bodyPr>
          <a:lstStyle/>
          <a:p>
            <a:pPr marL="0" indent="0">
              <a:buNone/>
            </a:pPr>
            <a:r>
              <a:rPr lang="en-US" sz="1750" b="1" dirty="0">
                <a:solidFill>
                  <a:srgbClr val="352B26"/>
                </a:solidFill>
                <a:latin typeface="Aptos" pitchFamily="34" charset="0"/>
                <a:ea typeface="Aptos" pitchFamily="34" charset="-122"/>
                <a:cs typeface="Aptos" pitchFamily="34" charset="-120"/>
              </a:rPr>
              <a:t>Predrag Pešić · 2024/3281</a:t>
            </a:r>
            <a:endParaRPr lang="en-US" sz="1750" dirty="0"/>
          </a:p>
        </p:txBody>
      </p:sp>
      <p:sp>
        <p:nvSpPr>
          <p:cNvPr id="14" name="Shape 11"/>
          <p:cNvSpPr/>
          <p:nvPr/>
        </p:nvSpPr>
        <p:spPr>
          <a:xfrm>
            <a:off x="4346601" y="5376672"/>
            <a:ext cx="0" cy="658368"/>
          </a:xfrm>
          <a:prstGeom prst="line">
            <a:avLst/>
          </a:prstGeom>
          <a:noFill/>
          <a:ln w="12700">
            <a:solidFill>
              <a:srgbClr val="DED2C5"/>
            </a:solidFill>
            <a:prstDash val="solid"/>
          </a:ln>
        </p:spPr>
        <p:txBody>
          <a:bodyPr/>
          <a:lstStyle/>
          <a:p>
            <a:endParaRPr lang="en-US"/>
          </a:p>
        </p:txBody>
      </p:sp>
      <p:sp>
        <p:nvSpPr>
          <p:cNvPr id="15" name="Text 12"/>
          <p:cNvSpPr/>
          <p:nvPr/>
        </p:nvSpPr>
        <p:spPr>
          <a:xfrm>
            <a:off x="4675785" y="5404104"/>
            <a:ext cx="1225296" cy="164592"/>
          </a:xfrm>
          <a:prstGeom prst="rect">
            <a:avLst/>
          </a:prstGeom>
          <a:noFill/>
          <a:ln/>
        </p:spPr>
        <p:txBody>
          <a:bodyPr wrap="square" lIns="0" tIns="0" rIns="0" bIns="0" rtlCol="0" anchor="ctr">
            <a:normAutofit/>
          </a:bodyPr>
          <a:lstStyle/>
          <a:p>
            <a:pPr marL="0" indent="0">
              <a:buNone/>
            </a:pPr>
            <a:r>
              <a:rPr lang="en-US" sz="950" b="1" kern="0" spc="110" dirty="0">
                <a:solidFill>
                  <a:srgbClr val="8B5E50"/>
                </a:solidFill>
                <a:latin typeface="Aptos" pitchFamily="34" charset="0"/>
                <a:ea typeface="Aptos" pitchFamily="34" charset="-122"/>
                <a:cs typeface="Aptos" pitchFamily="34" charset="-120"/>
              </a:rPr>
              <a:t>MENTOR</a:t>
            </a:r>
            <a:endParaRPr lang="en-US" sz="950" dirty="0"/>
          </a:p>
        </p:txBody>
      </p:sp>
      <p:sp>
        <p:nvSpPr>
          <p:cNvPr id="16" name="Text 13"/>
          <p:cNvSpPr/>
          <p:nvPr/>
        </p:nvSpPr>
        <p:spPr>
          <a:xfrm>
            <a:off x="4675785" y="5669280"/>
            <a:ext cx="3401568" cy="310896"/>
          </a:xfrm>
          <a:prstGeom prst="rect">
            <a:avLst/>
          </a:prstGeom>
          <a:noFill/>
          <a:ln/>
        </p:spPr>
        <p:txBody>
          <a:bodyPr wrap="square" lIns="0" tIns="0" rIns="0" bIns="0" rtlCol="0" anchor="ctr">
            <a:normAutofit/>
          </a:bodyPr>
          <a:lstStyle/>
          <a:p>
            <a:pPr marL="0" indent="0">
              <a:buNone/>
            </a:pPr>
            <a:r>
              <a:rPr lang="en-US" sz="1750" b="1" dirty="0">
                <a:solidFill>
                  <a:srgbClr val="352B26"/>
                </a:solidFill>
                <a:latin typeface="Aptos" pitchFamily="34" charset="0"/>
                <a:ea typeface="Aptos" pitchFamily="34" charset="-122"/>
                <a:cs typeface="Aptos" pitchFamily="34" charset="-120"/>
              </a:rPr>
              <a:t>prof. dr Marija Punt</a:t>
            </a:r>
            <a:endParaRPr lang="en-US" sz="1750" dirty="0"/>
          </a:p>
        </p:txBody>
      </p:sp>
      <p:sp>
        <p:nvSpPr>
          <p:cNvPr id="17" name="Shape 14"/>
          <p:cNvSpPr/>
          <p:nvPr/>
        </p:nvSpPr>
        <p:spPr>
          <a:xfrm>
            <a:off x="8543697" y="5376672"/>
            <a:ext cx="0" cy="658368"/>
          </a:xfrm>
          <a:prstGeom prst="line">
            <a:avLst/>
          </a:prstGeom>
          <a:noFill/>
          <a:ln w="12700">
            <a:solidFill>
              <a:srgbClr val="DED2C5"/>
            </a:solidFill>
            <a:prstDash val="solid"/>
          </a:ln>
        </p:spPr>
        <p:txBody>
          <a:bodyPr/>
          <a:lstStyle/>
          <a:p>
            <a:endParaRPr lang="en-US"/>
          </a:p>
        </p:txBody>
      </p:sp>
      <p:sp>
        <p:nvSpPr>
          <p:cNvPr id="18" name="Text 15"/>
          <p:cNvSpPr/>
          <p:nvPr/>
        </p:nvSpPr>
        <p:spPr>
          <a:xfrm>
            <a:off x="8872881" y="5404104"/>
            <a:ext cx="1280160" cy="164592"/>
          </a:xfrm>
          <a:prstGeom prst="rect">
            <a:avLst/>
          </a:prstGeom>
          <a:noFill/>
          <a:ln/>
        </p:spPr>
        <p:txBody>
          <a:bodyPr wrap="square" lIns="0" tIns="0" rIns="0" bIns="0" rtlCol="0" anchor="ctr">
            <a:normAutofit/>
          </a:bodyPr>
          <a:lstStyle/>
          <a:p>
            <a:pPr marL="0" indent="0">
              <a:buNone/>
            </a:pPr>
            <a:r>
              <a:rPr lang="en-US" sz="950" b="1" kern="0" spc="110" dirty="0">
                <a:solidFill>
                  <a:srgbClr val="8B5E50"/>
                </a:solidFill>
                <a:latin typeface="Aptos" pitchFamily="34" charset="0"/>
                <a:ea typeface="Aptos" pitchFamily="34" charset="-122"/>
                <a:cs typeface="Aptos" pitchFamily="34" charset="-120"/>
              </a:rPr>
              <a:t>ODBRANA</a:t>
            </a:r>
            <a:endParaRPr lang="en-US" sz="950" dirty="0"/>
          </a:p>
        </p:txBody>
      </p:sp>
      <p:sp>
        <p:nvSpPr>
          <p:cNvPr id="19" name="Text 16"/>
          <p:cNvSpPr/>
          <p:nvPr/>
        </p:nvSpPr>
        <p:spPr>
          <a:xfrm>
            <a:off x="8872881" y="5669280"/>
            <a:ext cx="1993392" cy="310896"/>
          </a:xfrm>
          <a:prstGeom prst="rect">
            <a:avLst/>
          </a:prstGeom>
          <a:noFill/>
          <a:ln/>
        </p:spPr>
        <p:txBody>
          <a:bodyPr wrap="square" lIns="0" tIns="0" rIns="0" bIns="0" rtlCol="0" anchor="ctr">
            <a:normAutofit/>
          </a:bodyPr>
          <a:lstStyle/>
          <a:p>
            <a:pPr marL="0" indent="0">
              <a:buNone/>
            </a:pPr>
            <a:r>
              <a:rPr lang="en-US" sz="1400" dirty="0">
                <a:solidFill>
                  <a:srgbClr val="352B26"/>
                </a:solidFill>
                <a:latin typeface="Aptos" pitchFamily="34" charset="0"/>
                <a:ea typeface="Aptos" pitchFamily="34" charset="-122"/>
                <a:cs typeface="Aptos" pitchFamily="34" charset="-120"/>
              </a:rPr>
              <a:t>Beograd,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3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
          </a:xfrm>
          <a:prstGeom prst="rect">
            <a:avLst/>
          </a:prstGeom>
          <a:solidFill>
            <a:srgbClr val="8B5E50"/>
          </a:solidFill>
          <a:ln w="12700">
            <a:solidFill>
              <a:srgbClr val="8B5E50"/>
            </a:solidFill>
            <a:prstDash val="solid"/>
          </a:ln>
        </p:spPr>
        <p:txBody>
          <a:bodyPr/>
          <a:lstStyle/>
          <a:p>
            <a:endParaRPr lang="en-US"/>
          </a:p>
        </p:txBody>
      </p:sp>
      <p:sp>
        <p:nvSpPr>
          <p:cNvPr id="3" name="Text 1"/>
          <p:cNvSpPr/>
          <p:nvPr/>
        </p:nvSpPr>
        <p:spPr>
          <a:xfrm>
            <a:off x="658368" y="274320"/>
            <a:ext cx="6858000" cy="182880"/>
          </a:xfrm>
          <a:prstGeom prst="rect">
            <a:avLst/>
          </a:prstGeom>
          <a:noFill/>
          <a:ln/>
        </p:spPr>
        <p:txBody>
          <a:bodyPr wrap="square" lIns="0" tIns="0" rIns="0" bIns="0" rtlCol="0" anchor="ctr">
            <a:normAutofit/>
          </a:bodyPr>
          <a:lstStyle/>
          <a:p>
            <a:pPr marL="0" indent="0">
              <a:buNone/>
            </a:pPr>
            <a:r>
              <a:rPr lang="en-US" sz="1000" b="1" kern="0" spc="120" dirty="0">
                <a:solidFill>
                  <a:srgbClr val="8B5E50"/>
                </a:solidFill>
                <a:latin typeface="Aptos" pitchFamily="34" charset="0"/>
                <a:ea typeface="Aptos" pitchFamily="34" charset="-122"/>
                <a:cs typeface="Aptos" pitchFamily="34" charset="-120"/>
              </a:rPr>
              <a:t>PROBLEM I CILJ</a:t>
            </a:r>
            <a:endParaRPr lang="en-US" sz="1000" dirty="0"/>
          </a:p>
        </p:txBody>
      </p:sp>
      <p:sp>
        <p:nvSpPr>
          <p:cNvPr id="4" name="Shape 2"/>
          <p:cNvSpPr/>
          <p:nvPr/>
        </p:nvSpPr>
        <p:spPr>
          <a:xfrm>
            <a:off x="658368" y="6428232"/>
            <a:ext cx="10881360" cy="0"/>
          </a:xfrm>
          <a:prstGeom prst="line">
            <a:avLst/>
          </a:prstGeom>
          <a:noFill/>
          <a:ln w="10160">
            <a:solidFill>
              <a:srgbClr val="DED2C5"/>
            </a:solidFill>
            <a:prstDash val="solid"/>
          </a:ln>
        </p:spPr>
        <p:txBody>
          <a:bodyPr/>
          <a:lstStyle/>
          <a:p>
            <a:endParaRPr lang="en-US"/>
          </a:p>
        </p:txBody>
      </p:sp>
      <p:sp>
        <p:nvSpPr>
          <p:cNvPr id="5" name="Text 3"/>
          <p:cNvSpPr/>
          <p:nvPr/>
        </p:nvSpPr>
        <p:spPr>
          <a:xfrm>
            <a:off x="11045952" y="6492240"/>
            <a:ext cx="493776" cy="146304"/>
          </a:xfrm>
          <a:prstGeom prst="rect">
            <a:avLst/>
          </a:prstGeom>
          <a:noFill/>
          <a:ln/>
        </p:spPr>
        <p:txBody>
          <a:bodyPr wrap="square" lIns="0" tIns="0" rIns="0" bIns="0" rtlCol="0" anchor="ctr">
            <a:normAutofit/>
          </a:bodyPr>
          <a:lstStyle/>
          <a:p>
            <a:pPr marL="0" indent="0" algn="r">
              <a:buNone/>
            </a:pPr>
            <a:r>
              <a:rPr lang="en-US" sz="850" b="1" dirty="0">
                <a:solidFill>
                  <a:srgbClr val="786B62"/>
                </a:solidFill>
                <a:latin typeface="Aptos" pitchFamily="34" charset="0"/>
                <a:ea typeface="Aptos" pitchFamily="34" charset="-122"/>
                <a:cs typeface="Aptos" pitchFamily="34" charset="-120"/>
              </a:rPr>
              <a:t>02</a:t>
            </a:r>
            <a:endParaRPr lang="en-US" sz="850" dirty="0"/>
          </a:p>
        </p:txBody>
      </p:sp>
      <p:sp>
        <p:nvSpPr>
          <p:cNvPr id="6" name="Text 4"/>
          <p:cNvSpPr/>
          <p:nvPr/>
        </p:nvSpPr>
        <p:spPr>
          <a:xfrm>
            <a:off x="658368" y="694944"/>
            <a:ext cx="10789920" cy="658368"/>
          </a:xfrm>
          <a:prstGeom prst="rect">
            <a:avLst/>
          </a:prstGeom>
          <a:noFill/>
          <a:ln/>
        </p:spPr>
        <p:txBody>
          <a:bodyPr wrap="square" lIns="0" tIns="0" rIns="0" bIns="0" rtlCol="0" anchor="t">
            <a:normAutofit/>
          </a:bodyPr>
          <a:lstStyle/>
          <a:p>
            <a:pPr marL="0" indent="0">
              <a:buNone/>
            </a:pPr>
            <a:r>
              <a:rPr lang="en-US" sz="2900" dirty="0">
                <a:solidFill>
                  <a:srgbClr val="352B26"/>
                </a:solidFill>
                <a:latin typeface="Georgia" pitchFamily="34" charset="0"/>
                <a:ea typeface="Georgia" pitchFamily="34" charset="-122"/>
                <a:cs typeface="Georgia" pitchFamily="34" charset="-120"/>
              </a:rPr>
              <a:t>Kako vizualizaciju pretvoriti u učenje?</a:t>
            </a:r>
            <a:endParaRPr lang="en-US" sz="2900" dirty="0"/>
          </a:p>
        </p:txBody>
      </p:sp>
      <p:sp>
        <p:nvSpPr>
          <p:cNvPr id="7" name="Text 5"/>
          <p:cNvSpPr/>
          <p:nvPr/>
        </p:nvSpPr>
        <p:spPr>
          <a:xfrm>
            <a:off x="676656" y="1344168"/>
            <a:ext cx="9966960" cy="384048"/>
          </a:xfrm>
          <a:prstGeom prst="rect">
            <a:avLst/>
          </a:prstGeom>
          <a:noFill/>
          <a:ln/>
        </p:spPr>
        <p:txBody>
          <a:bodyPr wrap="square" lIns="0" tIns="0" rIns="0" bIns="0" rtlCol="0" anchor="t">
            <a:normAutofit/>
          </a:bodyPr>
          <a:lstStyle/>
          <a:p>
            <a:pPr marL="0" indent="0">
              <a:buNone/>
            </a:pPr>
            <a:r>
              <a:rPr lang="en-US" sz="1800" dirty="0">
                <a:solidFill>
                  <a:srgbClr val="786B62"/>
                </a:solidFill>
                <a:latin typeface="Aptos" pitchFamily="34" charset="0"/>
                <a:ea typeface="Aptos" pitchFamily="34" charset="-122"/>
                <a:cs typeface="Aptos" pitchFamily="34" charset="-120"/>
              </a:rPr>
              <a:t>Sama animacija nije dovoljna.</a:t>
            </a:r>
            <a:endParaRPr lang="en-US" sz="1800" dirty="0"/>
          </a:p>
        </p:txBody>
      </p:sp>
      <p:sp>
        <p:nvSpPr>
          <p:cNvPr id="8" name="Shape 6"/>
          <p:cNvSpPr/>
          <p:nvPr/>
        </p:nvSpPr>
        <p:spPr>
          <a:xfrm>
            <a:off x="749808" y="2212848"/>
            <a:ext cx="3127248" cy="2487168"/>
          </a:xfrm>
          <a:prstGeom prst="roundRect">
            <a:avLst/>
          </a:prstGeom>
          <a:solidFill>
            <a:srgbClr val="FFFDFC"/>
          </a:solidFill>
          <a:ln w="12700">
            <a:solidFill>
              <a:srgbClr val="DED2C5"/>
            </a:solidFill>
            <a:prstDash val="solid"/>
          </a:ln>
        </p:spPr>
        <p:txBody>
          <a:bodyPr/>
          <a:lstStyle/>
          <a:p>
            <a:endParaRPr lang="en-US"/>
          </a:p>
        </p:txBody>
      </p:sp>
      <p:sp>
        <p:nvSpPr>
          <p:cNvPr id="9" name="Shape 7"/>
          <p:cNvSpPr/>
          <p:nvPr/>
        </p:nvSpPr>
        <p:spPr>
          <a:xfrm>
            <a:off x="1911096" y="2487168"/>
            <a:ext cx="804672" cy="804672"/>
          </a:xfrm>
          <a:prstGeom prst="ellipse">
            <a:avLst/>
          </a:prstGeom>
          <a:solidFill>
            <a:srgbClr val="4B91B8">
              <a:alpha val="13000"/>
            </a:srgbClr>
          </a:solidFill>
          <a:ln w="15240">
            <a:solidFill>
              <a:srgbClr val="4B91B8"/>
            </a:solidFill>
            <a:prstDash val="solid"/>
          </a:ln>
        </p:spPr>
        <p:txBody>
          <a:bodyPr/>
          <a:lstStyle/>
          <a:p>
            <a:endParaRPr lang="en-US"/>
          </a:p>
        </p:txBody>
      </p:sp>
      <p:sp>
        <p:nvSpPr>
          <p:cNvPr id="10" name="Shape 8"/>
          <p:cNvSpPr/>
          <p:nvPr/>
        </p:nvSpPr>
        <p:spPr>
          <a:xfrm>
            <a:off x="2093976" y="2660904"/>
            <a:ext cx="123444" cy="123444"/>
          </a:xfrm>
          <a:prstGeom prst="rect">
            <a:avLst/>
          </a:prstGeom>
          <a:solidFill>
            <a:srgbClr val="FFFDFC"/>
          </a:solidFill>
          <a:ln w="12700">
            <a:solidFill>
              <a:srgbClr val="DED2C5"/>
            </a:solidFill>
            <a:prstDash val="solid"/>
          </a:ln>
        </p:spPr>
        <p:txBody>
          <a:bodyPr/>
          <a:lstStyle/>
          <a:p>
            <a:endParaRPr lang="en-US"/>
          </a:p>
        </p:txBody>
      </p:sp>
      <p:sp>
        <p:nvSpPr>
          <p:cNvPr id="11" name="Shape 9"/>
          <p:cNvSpPr/>
          <p:nvPr/>
        </p:nvSpPr>
        <p:spPr>
          <a:xfrm>
            <a:off x="2240280" y="2660904"/>
            <a:ext cx="123444" cy="123444"/>
          </a:xfrm>
          <a:prstGeom prst="rect">
            <a:avLst/>
          </a:prstGeom>
          <a:solidFill>
            <a:srgbClr val="FFFDFC"/>
          </a:solidFill>
          <a:ln w="12700">
            <a:solidFill>
              <a:srgbClr val="DED2C5"/>
            </a:solidFill>
            <a:prstDash val="solid"/>
          </a:ln>
        </p:spPr>
        <p:txBody>
          <a:bodyPr/>
          <a:lstStyle/>
          <a:p>
            <a:endParaRPr lang="en-US"/>
          </a:p>
        </p:txBody>
      </p:sp>
      <p:sp>
        <p:nvSpPr>
          <p:cNvPr id="12" name="Shape 10"/>
          <p:cNvSpPr/>
          <p:nvPr/>
        </p:nvSpPr>
        <p:spPr>
          <a:xfrm>
            <a:off x="2386584" y="2660904"/>
            <a:ext cx="123444" cy="123444"/>
          </a:xfrm>
          <a:prstGeom prst="rect">
            <a:avLst/>
          </a:prstGeom>
          <a:solidFill>
            <a:srgbClr val="FFFDFC"/>
          </a:solidFill>
          <a:ln w="12700">
            <a:solidFill>
              <a:srgbClr val="DED2C5"/>
            </a:solidFill>
            <a:prstDash val="solid"/>
          </a:ln>
        </p:spPr>
        <p:txBody>
          <a:bodyPr/>
          <a:lstStyle/>
          <a:p>
            <a:endParaRPr lang="en-US"/>
          </a:p>
        </p:txBody>
      </p:sp>
      <p:sp>
        <p:nvSpPr>
          <p:cNvPr id="13" name="Shape 11"/>
          <p:cNvSpPr/>
          <p:nvPr/>
        </p:nvSpPr>
        <p:spPr>
          <a:xfrm>
            <a:off x="2093976" y="2807208"/>
            <a:ext cx="123444" cy="123444"/>
          </a:xfrm>
          <a:prstGeom prst="rect">
            <a:avLst/>
          </a:prstGeom>
          <a:solidFill>
            <a:srgbClr val="4B91B8"/>
          </a:solidFill>
          <a:ln w="12700">
            <a:solidFill>
              <a:srgbClr val="DED2C5"/>
            </a:solidFill>
            <a:prstDash val="solid"/>
          </a:ln>
        </p:spPr>
        <p:txBody>
          <a:bodyPr/>
          <a:lstStyle/>
          <a:p>
            <a:endParaRPr lang="en-US"/>
          </a:p>
        </p:txBody>
      </p:sp>
      <p:sp>
        <p:nvSpPr>
          <p:cNvPr id="14" name="Shape 12"/>
          <p:cNvSpPr/>
          <p:nvPr/>
        </p:nvSpPr>
        <p:spPr>
          <a:xfrm>
            <a:off x="2240280" y="2807208"/>
            <a:ext cx="123444" cy="123444"/>
          </a:xfrm>
          <a:prstGeom prst="rect">
            <a:avLst/>
          </a:prstGeom>
          <a:solidFill>
            <a:srgbClr val="4B91B8"/>
          </a:solidFill>
          <a:ln w="12700">
            <a:solidFill>
              <a:srgbClr val="DED2C5"/>
            </a:solidFill>
            <a:prstDash val="solid"/>
          </a:ln>
        </p:spPr>
        <p:txBody>
          <a:bodyPr/>
          <a:lstStyle/>
          <a:p>
            <a:endParaRPr lang="en-US"/>
          </a:p>
        </p:txBody>
      </p:sp>
      <p:sp>
        <p:nvSpPr>
          <p:cNvPr id="15" name="Shape 13"/>
          <p:cNvSpPr/>
          <p:nvPr/>
        </p:nvSpPr>
        <p:spPr>
          <a:xfrm>
            <a:off x="2386584" y="2807208"/>
            <a:ext cx="123444" cy="123444"/>
          </a:xfrm>
          <a:prstGeom prst="rect">
            <a:avLst/>
          </a:prstGeom>
          <a:solidFill>
            <a:srgbClr val="8066B5"/>
          </a:solidFill>
          <a:ln w="12700">
            <a:solidFill>
              <a:srgbClr val="DED2C5"/>
            </a:solidFill>
            <a:prstDash val="solid"/>
          </a:ln>
        </p:spPr>
        <p:txBody>
          <a:bodyPr/>
          <a:lstStyle/>
          <a:p>
            <a:endParaRPr lang="en-US"/>
          </a:p>
        </p:txBody>
      </p:sp>
      <p:sp>
        <p:nvSpPr>
          <p:cNvPr id="16" name="Shape 14"/>
          <p:cNvSpPr/>
          <p:nvPr/>
        </p:nvSpPr>
        <p:spPr>
          <a:xfrm>
            <a:off x="2093976" y="2953512"/>
            <a:ext cx="123444" cy="123444"/>
          </a:xfrm>
          <a:prstGeom prst="rect">
            <a:avLst/>
          </a:prstGeom>
          <a:solidFill>
            <a:srgbClr val="FFFDFC"/>
          </a:solidFill>
          <a:ln w="12700">
            <a:solidFill>
              <a:srgbClr val="DED2C5"/>
            </a:solidFill>
            <a:prstDash val="solid"/>
          </a:ln>
        </p:spPr>
        <p:txBody>
          <a:bodyPr/>
          <a:lstStyle/>
          <a:p>
            <a:endParaRPr lang="en-US"/>
          </a:p>
        </p:txBody>
      </p:sp>
      <p:sp>
        <p:nvSpPr>
          <p:cNvPr id="17" name="Shape 15"/>
          <p:cNvSpPr/>
          <p:nvPr/>
        </p:nvSpPr>
        <p:spPr>
          <a:xfrm>
            <a:off x="2240280" y="2953512"/>
            <a:ext cx="123444" cy="123444"/>
          </a:xfrm>
          <a:prstGeom prst="rect">
            <a:avLst/>
          </a:prstGeom>
          <a:solidFill>
            <a:srgbClr val="FFFDFC"/>
          </a:solidFill>
          <a:ln w="12700">
            <a:solidFill>
              <a:srgbClr val="DED2C5"/>
            </a:solidFill>
            <a:prstDash val="solid"/>
          </a:ln>
        </p:spPr>
        <p:txBody>
          <a:bodyPr/>
          <a:lstStyle/>
          <a:p>
            <a:endParaRPr lang="en-US"/>
          </a:p>
        </p:txBody>
      </p:sp>
      <p:sp>
        <p:nvSpPr>
          <p:cNvPr id="18" name="Shape 16"/>
          <p:cNvSpPr/>
          <p:nvPr/>
        </p:nvSpPr>
        <p:spPr>
          <a:xfrm>
            <a:off x="2386584" y="2953512"/>
            <a:ext cx="123444" cy="123444"/>
          </a:xfrm>
          <a:prstGeom prst="rect">
            <a:avLst/>
          </a:prstGeom>
          <a:solidFill>
            <a:srgbClr val="8066B5"/>
          </a:solidFill>
          <a:ln w="12700">
            <a:solidFill>
              <a:srgbClr val="DED2C5"/>
            </a:solidFill>
            <a:prstDash val="solid"/>
          </a:ln>
        </p:spPr>
        <p:txBody>
          <a:bodyPr/>
          <a:lstStyle/>
          <a:p>
            <a:endParaRPr lang="en-US"/>
          </a:p>
        </p:txBody>
      </p:sp>
      <p:sp>
        <p:nvSpPr>
          <p:cNvPr id="19" name="Text 17"/>
          <p:cNvSpPr/>
          <p:nvPr/>
        </p:nvSpPr>
        <p:spPr>
          <a:xfrm>
            <a:off x="1042416" y="3493008"/>
            <a:ext cx="2542032" cy="256032"/>
          </a:xfrm>
          <a:prstGeom prst="rect">
            <a:avLst/>
          </a:prstGeom>
          <a:noFill/>
          <a:ln/>
        </p:spPr>
        <p:txBody>
          <a:bodyPr wrap="square" lIns="0" tIns="0" rIns="0" bIns="0" rtlCol="0" anchor="ctr">
            <a:normAutofit/>
          </a:bodyPr>
          <a:lstStyle/>
          <a:p>
            <a:pPr marL="0" indent="0" algn="ctr">
              <a:buNone/>
            </a:pPr>
            <a:r>
              <a:rPr lang="en-US" sz="1250" b="1" kern="0" spc="80" dirty="0">
                <a:solidFill>
                  <a:srgbClr val="4B91B8"/>
                </a:solidFill>
                <a:latin typeface="Aptos" pitchFamily="34" charset="0"/>
                <a:ea typeface="Aptos" pitchFamily="34" charset="-122"/>
                <a:cs typeface="Aptos" pitchFamily="34" charset="-120"/>
              </a:rPr>
              <a:t>VIDETI TOK</a:t>
            </a:r>
            <a:endParaRPr lang="en-US" sz="1250" dirty="0"/>
          </a:p>
        </p:txBody>
      </p:sp>
      <p:sp>
        <p:nvSpPr>
          <p:cNvPr id="20" name="Text 18"/>
          <p:cNvSpPr/>
          <p:nvPr/>
        </p:nvSpPr>
        <p:spPr>
          <a:xfrm>
            <a:off x="1078992" y="3922776"/>
            <a:ext cx="2468880" cy="530352"/>
          </a:xfrm>
          <a:prstGeom prst="rect">
            <a:avLst/>
          </a:prstGeom>
          <a:noFill/>
          <a:ln/>
        </p:spPr>
        <p:txBody>
          <a:bodyPr wrap="square" lIns="0" tIns="0" rIns="0" bIns="0" rtlCol="0" anchor="t">
            <a:normAutofit/>
          </a:bodyPr>
          <a:lstStyle/>
          <a:p>
            <a:pPr marL="0" indent="0" algn="ctr">
              <a:buNone/>
            </a:pPr>
            <a:r>
              <a:rPr lang="en-US" sz="1750" dirty="0">
                <a:solidFill>
                  <a:srgbClr val="352B26"/>
                </a:solidFill>
                <a:latin typeface="Georgia" pitchFamily="34" charset="0"/>
                <a:ea typeface="Georgia" pitchFamily="34" charset="-122"/>
                <a:cs typeface="Georgia" pitchFamily="34" charset="-120"/>
              </a:rPr>
              <a:t>Kako algoritam dolazi do rešenja?</a:t>
            </a:r>
            <a:endParaRPr lang="en-US" sz="1750" dirty="0"/>
          </a:p>
        </p:txBody>
      </p:sp>
      <p:sp>
        <p:nvSpPr>
          <p:cNvPr id="21" name="Shape 19"/>
          <p:cNvSpPr/>
          <p:nvPr/>
        </p:nvSpPr>
        <p:spPr>
          <a:xfrm>
            <a:off x="4242816" y="2212848"/>
            <a:ext cx="3127248" cy="2487168"/>
          </a:xfrm>
          <a:prstGeom prst="roundRect">
            <a:avLst/>
          </a:prstGeom>
          <a:solidFill>
            <a:srgbClr val="FFFDFC"/>
          </a:solidFill>
          <a:ln w="12700">
            <a:solidFill>
              <a:srgbClr val="DED2C5"/>
            </a:solidFill>
            <a:prstDash val="solid"/>
          </a:ln>
        </p:spPr>
        <p:txBody>
          <a:bodyPr/>
          <a:lstStyle/>
          <a:p>
            <a:endParaRPr lang="en-US"/>
          </a:p>
        </p:txBody>
      </p:sp>
      <p:sp>
        <p:nvSpPr>
          <p:cNvPr id="22" name="Shape 20"/>
          <p:cNvSpPr/>
          <p:nvPr/>
        </p:nvSpPr>
        <p:spPr>
          <a:xfrm>
            <a:off x="5404104" y="2487168"/>
            <a:ext cx="804672" cy="804672"/>
          </a:xfrm>
          <a:prstGeom prst="ellipse">
            <a:avLst/>
          </a:prstGeom>
          <a:solidFill>
            <a:srgbClr val="328C8B">
              <a:alpha val="13000"/>
            </a:srgbClr>
          </a:solidFill>
          <a:ln w="15240">
            <a:solidFill>
              <a:srgbClr val="328C8B"/>
            </a:solidFill>
            <a:prstDash val="solid"/>
          </a:ln>
        </p:spPr>
        <p:txBody>
          <a:bodyPr/>
          <a:lstStyle/>
          <a:p>
            <a:endParaRPr lang="en-US"/>
          </a:p>
        </p:txBody>
      </p:sp>
      <p:sp>
        <p:nvSpPr>
          <p:cNvPr id="23" name="Shape 21"/>
          <p:cNvSpPr/>
          <p:nvPr/>
        </p:nvSpPr>
        <p:spPr>
          <a:xfrm>
            <a:off x="5596128" y="2702440"/>
            <a:ext cx="420624" cy="64008"/>
          </a:xfrm>
          <a:prstGeom prst="rect">
            <a:avLst/>
          </a:prstGeom>
          <a:solidFill>
            <a:srgbClr val="4B91B8"/>
          </a:solidFill>
          <a:ln w="12700">
            <a:solidFill>
              <a:srgbClr val="4B91B8"/>
            </a:solidFill>
            <a:prstDash val="solid"/>
          </a:ln>
        </p:spPr>
        <p:txBody>
          <a:bodyPr/>
          <a:lstStyle/>
          <a:p>
            <a:endParaRPr lang="en-US"/>
          </a:p>
        </p:txBody>
      </p:sp>
      <p:sp>
        <p:nvSpPr>
          <p:cNvPr id="24" name="Shape 22"/>
          <p:cNvSpPr/>
          <p:nvPr/>
        </p:nvSpPr>
        <p:spPr>
          <a:xfrm>
            <a:off x="5596128" y="2857888"/>
            <a:ext cx="274320" cy="64008"/>
          </a:xfrm>
          <a:prstGeom prst="rect">
            <a:avLst/>
          </a:prstGeom>
          <a:solidFill>
            <a:srgbClr val="328C8B"/>
          </a:solidFill>
          <a:ln w="12700">
            <a:solidFill>
              <a:srgbClr val="328C8B"/>
            </a:solidFill>
            <a:prstDash val="solid"/>
          </a:ln>
        </p:spPr>
        <p:txBody>
          <a:bodyPr/>
          <a:lstStyle/>
          <a:p>
            <a:endParaRPr lang="en-US"/>
          </a:p>
        </p:txBody>
      </p:sp>
      <p:sp>
        <p:nvSpPr>
          <p:cNvPr id="25" name="Shape 23"/>
          <p:cNvSpPr/>
          <p:nvPr/>
        </p:nvSpPr>
        <p:spPr>
          <a:xfrm>
            <a:off x="5596128" y="3013336"/>
            <a:ext cx="402336" cy="64008"/>
          </a:xfrm>
          <a:prstGeom prst="rect">
            <a:avLst/>
          </a:prstGeom>
          <a:solidFill>
            <a:srgbClr val="D49A32"/>
          </a:solidFill>
          <a:ln w="12700">
            <a:solidFill>
              <a:srgbClr val="D49A32"/>
            </a:solidFill>
            <a:prstDash val="solid"/>
          </a:ln>
        </p:spPr>
        <p:txBody>
          <a:bodyPr/>
          <a:lstStyle/>
          <a:p>
            <a:endParaRPr lang="en-US"/>
          </a:p>
        </p:txBody>
      </p:sp>
      <p:sp>
        <p:nvSpPr>
          <p:cNvPr id="26" name="Text 24"/>
          <p:cNvSpPr/>
          <p:nvPr/>
        </p:nvSpPr>
        <p:spPr>
          <a:xfrm>
            <a:off x="4535424" y="3493008"/>
            <a:ext cx="2542032" cy="256032"/>
          </a:xfrm>
          <a:prstGeom prst="rect">
            <a:avLst/>
          </a:prstGeom>
          <a:noFill/>
          <a:ln/>
        </p:spPr>
        <p:txBody>
          <a:bodyPr wrap="square" lIns="0" tIns="0" rIns="0" bIns="0" rtlCol="0" anchor="ctr">
            <a:normAutofit/>
          </a:bodyPr>
          <a:lstStyle/>
          <a:p>
            <a:pPr marL="0" indent="0" algn="ctr">
              <a:buNone/>
            </a:pPr>
            <a:r>
              <a:rPr lang="en-US" sz="1250" b="1" kern="0" spc="80" dirty="0">
                <a:solidFill>
                  <a:srgbClr val="328C8B"/>
                </a:solidFill>
                <a:latin typeface="Aptos" pitchFamily="34" charset="0"/>
                <a:ea typeface="Aptos" pitchFamily="34" charset="-122"/>
                <a:cs typeface="Aptos" pitchFamily="34" charset="-120"/>
              </a:rPr>
              <a:t>UPOREDITI</a:t>
            </a:r>
            <a:endParaRPr lang="en-US" sz="1250" dirty="0"/>
          </a:p>
        </p:txBody>
      </p:sp>
      <p:sp>
        <p:nvSpPr>
          <p:cNvPr id="27" name="Text 25"/>
          <p:cNvSpPr/>
          <p:nvPr/>
        </p:nvSpPr>
        <p:spPr>
          <a:xfrm>
            <a:off x="4572000" y="3922776"/>
            <a:ext cx="2468880" cy="530352"/>
          </a:xfrm>
          <a:prstGeom prst="rect">
            <a:avLst/>
          </a:prstGeom>
          <a:noFill/>
          <a:ln/>
        </p:spPr>
        <p:txBody>
          <a:bodyPr wrap="square" lIns="0" tIns="0" rIns="0" bIns="0" rtlCol="0" anchor="t">
            <a:normAutofit/>
          </a:bodyPr>
          <a:lstStyle/>
          <a:p>
            <a:pPr marL="0" indent="0" algn="ctr">
              <a:buNone/>
            </a:pPr>
            <a:r>
              <a:rPr lang="en-US" sz="1750" dirty="0">
                <a:solidFill>
                  <a:srgbClr val="352B26"/>
                </a:solidFill>
                <a:latin typeface="Georgia" pitchFamily="34" charset="0"/>
                <a:ea typeface="Georgia" pitchFamily="34" charset="-122"/>
                <a:cs typeface="Georgia" pitchFamily="34" charset="-120"/>
              </a:rPr>
              <a:t>Zašto se algoritmi razlikuju?</a:t>
            </a:r>
            <a:endParaRPr lang="en-US" sz="1750" dirty="0"/>
          </a:p>
        </p:txBody>
      </p:sp>
      <p:sp>
        <p:nvSpPr>
          <p:cNvPr id="28" name="Shape 26"/>
          <p:cNvSpPr/>
          <p:nvPr/>
        </p:nvSpPr>
        <p:spPr>
          <a:xfrm>
            <a:off x="7735824" y="2212848"/>
            <a:ext cx="3127248" cy="2487168"/>
          </a:xfrm>
          <a:prstGeom prst="roundRect">
            <a:avLst/>
          </a:prstGeom>
          <a:solidFill>
            <a:srgbClr val="FFFDFC"/>
          </a:solidFill>
          <a:ln w="12700">
            <a:solidFill>
              <a:srgbClr val="DED2C5"/>
            </a:solidFill>
            <a:prstDash val="solid"/>
          </a:ln>
        </p:spPr>
        <p:txBody>
          <a:bodyPr/>
          <a:lstStyle/>
          <a:p>
            <a:endParaRPr lang="en-US"/>
          </a:p>
        </p:txBody>
      </p:sp>
      <p:sp>
        <p:nvSpPr>
          <p:cNvPr id="29" name="Shape 27"/>
          <p:cNvSpPr/>
          <p:nvPr/>
        </p:nvSpPr>
        <p:spPr>
          <a:xfrm>
            <a:off x="8897112" y="2487168"/>
            <a:ext cx="804672" cy="804672"/>
          </a:xfrm>
          <a:prstGeom prst="ellipse">
            <a:avLst/>
          </a:prstGeom>
          <a:solidFill>
            <a:srgbClr val="D49A32">
              <a:alpha val="13000"/>
            </a:srgbClr>
          </a:solidFill>
          <a:ln w="15240">
            <a:solidFill>
              <a:srgbClr val="D49A32"/>
            </a:solidFill>
            <a:prstDash val="solid"/>
          </a:ln>
        </p:spPr>
        <p:txBody>
          <a:bodyPr/>
          <a:lstStyle/>
          <a:p>
            <a:endParaRPr lang="en-US"/>
          </a:p>
        </p:txBody>
      </p:sp>
      <p:sp>
        <p:nvSpPr>
          <p:cNvPr id="30" name="Shape 28"/>
          <p:cNvSpPr/>
          <p:nvPr/>
        </p:nvSpPr>
        <p:spPr>
          <a:xfrm>
            <a:off x="8979122" y="2727007"/>
            <a:ext cx="118872" cy="118872"/>
          </a:xfrm>
          <a:prstGeom prst="ellipse">
            <a:avLst/>
          </a:prstGeom>
          <a:solidFill>
            <a:srgbClr val="4F8D4A"/>
          </a:solidFill>
          <a:ln w="12700">
            <a:solidFill>
              <a:srgbClr val="4F8D4A"/>
            </a:solidFill>
            <a:prstDash val="solid"/>
          </a:ln>
        </p:spPr>
        <p:txBody>
          <a:bodyPr/>
          <a:lstStyle/>
          <a:p>
            <a:endParaRPr lang="en-US"/>
          </a:p>
        </p:txBody>
      </p:sp>
      <p:sp>
        <p:nvSpPr>
          <p:cNvPr id="31" name="Shape 29"/>
          <p:cNvSpPr/>
          <p:nvPr/>
        </p:nvSpPr>
        <p:spPr>
          <a:xfrm>
            <a:off x="9088850" y="2791015"/>
            <a:ext cx="182880" cy="0"/>
          </a:xfrm>
          <a:prstGeom prst="line">
            <a:avLst/>
          </a:prstGeom>
          <a:noFill/>
          <a:ln w="31750">
            <a:solidFill>
              <a:srgbClr val="D49A32"/>
            </a:solidFill>
            <a:prstDash val="solid"/>
          </a:ln>
        </p:spPr>
        <p:txBody>
          <a:bodyPr/>
          <a:lstStyle/>
          <a:p>
            <a:endParaRPr lang="en-US"/>
          </a:p>
        </p:txBody>
      </p:sp>
      <p:sp>
        <p:nvSpPr>
          <p:cNvPr id="32" name="Shape 30"/>
          <p:cNvSpPr/>
          <p:nvPr/>
        </p:nvSpPr>
        <p:spPr>
          <a:xfrm>
            <a:off x="9271730" y="2791015"/>
            <a:ext cx="0" cy="182880"/>
          </a:xfrm>
          <a:prstGeom prst="line">
            <a:avLst/>
          </a:prstGeom>
          <a:noFill/>
          <a:ln w="31750">
            <a:solidFill>
              <a:srgbClr val="D49A32"/>
            </a:solidFill>
            <a:prstDash val="solid"/>
          </a:ln>
        </p:spPr>
        <p:txBody>
          <a:bodyPr/>
          <a:lstStyle/>
          <a:p>
            <a:endParaRPr lang="en-US"/>
          </a:p>
        </p:txBody>
      </p:sp>
      <p:sp>
        <p:nvSpPr>
          <p:cNvPr id="33" name="Shape 31"/>
          <p:cNvSpPr/>
          <p:nvPr/>
        </p:nvSpPr>
        <p:spPr>
          <a:xfrm>
            <a:off x="9271730" y="2973895"/>
            <a:ext cx="246888" cy="0"/>
          </a:xfrm>
          <a:prstGeom prst="line">
            <a:avLst/>
          </a:prstGeom>
          <a:noFill/>
          <a:ln w="31750">
            <a:solidFill>
              <a:srgbClr val="D49A32"/>
            </a:solidFill>
            <a:prstDash val="solid"/>
          </a:ln>
        </p:spPr>
        <p:txBody>
          <a:bodyPr/>
          <a:lstStyle/>
          <a:p>
            <a:endParaRPr lang="en-US"/>
          </a:p>
        </p:txBody>
      </p:sp>
      <p:sp>
        <p:nvSpPr>
          <p:cNvPr id="34" name="Shape 32"/>
          <p:cNvSpPr/>
          <p:nvPr/>
        </p:nvSpPr>
        <p:spPr>
          <a:xfrm>
            <a:off x="9509474" y="2919031"/>
            <a:ext cx="118872" cy="118872"/>
          </a:xfrm>
          <a:prstGeom prst="ellipse">
            <a:avLst/>
          </a:prstGeom>
          <a:solidFill>
            <a:srgbClr val="D85B4A"/>
          </a:solidFill>
          <a:ln w="12700">
            <a:solidFill>
              <a:srgbClr val="D85B4A"/>
            </a:solidFill>
            <a:prstDash val="solid"/>
          </a:ln>
        </p:spPr>
        <p:txBody>
          <a:bodyPr/>
          <a:lstStyle/>
          <a:p>
            <a:endParaRPr lang="en-US"/>
          </a:p>
        </p:txBody>
      </p:sp>
      <p:sp>
        <p:nvSpPr>
          <p:cNvPr id="35" name="Text 33"/>
          <p:cNvSpPr/>
          <p:nvPr/>
        </p:nvSpPr>
        <p:spPr>
          <a:xfrm>
            <a:off x="8028432" y="3493008"/>
            <a:ext cx="2542032" cy="256032"/>
          </a:xfrm>
          <a:prstGeom prst="rect">
            <a:avLst/>
          </a:prstGeom>
          <a:noFill/>
          <a:ln/>
        </p:spPr>
        <p:txBody>
          <a:bodyPr wrap="square" lIns="0" tIns="0" rIns="0" bIns="0" rtlCol="0" anchor="ctr">
            <a:normAutofit/>
          </a:bodyPr>
          <a:lstStyle/>
          <a:p>
            <a:pPr marL="0" indent="0" algn="ctr">
              <a:buNone/>
            </a:pPr>
            <a:r>
              <a:rPr lang="en-US" sz="1250" b="1" kern="0" spc="80" dirty="0">
                <a:solidFill>
                  <a:srgbClr val="D49A32"/>
                </a:solidFill>
                <a:latin typeface="Aptos" pitchFamily="34" charset="0"/>
                <a:ea typeface="Aptos" pitchFamily="34" charset="-122"/>
                <a:cs typeface="Aptos" pitchFamily="34" charset="-120"/>
              </a:rPr>
              <a:t>POKUŠATI</a:t>
            </a:r>
            <a:endParaRPr lang="en-US" sz="1250" dirty="0"/>
          </a:p>
        </p:txBody>
      </p:sp>
      <p:sp>
        <p:nvSpPr>
          <p:cNvPr id="36" name="Text 34"/>
          <p:cNvSpPr/>
          <p:nvPr/>
        </p:nvSpPr>
        <p:spPr>
          <a:xfrm>
            <a:off x="8065008" y="3922776"/>
            <a:ext cx="2468880" cy="530352"/>
          </a:xfrm>
          <a:prstGeom prst="rect">
            <a:avLst/>
          </a:prstGeom>
          <a:noFill/>
          <a:ln/>
        </p:spPr>
        <p:txBody>
          <a:bodyPr wrap="square" lIns="0" tIns="0" rIns="0" bIns="0" rtlCol="0" anchor="t">
            <a:normAutofit/>
          </a:bodyPr>
          <a:lstStyle/>
          <a:p>
            <a:pPr marL="0" indent="0" algn="ctr">
              <a:buNone/>
            </a:pPr>
            <a:r>
              <a:rPr lang="en-US" sz="1750" dirty="0">
                <a:solidFill>
                  <a:srgbClr val="352B26"/>
                </a:solidFill>
                <a:latin typeface="Georgia" pitchFamily="34" charset="0"/>
                <a:ea typeface="Georgia" pitchFamily="34" charset="-122"/>
                <a:cs typeface="Georgia" pitchFamily="34" charset="-120"/>
              </a:rPr>
              <a:t>Može li korisnik da reši problem?</a:t>
            </a:r>
            <a:endParaRPr lang="en-US" sz="1750" dirty="0"/>
          </a:p>
        </p:txBody>
      </p:sp>
      <p:sp>
        <p:nvSpPr>
          <p:cNvPr id="37" name="Shape 35"/>
          <p:cNvSpPr/>
          <p:nvPr/>
        </p:nvSpPr>
        <p:spPr>
          <a:xfrm>
            <a:off x="1444752" y="5321808"/>
            <a:ext cx="9235440" cy="0"/>
          </a:xfrm>
          <a:prstGeom prst="line">
            <a:avLst/>
          </a:prstGeom>
          <a:noFill/>
          <a:ln w="12700">
            <a:solidFill>
              <a:srgbClr val="DED2C5"/>
            </a:solidFill>
            <a:prstDash val="solid"/>
          </a:ln>
        </p:spPr>
        <p:txBody>
          <a:bodyPr/>
          <a:lstStyle/>
          <a:p>
            <a:endParaRPr lang="en-US"/>
          </a:p>
        </p:txBody>
      </p:sp>
      <p:sp>
        <p:nvSpPr>
          <p:cNvPr id="38" name="Text 36"/>
          <p:cNvSpPr/>
          <p:nvPr/>
        </p:nvSpPr>
        <p:spPr>
          <a:xfrm>
            <a:off x="1097280" y="5559552"/>
            <a:ext cx="9966960" cy="438912"/>
          </a:xfrm>
          <a:prstGeom prst="rect">
            <a:avLst/>
          </a:prstGeom>
          <a:noFill/>
          <a:ln/>
        </p:spPr>
        <p:txBody>
          <a:bodyPr wrap="square" lIns="0" tIns="0" rIns="0" bIns="0" rtlCol="0" anchor="ctr">
            <a:normAutofit/>
          </a:bodyPr>
          <a:lstStyle/>
          <a:p>
            <a:pPr marL="0" indent="0" algn="ctr">
              <a:buNone/>
            </a:pPr>
            <a:r>
              <a:rPr lang="en-US" sz="1750" b="1" dirty="0">
                <a:solidFill>
                  <a:srgbClr val="8B5E50"/>
                </a:solidFill>
                <a:latin typeface="Aptos" pitchFamily="34" charset="0"/>
                <a:ea typeface="Aptos" pitchFamily="34" charset="-122"/>
                <a:cs typeface="Aptos" pitchFamily="34" charset="-120"/>
              </a:rPr>
              <a:t>Cilj rada: </a:t>
            </a:r>
            <a:r>
              <a:rPr lang="en-US" sz="1750" dirty="0">
                <a:solidFill>
                  <a:srgbClr val="352B26"/>
                </a:solidFill>
                <a:latin typeface="Aptos" pitchFamily="34" charset="0"/>
                <a:ea typeface="Aptos" pitchFamily="34" charset="-122"/>
                <a:cs typeface="Aptos" pitchFamily="34" charset="-120"/>
              </a:rPr>
              <a:t>objediniti ova iskustva u jednom proverljivom nastavnom alatu.</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3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
          </a:xfrm>
          <a:prstGeom prst="rect">
            <a:avLst/>
          </a:prstGeom>
          <a:solidFill>
            <a:srgbClr val="8B5E50"/>
          </a:solidFill>
          <a:ln w="12700">
            <a:solidFill>
              <a:srgbClr val="8B5E50"/>
            </a:solidFill>
            <a:prstDash val="solid"/>
          </a:ln>
        </p:spPr>
        <p:txBody>
          <a:bodyPr/>
          <a:lstStyle/>
          <a:p>
            <a:endParaRPr lang="en-US"/>
          </a:p>
        </p:txBody>
      </p:sp>
      <p:sp>
        <p:nvSpPr>
          <p:cNvPr id="3" name="Text 1"/>
          <p:cNvSpPr/>
          <p:nvPr/>
        </p:nvSpPr>
        <p:spPr>
          <a:xfrm>
            <a:off x="658368" y="274320"/>
            <a:ext cx="6858000" cy="182880"/>
          </a:xfrm>
          <a:prstGeom prst="rect">
            <a:avLst/>
          </a:prstGeom>
          <a:noFill/>
          <a:ln/>
        </p:spPr>
        <p:txBody>
          <a:bodyPr wrap="square" lIns="0" tIns="0" rIns="0" bIns="0" rtlCol="0" anchor="ctr">
            <a:normAutofit/>
          </a:bodyPr>
          <a:lstStyle/>
          <a:p>
            <a:pPr marL="0" indent="0">
              <a:buNone/>
            </a:pPr>
            <a:r>
              <a:rPr lang="en-US" sz="1000" b="1" kern="0" spc="120" dirty="0">
                <a:solidFill>
                  <a:srgbClr val="8B5E50"/>
                </a:solidFill>
                <a:latin typeface="Aptos" pitchFamily="34" charset="0"/>
                <a:ea typeface="Aptos" pitchFamily="34" charset="-122"/>
                <a:cs typeface="Aptos" pitchFamily="34" charset="-120"/>
              </a:rPr>
              <a:t>REŠENJE</a:t>
            </a:r>
            <a:endParaRPr lang="en-US" sz="1000" dirty="0"/>
          </a:p>
        </p:txBody>
      </p:sp>
      <p:sp>
        <p:nvSpPr>
          <p:cNvPr id="4" name="Shape 2"/>
          <p:cNvSpPr/>
          <p:nvPr/>
        </p:nvSpPr>
        <p:spPr>
          <a:xfrm>
            <a:off x="658368" y="6428232"/>
            <a:ext cx="10881360" cy="0"/>
          </a:xfrm>
          <a:prstGeom prst="line">
            <a:avLst/>
          </a:prstGeom>
          <a:noFill/>
          <a:ln w="10160">
            <a:solidFill>
              <a:srgbClr val="DED2C5"/>
            </a:solidFill>
            <a:prstDash val="solid"/>
          </a:ln>
        </p:spPr>
        <p:txBody>
          <a:bodyPr/>
          <a:lstStyle/>
          <a:p>
            <a:endParaRPr lang="en-US"/>
          </a:p>
        </p:txBody>
      </p:sp>
      <p:sp>
        <p:nvSpPr>
          <p:cNvPr id="5" name="Text 3"/>
          <p:cNvSpPr/>
          <p:nvPr/>
        </p:nvSpPr>
        <p:spPr>
          <a:xfrm>
            <a:off x="11045952" y="6492240"/>
            <a:ext cx="493776" cy="146304"/>
          </a:xfrm>
          <a:prstGeom prst="rect">
            <a:avLst/>
          </a:prstGeom>
          <a:noFill/>
          <a:ln/>
        </p:spPr>
        <p:txBody>
          <a:bodyPr wrap="square" lIns="0" tIns="0" rIns="0" bIns="0" rtlCol="0" anchor="ctr">
            <a:normAutofit/>
          </a:bodyPr>
          <a:lstStyle/>
          <a:p>
            <a:pPr marL="0" indent="0" algn="r">
              <a:buNone/>
            </a:pPr>
            <a:r>
              <a:rPr lang="en-US" sz="850" b="1" dirty="0">
                <a:solidFill>
                  <a:srgbClr val="786B62"/>
                </a:solidFill>
                <a:latin typeface="Aptos" pitchFamily="34" charset="0"/>
                <a:ea typeface="Aptos" pitchFamily="34" charset="-122"/>
                <a:cs typeface="Aptos" pitchFamily="34" charset="-120"/>
              </a:rPr>
              <a:t>03</a:t>
            </a:r>
            <a:endParaRPr lang="en-US" sz="850" dirty="0"/>
          </a:p>
        </p:txBody>
      </p:sp>
      <p:sp>
        <p:nvSpPr>
          <p:cNvPr id="6" name="Text 4"/>
          <p:cNvSpPr/>
          <p:nvPr/>
        </p:nvSpPr>
        <p:spPr>
          <a:xfrm>
            <a:off x="658368" y="694944"/>
            <a:ext cx="10789920" cy="658368"/>
          </a:xfrm>
          <a:prstGeom prst="rect">
            <a:avLst/>
          </a:prstGeom>
          <a:noFill/>
          <a:ln/>
        </p:spPr>
        <p:txBody>
          <a:bodyPr wrap="square" lIns="0" tIns="0" rIns="0" bIns="0" rtlCol="0" anchor="t">
            <a:normAutofit/>
          </a:bodyPr>
          <a:lstStyle/>
          <a:p>
            <a:pPr marL="0" indent="0">
              <a:buNone/>
            </a:pPr>
            <a:r>
              <a:rPr lang="en-US" sz="2900" dirty="0">
                <a:solidFill>
                  <a:srgbClr val="352B26"/>
                </a:solidFill>
                <a:latin typeface="Georgia" pitchFamily="34" charset="0"/>
                <a:ea typeface="Georgia" pitchFamily="34" charset="-122"/>
                <a:cs typeface="Georgia" pitchFamily="34" charset="-120"/>
              </a:rPr>
              <a:t>Pathfinder povezuje tri nivoa učenja.</a:t>
            </a:r>
            <a:endParaRPr lang="en-US" sz="2900" dirty="0"/>
          </a:p>
        </p:txBody>
      </p:sp>
      <p:sp>
        <p:nvSpPr>
          <p:cNvPr id="7" name="Text 5"/>
          <p:cNvSpPr/>
          <p:nvPr/>
        </p:nvSpPr>
        <p:spPr>
          <a:xfrm>
            <a:off x="749808" y="1353312"/>
            <a:ext cx="5303520" cy="219456"/>
          </a:xfrm>
          <a:prstGeom prst="rect">
            <a:avLst/>
          </a:prstGeom>
          <a:noFill/>
          <a:ln/>
        </p:spPr>
        <p:txBody>
          <a:bodyPr wrap="square" lIns="0" tIns="0" rIns="0" bIns="0" rtlCol="0" anchor="ctr">
            <a:normAutofit/>
          </a:bodyPr>
          <a:lstStyle/>
          <a:p>
            <a:pPr marL="0" indent="0">
              <a:buNone/>
            </a:pPr>
            <a:r>
              <a:rPr lang="en-US" sz="1050" b="1" kern="0" spc="110" dirty="0">
                <a:solidFill>
                  <a:srgbClr val="8B5E50"/>
                </a:solidFill>
                <a:latin typeface="Aptos" pitchFamily="34" charset="0"/>
                <a:ea typeface="Aptos" pitchFamily="34" charset="-122"/>
                <a:cs typeface="Aptos" pitchFamily="34" charset="-120"/>
              </a:rPr>
              <a:t>ISTA TRI PITANJA, SADA KAO JEDAN TOK</a:t>
            </a:r>
            <a:endParaRPr lang="en-US" sz="1050" dirty="0"/>
          </a:p>
        </p:txBody>
      </p:sp>
      <p:sp>
        <p:nvSpPr>
          <p:cNvPr id="8" name="Shape 6"/>
          <p:cNvSpPr/>
          <p:nvPr/>
        </p:nvSpPr>
        <p:spPr>
          <a:xfrm>
            <a:off x="685800" y="1856232"/>
            <a:ext cx="2916936" cy="2843784"/>
          </a:xfrm>
          <a:prstGeom prst="roundRect">
            <a:avLst/>
          </a:prstGeom>
          <a:solidFill>
            <a:srgbClr val="FFFDFC"/>
          </a:solidFill>
          <a:ln w="12700">
            <a:solidFill>
              <a:srgbClr val="DED2C5"/>
            </a:solidFill>
            <a:prstDash val="solid"/>
          </a:ln>
          <a:effectLst>
            <a:outerShdw blurRad="19050" dist="50800" dir="2700000" algn="bl" rotWithShape="0">
              <a:srgbClr val="B9AA9B">
                <a:alpha val="10000"/>
              </a:srgbClr>
            </a:outerShdw>
          </a:effectLst>
        </p:spPr>
        <p:txBody>
          <a:bodyPr/>
          <a:lstStyle/>
          <a:p>
            <a:endParaRPr lang="en-US"/>
          </a:p>
        </p:txBody>
      </p:sp>
      <p:sp>
        <p:nvSpPr>
          <p:cNvPr id="9" name="Shape 7"/>
          <p:cNvSpPr/>
          <p:nvPr/>
        </p:nvSpPr>
        <p:spPr>
          <a:xfrm>
            <a:off x="685800" y="1856232"/>
            <a:ext cx="2916936" cy="64008"/>
          </a:xfrm>
          <a:prstGeom prst="rect">
            <a:avLst/>
          </a:prstGeom>
          <a:solidFill>
            <a:srgbClr val="4B91B8"/>
          </a:solidFill>
          <a:ln w="12700">
            <a:solidFill>
              <a:srgbClr val="4B91B8"/>
            </a:solidFill>
            <a:prstDash val="solid"/>
          </a:ln>
        </p:spPr>
        <p:txBody>
          <a:bodyPr/>
          <a:lstStyle/>
          <a:p>
            <a:endParaRPr lang="en-US"/>
          </a:p>
        </p:txBody>
      </p:sp>
      <p:sp>
        <p:nvSpPr>
          <p:cNvPr id="10" name="Shape 8"/>
          <p:cNvSpPr/>
          <p:nvPr/>
        </p:nvSpPr>
        <p:spPr>
          <a:xfrm>
            <a:off x="914400" y="2176272"/>
            <a:ext cx="493776" cy="493776"/>
          </a:xfrm>
          <a:prstGeom prst="ellipse">
            <a:avLst/>
          </a:prstGeom>
          <a:solidFill>
            <a:srgbClr val="4B91B8">
              <a:alpha val="16000"/>
            </a:srgbClr>
          </a:solidFill>
          <a:ln w="13970">
            <a:solidFill>
              <a:srgbClr val="4B91B8"/>
            </a:solidFill>
            <a:prstDash val="solid"/>
          </a:ln>
        </p:spPr>
        <p:txBody>
          <a:bodyPr/>
          <a:lstStyle/>
          <a:p>
            <a:endParaRPr lang="en-US"/>
          </a:p>
        </p:txBody>
      </p:sp>
      <p:sp>
        <p:nvSpPr>
          <p:cNvPr id="11" name="Text 9"/>
          <p:cNvSpPr/>
          <p:nvPr/>
        </p:nvSpPr>
        <p:spPr>
          <a:xfrm>
            <a:off x="914400" y="2267712"/>
            <a:ext cx="493776" cy="256032"/>
          </a:xfrm>
          <a:prstGeom prst="rect">
            <a:avLst/>
          </a:prstGeom>
          <a:noFill/>
          <a:ln/>
        </p:spPr>
        <p:txBody>
          <a:bodyPr wrap="square" lIns="0" tIns="0" rIns="0" bIns="0" rtlCol="0" anchor="ctr">
            <a:normAutofit/>
          </a:bodyPr>
          <a:lstStyle/>
          <a:p>
            <a:pPr marL="0" indent="0" algn="ctr">
              <a:buNone/>
            </a:pPr>
            <a:r>
              <a:rPr lang="en-US" sz="1500" b="1" dirty="0">
                <a:solidFill>
                  <a:srgbClr val="4B91B8"/>
                </a:solidFill>
                <a:latin typeface="Georgia" pitchFamily="34" charset="0"/>
                <a:ea typeface="Georgia" pitchFamily="34" charset="-122"/>
                <a:cs typeface="Georgia" pitchFamily="34" charset="-120"/>
              </a:rPr>
              <a:t>01</a:t>
            </a:r>
            <a:endParaRPr lang="en-US" sz="1500" dirty="0"/>
          </a:p>
        </p:txBody>
      </p:sp>
      <p:sp>
        <p:nvSpPr>
          <p:cNvPr id="12" name="Text 10"/>
          <p:cNvSpPr/>
          <p:nvPr/>
        </p:nvSpPr>
        <p:spPr>
          <a:xfrm>
            <a:off x="1572768" y="2212848"/>
            <a:ext cx="1755648" cy="347472"/>
          </a:xfrm>
          <a:prstGeom prst="rect">
            <a:avLst/>
          </a:prstGeom>
          <a:noFill/>
          <a:ln/>
        </p:spPr>
        <p:txBody>
          <a:bodyPr wrap="square" lIns="0" tIns="0" rIns="0" bIns="0" rtlCol="0" anchor="ctr">
            <a:normAutofit/>
          </a:bodyPr>
          <a:lstStyle/>
          <a:p>
            <a:pPr marL="0" indent="0">
              <a:buNone/>
            </a:pPr>
            <a:r>
              <a:rPr lang="en-US" sz="2050" dirty="0">
                <a:solidFill>
                  <a:srgbClr val="352B26"/>
                </a:solidFill>
                <a:latin typeface="Georgia" pitchFamily="34" charset="0"/>
                <a:ea typeface="Georgia" pitchFamily="34" charset="-122"/>
                <a:cs typeface="Georgia" pitchFamily="34" charset="-120"/>
              </a:rPr>
              <a:t>Vizualizacija</a:t>
            </a:r>
            <a:endParaRPr lang="en-US" sz="2050" dirty="0"/>
          </a:p>
        </p:txBody>
      </p:sp>
      <p:sp>
        <p:nvSpPr>
          <p:cNvPr id="13" name="Text 11"/>
          <p:cNvSpPr/>
          <p:nvPr/>
        </p:nvSpPr>
        <p:spPr>
          <a:xfrm>
            <a:off x="960120" y="3063240"/>
            <a:ext cx="2368296" cy="384048"/>
          </a:xfrm>
          <a:prstGeom prst="rect">
            <a:avLst/>
          </a:prstGeom>
          <a:noFill/>
          <a:ln/>
        </p:spPr>
        <p:txBody>
          <a:bodyPr wrap="square" lIns="0" tIns="0" rIns="0" bIns="0" rtlCol="0" anchor="ctr">
            <a:normAutofit/>
          </a:bodyPr>
          <a:lstStyle/>
          <a:p>
            <a:pPr marL="0" indent="0" algn="ctr">
              <a:buNone/>
            </a:pPr>
            <a:r>
              <a:rPr lang="en-US" sz="1550" b="1" dirty="0">
                <a:solidFill>
                  <a:srgbClr val="4B91B8"/>
                </a:solidFill>
                <a:latin typeface="Aptos" pitchFamily="34" charset="0"/>
                <a:ea typeface="Aptos" pitchFamily="34" charset="-122"/>
                <a:cs typeface="Aptos" pitchFamily="34" charset="-120"/>
              </a:rPr>
              <a:t>Kako radi?</a:t>
            </a:r>
            <a:endParaRPr lang="en-US" sz="1550" dirty="0"/>
          </a:p>
        </p:txBody>
      </p:sp>
      <p:sp>
        <p:nvSpPr>
          <p:cNvPr id="14" name="Shape 12"/>
          <p:cNvSpPr/>
          <p:nvPr/>
        </p:nvSpPr>
        <p:spPr>
          <a:xfrm>
            <a:off x="1161288" y="3575304"/>
            <a:ext cx="1965960" cy="0"/>
          </a:xfrm>
          <a:prstGeom prst="line">
            <a:avLst/>
          </a:prstGeom>
          <a:noFill/>
          <a:ln w="12700">
            <a:solidFill>
              <a:srgbClr val="DED2C5"/>
            </a:solidFill>
            <a:prstDash val="solid"/>
          </a:ln>
        </p:spPr>
        <p:txBody>
          <a:bodyPr/>
          <a:lstStyle/>
          <a:p>
            <a:endParaRPr lang="en-US"/>
          </a:p>
        </p:txBody>
      </p:sp>
      <p:sp>
        <p:nvSpPr>
          <p:cNvPr id="15" name="Text 13"/>
          <p:cNvSpPr/>
          <p:nvPr/>
        </p:nvSpPr>
        <p:spPr>
          <a:xfrm>
            <a:off x="1005840" y="3813048"/>
            <a:ext cx="2276856" cy="475488"/>
          </a:xfrm>
          <a:prstGeom prst="rect">
            <a:avLst/>
          </a:prstGeom>
          <a:noFill/>
          <a:ln/>
        </p:spPr>
        <p:txBody>
          <a:bodyPr wrap="square" lIns="0" tIns="0" rIns="0" bIns="0" rtlCol="0" anchor="t">
            <a:normAutofit/>
          </a:bodyPr>
          <a:lstStyle/>
          <a:p>
            <a:pPr marL="0" indent="0" algn="ctr">
              <a:buNone/>
            </a:pPr>
            <a:r>
              <a:rPr lang="en-US" sz="1400" dirty="0">
                <a:solidFill>
                  <a:srgbClr val="786B62"/>
                </a:solidFill>
                <a:latin typeface="Aptos" pitchFamily="34" charset="0"/>
                <a:ea typeface="Aptos" pitchFamily="34" charset="-122"/>
                <a:cs typeface="Aptos" pitchFamily="34" charset="-120"/>
              </a:rPr>
              <a:t>Izvršavanje korak po korak</a:t>
            </a:r>
            <a:endParaRPr lang="en-US" sz="1400" dirty="0"/>
          </a:p>
        </p:txBody>
      </p:sp>
      <p:sp>
        <p:nvSpPr>
          <p:cNvPr id="16" name="Shape 14"/>
          <p:cNvSpPr/>
          <p:nvPr/>
        </p:nvSpPr>
        <p:spPr>
          <a:xfrm>
            <a:off x="3813048" y="3255264"/>
            <a:ext cx="521208" cy="0"/>
          </a:xfrm>
          <a:prstGeom prst="line">
            <a:avLst/>
          </a:prstGeom>
          <a:noFill/>
          <a:ln w="19050">
            <a:solidFill>
              <a:srgbClr val="8B5E50"/>
            </a:solidFill>
            <a:prstDash val="solid"/>
            <a:tailEnd type="triangle"/>
          </a:ln>
        </p:spPr>
        <p:txBody>
          <a:bodyPr/>
          <a:lstStyle/>
          <a:p>
            <a:endParaRPr lang="en-US"/>
          </a:p>
        </p:txBody>
      </p:sp>
      <p:sp>
        <p:nvSpPr>
          <p:cNvPr id="17" name="Shape 15"/>
          <p:cNvSpPr/>
          <p:nvPr/>
        </p:nvSpPr>
        <p:spPr>
          <a:xfrm>
            <a:off x="4636008" y="1856232"/>
            <a:ext cx="2916936" cy="2843784"/>
          </a:xfrm>
          <a:prstGeom prst="roundRect">
            <a:avLst/>
          </a:prstGeom>
          <a:solidFill>
            <a:srgbClr val="FFFDFC"/>
          </a:solidFill>
          <a:ln w="12700">
            <a:solidFill>
              <a:srgbClr val="DED2C5"/>
            </a:solidFill>
            <a:prstDash val="solid"/>
          </a:ln>
          <a:effectLst>
            <a:outerShdw blurRad="19050" dist="50800" dir="2700000" algn="bl" rotWithShape="0">
              <a:srgbClr val="B9AA9B">
                <a:alpha val="10000"/>
              </a:srgbClr>
            </a:outerShdw>
          </a:effectLst>
        </p:spPr>
        <p:txBody>
          <a:bodyPr/>
          <a:lstStyle/>
          <a:p>
            <a:endParaRPr lang="en-US"/>
          </a:p>
        </p:txBody>
      </p:sp>
      <p:sp>
        <p:nvSpPr>
          <p:cNvPr id="18" name="Shape 16"/>
          <p:cNvSpPr/>
          <p:nvPr/>
        </p:nvSpPr>
        <p:spPr>
          <a:xfrm>
            <a:off x="4636008" y="1856232"/>
            <a:ext cx="2916936" cy="64008"/>
          </a:xfrm>
          <a:prstGeom prst="rect">
            <a:avLst/>
          </a:prstGeom>
          <a:solidFill>
            <a:srgbClr val="328C8B"/>
          </a:solidFill>
          <a:ln w="12700">
            <a:solidFill>
              <a:srgbClr val="328C8B"/>
            </a:solidFill>
            <a:prstDash val="solid"/>
          </a:ln>
        </p:spPr>
        <p:txBody>
          <a:bodyPr/>
          <a:lstStyle/>
          <a:p>
            <a:endParaRPr lang="en-US"/>
          </a:p>
        </p:txBody>
      </p:sp>
      <p:sp>
        <p:nvSpPr>
          <p:cNvPr id="19" name="Shape 17"/>
          <p:cNvSpPr/>
          <p:nvPr/>
        </p:nvSpPr>
        <p:spPr>
          <a:xfrm>
            <a:off x="4864608" y="2176272"/>
            <a:ext cx="493776" cy="493776"/>
          </a:xfrm>
          <a:prstGeom prst="ellipse">
            <a:avLst/>
          </a:prstGeom>
          <a:solidFill>
            <a:srgbClr val="328C8B">
              <a:alpha val="16000"/>
            </a:srgbClr>
          </a:solidFill>
          <a:ln w="13970">
            <a:solidFill>
              <a:srgbClr val="328C8B"/>
            </a:solidFill>
            <a:prstDash val="solid"/>
          </a:ln>
        </p:spPr>
        <p:txBody>
          <a:bodyPr/>
          <a:lstStyle/>
          <a:p>
            <a:endParaRPr lang="en-US"/>
          </a:p>
        </p:txBody>
      </p:sp>
      <p:sp>
        <p:nvSpPr>
          <p:cNvPr id="20" name="Text 18"/>
          <p:cNvSpPr/>
          <p:nvPr/>
        </p:nvSpPr>
        <p:spPr>
          <a:xfrm>
            <a:off x="4864608" y="2267712"/>
            <a:ext cx="493776" cy="256032"/>
          </a:xfrm>
          <a:prstGeom prst="rect">
            <a:avLst/>
          </a:prstGeom>
          <a:noFill/>
          <a:ln/>
        </p:spPr>
        <p:txBody>
          <a:bodyPr wrap="square" lIns="0" tIns="0" rIns="0" bIns="0" rtlCol="0" anchor="ctr">
            <a:normAutofit/>
          </a:bodyPr>
          <a:lstStyle/>
          <a:p>
            <a:pPr marL="0" indent="0" algn="ctr">
              <a:buNone/>
            </a:pPr>
            <a:r>
              <a:rPr lang="en-US" sz="1500" b="1" dirty="0">
                <a:solidFill>
                  <a:srgbClr val="328C8B"/>
                </a:solidFill>
                <a:latin typeface="Georgia" pitchFamily="34" charset="0"/>
                <a:ea typeface="Georgia" pitchFamily="34" charset="-122"/>
                <a:cs typeface="Georgia" pitchFamily="34" charset="-120"/>
              </a:rPr>
              <a:t>02</a:t>
            </a:r>
            <a:endParaRPr lang="en-US" sz="1500" dirty="0"/>
          </a:p>
        </p:txBody>
      </p:sp>
      <p:sp>
        <p:nvSpPr>
          <p:cNvPr id="21" name="Text 19"/>
          <p:cNvSpPr/>
          <p:nvPr/>
        </p:nvSpPr>
        <p:spPr>
          <a:xfrm>
            <a:off x="5522976" y="2212848"/>
            <a:ext cx="1755648" cy="347472"/>
          </a:xfrm>
          <a:prstGeom prst="rect">
            <a:avLst/>
          </a:prstGeom>
          <a:noFill/>
          <a:ln/>
        </p:spPr>
        <p:txBody>
          <a:bodyPr wrap="square" lIns="0" tIns="0" rIns="0" bIns="0" rtlCol="0" anchor="ctr">
            <a:normAutofit/>
          </a:bodyPr>
          <a:lstStyle/>
          <a:p>
            <a:pPr marL="0" indent="0">
              <a:buNone/>
            </a:pPr>
            <a:r>
              <a:rPr lang="en-US" sz="2050" dirty="0">
                <a:solidFill>
                  <a:srgbClr val="352B26"/>
                </a:solidFill>
                <a:latin typeface="Georgia" pitchFamily="34" charset="0"/>
                <a:ea typeface="Georgia" pitchFamily="34" charset="-122"/>
                <a:cs typeface="Georgia" pitchFamily="34" charset="-120"/>
              </a:rPr>
              <a:t>Poređenje</a:t>
            </a:r>
            <a:endParaRPr lang="en-US" sz="2050" dirty="0"/>
          </a:p>
        </p:txBody>
      </p:sp>
      <p:sp>
        <p:nvSpPr>
          <p:cNvPr id="22" name="Text 20"/>
          <p:cNvSpPr/>
          <p:nvPr/>
        </p:nvSpPr>
        <p:spPr>
          <a:xfrm>
            <a:off x="4910328" y="3063240"/>
            <a:ext cx="2368296" cy="384048"/>
          </a:xfrm>
          <a:prstGeom prst="rect">
            <a:avLst/>
          </a:prstGeom>
          <a:noFill/>
          <a:ln/>
        </p:spPr>
        <p:txBody>
          <a:bodyPr wrap="square" lIns="0" tIns="0" rIns="0" bIns="0" rtlCol="0" anchor="ctr">
            <a:normAutofit/>
          </a:bodyPr>
          <a:lstStyle/>
          <a:p>
            <a:pPr marL="0" indent="0" algn="ctr">
              <a:buNone/>
            </a:pPr>
            <a:r>
              <a:rPr lang="en-US" sz="1550" b="1" dirty="0">
                <a:solidFill>
                  <a:srgbClr val="328C8B"/>
                </a:solidFill>
                <a:latin typeface="Aptos" pitchFamily="34" charset="0"/>
                <a:ea typeface="Aptos" pitchFamily="34" charset="-122"/>
                <a:cs typeface="Aptos" pitchFamily="34" charset="-120"/>
              </a:rPr>
              <a:t>Zašto se razlikuje?</a:t>
            </a:r>
            <a:endParaRPr lang="en-US" sz="1550" dirty="0"/>
          </a:p>
        </p:txBody>
      </p:sp>
      <p:sp>
        <p:nvSpPr>
          <p:cNvPr id="23" name="Shape 21"/>
          <p:cNvSpPr/>
          <p:nvPr/>
        </p:nvSpPr>
        <p:spPr>
          <a:xfrm>
            <a:off x="5111496" y="3575304"/>
            <a:ext cx="1965960" cy="0"/>
          </a:xfrm>
          <a:prstGeom prst="line">
            <a:avLst/>
          </a:prstGeom>
          <a:noFill/>
          <a:ln w="12700">
            <a:solidFill>
              <a:srgbClr val="DED2C5"/>
            </a:solidFill>
            <a:prstDash val="solid"/>
          </a:ln>
        </p:spPr>
        <p:txBody>
          <a:bodyPr/>
          <a:lstStyle/>
          <a:p>
            <a:endParaRPr lang="en-US"/>
          </a:p>
        </p:txBody>
      </p:sp>
      <p:sp>
        <p:nvSpPr>
          <p:cNvPr id="24" name="Text 22"/>
          <p:cNvSpPr/>
          <p:nvPr/>
        </p:nvSpPr>
        <p:spPr>
          <a:xfrm>
            <a:off x="4956048" y="3813048"/>
            <a:ext cx="2276856" cy="475488"/>
          </a:xfrm>
          <a:prstGeom prst="rect">
            <a:avLst/>
          </a:prstGeom>
          <a:noFill/>
          <a:ln/>
        </p:spPr>
        <p:txBody>
          <a:bodyPr wrap="square" lIns="0" tIns="0" rIns="0" bIns="0" rtlCol="0" anchor="t">
            <a:normAutofit/>
          </a:bodyPr>
          <a:lstStyle/>
          <a:p>
            <a:pPr marL="0" indent="0" algn="ctr">
              <a:buNone/>
            </a:pPr>
            <a:r>
              <a:rPr lang="en-US" sz="1400" dirty="0">
                <a:solidFill>
                  <a:srgbClr val="786B62"/>
                </a:solidFill>
                <a:latin typeface="Aptos" pitchFamily="34" charset="0"/>
                <a:ea typeface="Aptos" pitchFamily="34" charset="-122"/>
                <a:cs typeface="Aptos" pitchFamily="34" charset="-120"/>
              </a:rPr>
              <a:t>Ista mapa i ista merila</a:t>
            </a:r>
            <a:endParaRPr lang="en-US" sz="1400" dirty="0"/>
          </a:p>
        </p:txBody>
      </p:sp>
      <p:sp>
        <p:nvSpPr>
          <p:cNvPr id="25" name="Shape 23"/>
          <p:cNvSpPr/>
          <p:nvPr/>
        </p:nvSpPr>
        <p:spPr>
          <a:xfrm>
            <a:off x="7763256" y="3255264"/>
            <a:ext cx="521208" cy="0"/>
          </a:xfrm>
          <a:prstGeom prst="line">
            <a:avLst/>
          </a:prstGeom>
          <a:noFill/>
          <a:ln w="19050">
            <a:solidFill>
              <a:srgbClr val="8B5E50"/>
            </a:solidFill>
            <a:prstDash val="solid"/>
            <a:tailEnd type="triangle"/>
          </a:ln>
        </p:spPr>
        <p:txBody>
          <a:bodyPr/>
          <a:lstStyle/>
          <a:p>
            <a:endParaRPr lang="en-US"/>
          </a:p>
        </p:txBody>
      </p:sp>
      <p:sp>
        <p:nvSpPr>
          <p:cNvPr id="26" name="Shape 24"/>
          <p:cNvSpPr/>
          <p:nvPr/>
        </p:nvSpPr>
        <p:spPr>
          <a:xfrm>
            <a:off x="8586216" y="1856232"/>
            <a:ext cx="2916936" cy="2843784"/>
          </a:xfrm>
          <a:prstGeom prst="roundRect">
            <a:avLst/>
          </a:prstGeom>
          <a:solidFill>
            <a:srgbClr val="FFFDFC"/>
          </a:solidFill>
          <a:ln w="12700">
            <a:solidFill>
              <a:srgbClr val="DED2C5"/>
            </a:solidFill>
            <a:prstDash val="solid"/>
          </a:ln>
          <a:effectLst>
            <a:outerShdw blurRad="19050" dist="50800" dir="2700000" algn="bl" rotWithShape="0">
              <a:srgbClr val="B9AA9B">
                <a:alpha val="10000"/>
              </a:srgbClr>
            </a:outerShdw>
          </a:effectLst>
        </p:spPr>
        <p:txBody>
          <a:bodyPr/>
          <a:lstStyle/>
          <a:p>
            <a:endParaRPr lang="en-US"/>
          </a:p>
        </p:txBody>
      </p:sp>
      <p:sp>
        <p:nvSpPr>
          <p:cNvPr id="27" name="Shape 25"/>
          <p:cNvSpPr/>
          <p:nvPr/>
        </p:nvSpPr>
        <p:spPr>
          <a:xfrm>
            <a:off x="8586216" y="1856232"/>
            <a:ext cx="2916936" cy="64008"/>
          </a:xfrm>
          <a:prstGeom prst="rect">
            <a:avLst/>
          </a:prstGeom>
          <a:solidFill>
            <a:srgbClr val="D49A32"/>
          </a:solidFill>
          <a:ln w="12700">
            <a:solidFill>
              <a:srgbClr val="D49A32"/>
            </a:solidFill>
            <a:prstDash val="solid"/>
          </a:ln>
        </p:spPr>
        <p:txBody>
          <a:bodyPr/>
          <a:lstStyle/>
          <a:p>
            <a:endParaRPr lang="en-US"/>
          </a:p>
        </p:txBody>
      </p:sp>
      <p:sp>
        <p:nvSpPr>
          <p:cNvPr id="28" name="Shape 26"/>
          <p:cNvSpPr/>
          <p:nvPr/>
        </p:nvSpPr>
        <p:spPr>
          <a:xfrm>
            <a:off x="8814816" y="2176272"/>
            <a:ext cx="493776" cy="493776"/>
          </a:xfrm>
          <a:prstGeom prst="ellipse">
            <a:avLst/>
          </a:prstGeom>
          <a:solidFill>
            <a:srgbClr val="D49A32">
              <a:alpha val="16000"/>
            </a:srgbClr>
          </a:solidFill>
          <a:ln w="13970">
            <a:solidFill>
              <a:srgbClr val="D49A32"/>
            </a:solidFill>
            <a:prstDash val="solid"/>
          </a:ln>
        </p:spPr>
        <p:txBody>
          <a:bodyPr/>
          <a:lstStyle/>
          <a:p>
            <a:endParaRPr lang="en-US"/>
          </a:p>
        </p:txBody>
      </p:sp>
      <p:sp>
        <p:nvSpPr>
          <p:cNvPr id="29" name="Text 27"/>
          <p:cNvSpPr/>
          <p:nvPr/>
        </p:nvSpPr>
        <p:spPr>
          <a:xfrm>
            <a:off x="8814816" y="2267712"/>
            <a:ext cx="493776" cy="256032"/>
          </a:xfrm>
          <a:prstGeom prst="rect">
            <a:avLst/>
          </a:prstGeom>
          <a:noFill/>
          <a:ln/>
        </p:spPr>
        <p:txBody>
          <a:bodyPr wrap="square" lIns="0" tIns="0" rIns="0" bIns="0" rtlCol="0" anchor="ctr">
            <a:normAutofit/>
          </a:bodyPr>
          <a:lstStyle/>
          <a:p>
            <a:pPr marL="0" indent="0" algn="ctr">
              <a:buNone/>
            </a:pPr>
            <a:r>
              <a:rPr lang="en-US" sz="1500" b="1" dirty="0">
                <a:solidFill>
                  <a:srgbClr val="D49A32"/>
                </a:solidFill>
                <a:latin typeface="Georgia" pitchFamily="34" charset="0"/>
                <a:ea typeface="Georgia" pitchFamily="34" charset="-122"/>
                <a:cs typeface="Georgia" pitchFamily="34" charset="-120"/>
              </a:rPr>
              <a:t>03</a:t>
            </a:r>
            <a:endParaRPr lang="en-US" sz="1500" dirty="0"/>
          </a:p>
        </p:txBody>
      </p:sp>
      <p:sp>
        <p:nvSpPr>
          <p:cNvPr id="30" name="Text 28"/>
          <p:cNvSpPr/>
          <p:nvPr/>
        </p:nvSpPr>
        <p:spPr>
          <a:xfrm>
            <a:off x="9473184" y="2212848"/>
            <a:ext cx="1755648" cy="347472"/>
          </a:xfrm>
          <a:prstGeom prst="rect">
            <a:avLst/>
          </a:prstGeom>
          <a:noFill/>
          <a:ln/>
        </p:spPr>
        <p:txBody>
          <a:bodyPr wrap="square" lIns="0" tIns="0" rIns="0" bIns="0" rtlCol="0" anchor="ctr">
            <a:normAutofit/>
          </a:bodyPr>
          <a:lstStyle/>
          <a:p>
            <a:pPr marL="0" indent="0">
              <a:buNone/>
            </a:pPr>
            <a:r>
              <a:rPr lang="en-US" sz="2050" dirty="0">
                <a:solidFill>
                  <a:srgbClr val="352B26"/>
                </a:solidFill>
                <a:latin typeface="Georgia" pitchFamily="34" charset="0"/>
                <a:ea typeface="Georgia" pitchFamily="34" charset="-122"/>
                <a:cs typeface="Georgia" pitchFamily="34" charset="-120"/>
              </a:rPr>
              <a:t>Igraonica</a:t>
            </a:r>
            <a:endParaRPr lang="en-US" sz="2050" dirty="0"/>
          </a:p>
        </p:txBody>
      </p:sp>
      <p:sp>
        <p:nvSpPr>
          <p:cNvPr id="31" name="Text 29"/>
          <p:cNvSpPr/>
          <p:nvPr/>
        </p:nvSpPr>
        <p:spPr>
          <a:xfrm>
            <a:off x="8860536" y="3063240"/>
            <a:ext cx="2368296" cy="384048"/>
          </a:xfrm>
          <a:prstGeom prst="rect">
            <a:avLst/>
          </a:prstGeom>
          <a:noFill/>
          <a:ln/>
        </p:spPr>
        <p:txBody>
          <a:bodyPr wrap="square" lIns="0" tIns="0" rIns="0" bIns="0" rtlCol="0" anchor="ctr">
            <a:normAutofit/>
          </a:bodyPr>
          <a:lstStyle/>
          <a:p>
            <a:pPr marL="0" indent="0" algn="ctr">
              <a:buNone/>
            </a:pPr>
            <a:r>
              <a:rPr lang="en-US" sz="1550" b="1" dirty="0">
                <a:solidFill>
                  <a:srgbClr val="D49A32"/>
                </a:solidFill>
                <a:latin typeface="Aptos" pitchFamily="34" charset="0"/>
                <a:ea typeface="Aptos" pitchFamily="34" charset="-122"/>
                <a:cs typeface="Aptos" pitchFamily="34" charset="-120"/>
              </a:rPr>
              <a:t>Kako se znanje primenjuje?</a:t>
            </a:r>
            <a:endParaRPr lang="en-US" sz="1550" dirty="0"/>
          </a:p>
        </p:txBody>
      </p:sp>
      <p:sp>
        <p:nvSpPr>
          <p:cNvPr id="32" name="Shape 30"/>
          <p:cNvSpPr/>
          <p:nvPr/>
        </p:nvSpPr>
        <p:spPr>
          <a:xfrm>
            <a:off x="9061704" y="3575304"/>
            <a:ext cx="1965960" cy="0"/>
          </a:xfrm>
          <a:prstGeom prst="line">
            <a:avLst/>
          </a:prstGeom>
          <a:noFill/>
          <a:ln w="12700">
            <a:solidFill>
              <a:srgbClr val="DED2C5"/>
            </a:solidFill>
            <a:prstDash val="solid"/>
          </a:ln>
        </p:spPr>
        <p:txBody>
          <a:bodyPr/>
          <a:lstStyle/>
          <a:p>
            <a:endParaRPr lang="en-US"/>
          </a:p>
        </p:txBody>
      </p:sp>
      <p:sp>
        <p:nvSpPr>
          <p:cNvPr id="33" name="Text 31"/>
          <p:cNvSpPr/>
          <p:nvPr/>
        </p:nvSpPr>
        <p:spPr>
          <a:xfrm>
            <a:off x="8906256" y="3813048"/>
            <a:ext cx="2276856" cy="475488"/>
          </a:xfrm>
          <a:prstGeom prst="rect">
            <a:avLst/>
          </a:prstGeom>
          <a:noFill/>
          <a:ln/>
        </p:spPr>
        <p:txBody>
          <a:bodyPr wrap="square" lIns="0" tIns="0" rIns="0" bIns="0" rtlCol="0" anchor="t">
            <a:normAutofit/>
          </a:bodyPr>
          <a:lstStyle/>
          <a:p>
            <a:pPr marL="0" indent="0" algn="ctr">
              <a:buNone/>
            </a:pPr>
            <a:r>
              <a:rPr lang="en-US" sz="1400" dirty="0">
                <a:solidFill>
                  <a:srgbClr val="786B62"/>
                </a:solidFill>
                <a:latin typeface="Aptos" pitchFamily="34" charset="0"/>
                <a:ea typeface="Aptos" pitchFamily="34" charset="-122"/>
                <a:cs typeface="Aptos" pitchFamily="34" charset="-120"/>
              </a:rPr>
              <a:t>Sopstveni put i povratna informacija</a:t>
            </a:r>
            <a:endParaRPr lang="en-US" sz="1400" dirty="0"/>
          </a:p>
        </p:txBody>
      </p:sp>
      <p:sp>
        <p:nvSpPr>
          <p:cNvPr id="34" name="Shape 32"/>
          <p:cNvSpPr/>
          <p:nvPr/>
        </p:nvSpPr>
        <p:spPr>
          <a:xfrm>
            <a:off x="1572768" y="5120640"/>
            <a:ext cx="9052560" cy="694944"/>
          </a:xfrm>
          <a:prstGeom prst="roundRect">
            <a:avLst/>
          </a:prstGeom>
          <a:solidFill>
            <a:srgbClr val="EEE5DA"/>
          </a:solidFill>
          <a:ln w="12700">
            <a:solidFill>
              <a:srgbClr val="EEE5DA"/>
            </a:solidFill>
            <a:prstDash val="solid"/>
          </a:ln>
        </p:spPr>
        <p:txBody>
          <a:bodyPr/>
          <a:lstStyle/>
          <a:p>
            <a:endParaRPr lang="en-US"/>
          </a:p>
        </p:txBody>
      </p:sp>
      <p:sp>
        <p:nvSpPr>
          <p:cNvPr id="35" name="Text 33"/>
          <p:cNvSpPr/>
          <p:nvPr/>
        </p:nvSpPr>
        <p:spPr>
          <a:xfrm>
            <a:off x="1847088" y="5294376"/>
            <a:ext cx="8503920" cy="310896"/>
          </a:xfrm>
          <a:prstGeom prst="rect">
            <a:avLst/>
          </a:prstGeom>
          <a:noFill/>
          <a:ln/>
        </p:spPr>
        <p:txBody>
          <a:bodyPr wrap="square" lIns="0" tIns="0" rIns="0" bIns="0" rtlCol="0" anchor="ctr">
            <a:normAutofit/>
          </a:bodyPr>
          <a:lstStyle/>
          <a:p>
            <a:pPr marL="0" indent="0" algn="ctr">
              <a:buNone/>
            </a:pPr>
            <a:r>
              <a:rPr lang="en-US" sz="1850" dirty="0">
                <a:solidFill>
                  <a:srgbClr val="6E473B"/>
                </a:solidFill>
                <a:latin typeface="Georgia" pitchFamily="34" charset="0"/>
                <a:ea typeface="Georgia" pitchFamily="34" charset="-122"/>
                <a:cs typeface="Georgia" pitchFamily="34" charset="-120"/>
              </a:rPr>
              <a:t>Od posmatrača do učesnika, bez promene okruženja.</a:t>
            </a:r>
            <a:endParaRPr lang="en-US" sz="1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3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
          </a:xfrm>
          <a:prstGeom prst="rect">
            <a:avLst/>
          </a:prstGeom>
          <a:solidFill>
            <a:srgbClr val="8B5E50"/>
          </a:solidFill>
          <a:ln w="12700">
            <a:solidFill>
              <a:srgbClr val="8B5E50"/>
            </a:solidFill>
            <a:prstDash val="solid"/>
          </a:ln>
        </p:spPr>
        <p:txBody>
          <a:bodyPr/>
          <a:lstStyle/>
          <a:p>
            <a:endParaRPr lang="en-US"/>
          </a:p>
        </p:txBody>
      </p:sp>
      <p:sp>
        <p:nvSpPr>
          <p:cNvPr id="3" name="Text 1"/>
          <p:cNvSpPr/>
          <p:nvPr/>
        </p:nvSpPr>
        <p:spPr>
          <a:xfrm>
            <a:off x="658368" y="274320"/>
            <a:ext cx="6858000" cy="182880"/>
          </a:xfrm>
          <a:prstGeom prst="rect">
            <a:avLst/>
          </a:prstGeom>
          <a:noFill/>
          <a:ln/>
        </p:spPr>
        <p:txBody>
          <a:bodyPr wrap="square" lIns="0" tIns="0" rIns="0" bIns="0" rtlCol="0" anchor="ctr">
            <a:normAutofit/>
          </a:bodyPr>
          <a:lstStyle/>
          <a:p>
            <a:pPr marL="0" indent="0">
              <a:buNone/>
            </a:pPr>
            <a:r>
              <a:rPr lang="en-US" sz="1000" b="1" kern="0" spc="120" dirty="0">
                <a:solidFill>
                  <a:srgbClr val="8B5E50"/>
                </a:solidFill>
                <a:latin typeface="Aptos" pitchFamily="34" charset="0"/>
                <a:ea typeface="Aptos" pitchFamily="34" charset="-122"/>
                <a:cs typeface="Aptos" pitchFamily="34" charset="-120"/>
              </a:rPr>
              <a:t>APLIKACIJA</a:t>
            </a:r>
            <a:endParaRPr lang="en-US" sz="1000" dirty="0"/>
          </a:p>
        </p:txBody>
      </p:sp>
      <p:sp>
        <p:nvSpPr>
          <p:cNvPr id="4" name="Shape 2"/>
          <p:cNvSpPr/>
          <p:nvPr/>
        </p:nvSpPr>
        <p:spPr>
          <a:xfrm>
            <a:off x="658368" y="6428232"/>
            <a:ext cx="10881360" cy="0"/>
          </a:xfrm>
          <a:prstGeom prst="line">
            <a:avLst/>
          </a:prstGeom>
          <a:noFill/>
          <a:ln w="10160">
            <a:solidFill>
              <a:srgbClr val="DED2C5"/>
            </a:solidFill>
            <a:prstDash val="solid"/>
          </a:ln>
        </p:spPr>
        <p:txBody>
          <a:bodyPr/>
          <a:lstStyle/>
          <a:p>
            <a:endParaRPr lang="en-US"/>
          </a:p>
        </p:txBody>
      </p:sp>
      <p:sp>
        <p:nvSpPr>
          <p:cNvPr id="5" name="Text 3"/>
          <p:cNvSpPr/>
          <p:nvPr/>
        </p:nvSpPr>
        <p:spPr>
          <a:xfrm>
            <a:off x="11045952" y="6492240"/>
            <a:ext cx="493776" cy="146304"/>
          </a:xfrm>
          <a:prstGeom prst="rect">
            <a:avLst/>
          </a:prstGeom>
          <a:noFill/>
          <a:ln/>
        </p:spPr>
        <p:txBody>
          <a:bodyPr wrap="square" lIns="0" tIns="0" rIns="0" bIns="0" rtlCol="0" anchor="ctr">
            <a:normAutofit/>
          </a:bodyPr>
          <a:lstStyle/>
          <a:p>
            <a:pPr marL="0" indent="0" algn="r">
              <a:buNone/>
            </a:pPr>
            <a:r>
              <a:rPr lang="en-US" sz="850" b="1" dirty="0">
                <a:solidFill>
                  <a:srgbClr val="786B62"/>
                </a:solidFill>
                <a:latin typeface="Aptos" pitchFamily="34" charset="0"/>
                <a:ea typeface="Aptos" pitchFamily="34" charset="-122"/>
                <a:cs typeface="Aptos" pitchFamily="34" charset="-120"/>
              </a:rPr>
              <a:t>04</a:t>
            </a:r>
            <a:endParaRPr lang="en-US" sz="850" dirty="0"/>
          </a:p>
        </p:txBody>
      </p:sp>
      <p:sp>
        <p:nvSpPr>
          <p:cNvPr id="6" name="Text 4"/>
          <p:cNvSpPr/>
          <p:nvPr/>
        </p:nvSpPr>
        <p:spPr>
          <a:xfrm>
            <a:off x="658368" y="694944"/>
            <a:ext cx="10789920" cy="658368"/>
          </a:xfrm>
          <a:prstGeom prst="rect">
            <a:avLst/>
          </a:prstGeom>
          <a:noFill/>
          <a:ln/>
        </p:spPr>
        <p:txBody>
          <a:bodyPr wrap="square" lIns="0" tIns="0" rIns="0" bIns="0" rtlCol="0" anchor="t">
            <a:normAutofit/>
          </a:bodyPr>
          <a:lstStyle/>
          <a:p>
            <a:pPr marL="0" indent="0">
              <a:buNone/>
            </a:pPr>
            <a:r>
              <a:rPr lang="en-US" sz="2900" dirty="0">
                <a:solidFill>
                  <a:srgbClr val="352B26"/>
                </a:solidFill>
                <a:latin typeface="Georgia" pitchFamily="34" charset="0"/>
                <a:ea typeface="Georgia" pitchFamily="34" charset="-122"/>
                <a:cs typeface="Georgia" pitchFamily="34" charset="-120"/>
              </a:rPr>
              <a:t>Sistem u radu</a:t>
            </a:r>
            <a:endParaRPr lang="en-US" sz="2900" dirty="0"/>
          </a:p>
        </p:txBody>
      </p:sp>
      <p:sp>
        <p:nvSpPr>
          <p:cNvPr id="7" name="Text 5"/>
          <p:cNvSpPr/>
          <p:nvPr/>
        </p:nvSpPr>
        <p:spPr>
          <a:xfrm>
            <a:off x="4005072" y="841248"/>
            <a:ext cx="7452360" cy="310896"/>
          </a:xfrm>
          <a:prstGeom prst="rect">
            <a:avLst/>
          </a:prstGeom>
          <a:noFill/>
          <a:ln/>
        </p:spPr>
        <p:txBody>
          <a:bodyPr wrap="square" lIns="0" tIns="0" rIns="0" bIns="0" rtlCol="0" anchor="ctr">
            <a:normAutofit/>
          </a:bodyPr>
          <a:lstStyle/>
          <a:p>
            <a:pPr marL="0" indent="0" algn="r">
              <a:buNone/>
            </a:pPr>
            <a:r>
              <a:rPr lang="en-US" sz="1500" dirty="0">
                <a:solidFill>
                  <a:srgbClr val="786B62"/>
                </a:solidFill>
                <a:latin typeface="Aptos" pitchFamily="34" charset="0"/>
                <a:ea typeface="Aptos" pitchFamily="34" charset="-122"/>
                <a:cs typeface="Aptos" pitchFamily="34" charset="-120"/>
              </a:rPr>
              <a:t>Mapa, trag izvršavanja, kontrole i metrike ostaju u istom vidnom polju.</a:t>
            </a:r>
            <a:endParaRPr lang="en-US" sz="1500" dirty="0"/>
          </a:p>
        </p:txBody>
      </p:sp>
      <p:sp>
        <p:nvSpPr>
          <p:cNvPr id="8" name="Shape 6"/>
          <p:cNvSpPr/>
          <p:nvPr/>
        </p:nvSpPr>
        <p:spPr>
          <a:xfrm>
            <a:off x="941832" y="1353312"/>
            <a:ext cx="10305288" cy="4800600"/>
          </a:xfrm>
          <a:prstGeom prst="roundRect">
            <a:avLst/>
          </a:prstGeom>
          <a:solidFill>
            <a:srgbClr val="FFFDFC"/>
          </a:solidFill>
          <a:ln w="12700">
            <a:solidFill>
              <a:srgbClr val="DED2C5"/>
            </a:solidFill>
            <a:prstDash val="solid"/>
          </a:ln>
          <a:effectLst>
            <a:outerShdw blurRad="25400" dist="50800" dir="2700000" algn="bl" rotWithShape="0">
              <a:srgbClr val="A99A8D">
                <a:alpha val="16000"/>
              </a:srgbClr>
            </a:outerShdw>
          </a:effectLst>
        </p:spPr>
        <p:txBody>
          <a:bodyPr/>
          <a:lstStyle/>
          <a:p>
            <a:endParaRPr lang="en-US"/>
          </a:p>
        </p:txBody>
      </p:sp>
      <p:pic>
        <p:nvPicPr>
          <p:cNvPr id="9" name="Image 0" descr="Pathfinder aplikacija tokom vizualizacije algoritma"/>
          <p:cNvPicPr>
            <a:picLocks noChangeAspect="1"/>
          </p:cNvPicPr>
          <p:nvPr/>
        </p:nvPicPr>
        <p:blipFill>
          <a:blip r:embed="rId3"/>
          <a:srcRect/>
          <a:stretch/>
        </p:blipFill>
        <p:spPr>
          <a:xfrm>
            <a:off x="1170432" y="1609344"/>
            <a:ext cx="9848088" cy="4288536"/>
          </a:xfrm>
          <a:prstGeom prst="rect">
            <a:avLst/>
          </a:prstGeom>
        </p:spPr>
      </p:pic>
      <p:sp>
        <p:nvSpPr>
          <p:cNvPr id="10" name="Shape 7"/>
          <p:cNvSpPr/>
          <p:nvPr/>
        </p:nvSpPr>
        <p:spPr>
          <a:xfrm>
            <a:off x="941832" y="1353312"/>
            <a:ext cx="10305288" cy="4800600"/>
          </a:xfrm>
          <a:prstGeom prst="roundRect">
            <a:avLst/>
          </a:prstGeom>
          <a:solidFill>
            <a:srgbClr val="FFFFFF">
              <a:alpha val="0"/>
            </a:srgbClr>
          </a:solidFill>
          <a:ln w="15240">
            <a:solidFill>
              <a:srgbClr val="DED2C5"/>
            </a:solidFill>
            <a:prstDash val="solid"/>
          </a:ln>
        </p:spPr>
        <p:txBody>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3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
          </a:xfrm>
          <a:prstGeom prst="rect">
            <a:avLst/>
          </a:prstGeom>
          <a:solidFill>
            <a:srgbClr val="8B5E50"/>
          </a:solidFill>
          <a:ln w="12700">
            <a:solidFill>
              <a:srgbClr val="8B5E50"/>
            </a:solidFill>
            <a:prstDash val="solid"/>
          </a:ln>
        </p:spPr>
        <p:txBody>
          <a:bodyPr/>
          <a:lstStyle/>
          <a:p>
            <a:endParaRPr lang="en-US"/>
          </a:p>
        </p:txBody>
      </p:sp>
      <p:sp>
        <p:nvSpPr>
          <p:cNvPr id="3" name="Text 1"/>
          <p:cNvSpPr/>
          <p:nvPr/>
        </p:nvSpPr>
        <p:spPr>
          <a:xfrm>
            <a:off x="658368" y="274320"/>
            <a:ext cx="6858000" cy="182880"/>
          </a:xfrm>
          <a:prstGeom prst="rect">
            <a:avLst/>
          </a:prstGeom>
          <a:noFill/>
          <a:ln/>
        </p:spPr>
        <p:txBody>
          <a:bodyPr wrap="square" lIns="0" tIns="0" rIns="0" bIns="0" rtlCol="0" anchor="ctr">
            <a:normAutofit/>
          </a:bodyPr>
          <a:lstStyle/>
          <a:p>
            <a:pPr marL="0" indent="0">
              <a:buNone/>
            </a:pPr>
            <a:r>
              <a:rPr lang="en-US" sz="1000" b="1" kern="0" spc="120" dirty="0">
                <a:solidFill>
                  <a:srgbClr val="8B5E50"/>
                </a:solidFill>
                <a:latin typeface="Aptos" pitchFamily="34" charset="0"/>
                <a:ea typeface="Aptos" pitchFamily="34" charset="-122"/>
                <a:cs typeface="Aptos" pitchFamily="34" charset="-120"/>
              </a:rPr>
              <a:t>ARHITEKTURA I TEHNOLOGIJE</a:t>
            </a:r>
            <a:endParaRPr lang="en-US" sz="1000" dirty="0"/>
          </a:p>
        </p:txBody>
      </p:sp>
      <p:sp>
        <p:nvSpPr>
          <p:cNvPr id="4" name="Shape 2"/>
          <p:cNvSpPr/>
          <p:nvPr/>
        </p:nvSpPr>
        <p:spPr>
          <a:xfrm>
            <a:off x="658368" y="6428232"/>
            <a:ext cx="10881360" cy="0"/>
          </a:xfrm>
          <a:prstGeom prst="line">
            <a:avLst/>
          </a:prstGeom>
          <a:noFill/>
          <a:ln w="10160">
            <a:solidFill>
              <a:srgbClr val="DED2C5"/>
            </a:solidFill>
            <a:prstDash val="solid"/>
          </a:ln>
        </p:spPr>
        <p:txBody>
          <a:bodyPr/>
          <a:lstStyle/>
          <a:p>
            <a:endParaRPr lang="en-US"/>
          </a:p>
        </p:txBody>
      </p:sp>
      <p:sp>
        <p:nvSpPr>
          <p:cNvPr id="5" name="Text 3"/>
          <p:cNvSpPr/>
          <p:nvPr/>
        </p:nvSpPr>
        <p:spPr>
          <a:xfrm>
            <a:off x="11045952" y="6492240"/>
            <a:ext cx="493776" cy="146304"/>
          </a:xfrm>
          <a:prstGeom prst="rect">
            <a:avLst/>
          </a:prstGeom>
          <a:noFill/>
          <a:ln/>
        </p:spPr>
        <p:txBody>
          <a:bodyPr wrap="square" lIns="0" tIns="0" rIns="0" bIns="0" rtlCol="0" anchor="ctr">
            <a:normAutofit/>
          </a:bodyPr>
          <a:lstStyle/>
          <a:p>
            <a:pPr marL="0" indent="0" algn="r">
              <a:buNone/>
            </a:pPr>
            <a:r>
              <a:rPr lang="en-US" sz="850" b="1" dirty="0">
                <a:solidFill>
                  <a:srgbClr val="786B62"/>
                </a:solidFill>
                <a:latin typeface="Aptos" pitchFamily="34" charset="0"/>
                <a:ea typeface="Aptos" pitchFamily="34" charset="-122"/>
                <a:cs typeface="Aptos" pitchFamily="34" charset="-120"/>
              </a:rPr>
              <a:t>05</a:t>
            </a:r>
            <a:endParaRPr lang="en-US" sz="850" dirty="0"/>
          </a:p>
        </p:txBody>
      </p:sp>
      <p:sp>
        <p:nvSpPr>
          <p:cNvPr id="6" name="Text 4"/>
          <p:cNvSpPr/>
          <p:nvPr/>
        </p:nvSpPr>
        <p:spPr>
          <a:xfrm>
            <a:off x="658368" y="694944"/>
            <a:ext cx="10789920" cy="658368"/>
          </a:xfrm>
          <a:prstGeom prst="rect">
            <a:avLst/>
          </a:prstGeom>
          <a:noFill/>
          <a:ln/>
        </p:spPr>
        <p:txBody>
          <a:bodyPr wrap="square" lIns="0" tIns="0" rIns="0" bIns="0" rtlCol="0" anchor="t">
            <a:normAutofit/>
          </a:bodyPr>
          <a:lstStyle/>
          <a:p>
            <a:pPr marL="0" indent="0">
              <a:buNone/>
            </a:pPr>
            <a:r>
              <a:rPr lang="en-US" sz="2800" dirty="0">
                <a:solidFill>
                  <a:srgbClr val="352B26"/>
                </a:solidFill>
                <a:latin typeface="Georgia" pitchFamily="34" charset="0"/>
                <a:ea typeface="Georgia" pitchFamily="34" charset="-122"/>
                <a:cs typeface="Georgia" pitchFamily="34" charset="-120"/>
              </a:rPr>
              <a:t>Jedan tok, četiri jasno odvojene odgovornosti.</a:t>
            </a:r>
            <a:endParaRPr lang="en-US" sz="2800" dirty="0"/>
          </a:p>
        </p:txBody>
      </p:sp>
      <p:sp>
        <p:nvSpPr>
          <p:cNvPr id="7" name="Text 5"/>
          <p:cNvSpPr/>
          <p:nvPr/>
        </p:nvSpPr>
        <p:spPr>
          <a:xfrm>
            <a:off x="676656" y="1335024"/>
            <a:ext cx="9875520" cy="329184"/>
          </a:xfrm>
          <a:prstGeom prst="rect">
            <a:avLst/>
          </a:prstGeom>
          <a:noFill/>
          <a:ln/>
        </p:spPr>
        <p:txBody>
          <a:bodyPr wrap="square" lIns="0" tIns="0" rIns="0" bIns="0" rtlCol="0" anchor="ctr">
            <a:normAutofit/>
          </a:bodyPr>
          <a:lstStyle/>
          <a:p>
            <a:pPr marL="0" indent="0">
              <a:buNone/>
            </a:pPr>
            <a:r>
              <a:rPr lang="en-US" sz="1650" dirty="0">
                <a:solidFill>
                  <a:srgbClr val="786B62"/>
                </a:solidFill>
                <a:latin typeface="Aptos" pitchFamily="34" charset="0"/>
                <a:ea typeface="Aptos" pitchFamily="34" charset="-122"/>
                <a:cs typeface="Aptos" pitchFamily="34" charset="-120"/>
              </a:rPr>
              <a:t>Klijent prikazuje, server orkestrira, servisi čuvaju i objašnjavaju.</a:t>
            </a:r>
            <a:endParaRPr lang="en-US" sz="1650" dirty="0"/>
          </a:p>
        </p:txBody>
      </p:sp>
      <p:sp>
        <p:nvSpPr>
          <p:cNvPr id="8" name="Shape 6"/>
          <p:cNvSpPr/>
          <p:nvPr/>
        </p:nvSpPr>
        <p:spPr>
          <a:xfrm>
            <a:off x="3767328" y="3099816"/>
            <a:ext cx="621792" cy="0"/>
          </a:xfrm>
          <a:prstGeom prst="line">
            <a:avLst/>
          </a:prstGeom>
          <a:noFill/>
          <a:ln w="20320">
            <a:solidFill>
              <a:srgbClr val="8B5E50"/>
            </a:solidFill>
            <a:prstDash val="solid"/>
            <a:tailEnd type="triangle"/>
          </a:ln>
        </p:spPr>
        <p:txBody>
          <a:bodyPr/>
          <a:lstStyle/>
          <a:p>
            <a:endParaRPr lang="en-US"/>
          </a:p>
        </p:txBody>
      </p:sp>
      <p:sp>
        <p:nvSpPr>
          <p:cNvPr id="9" name="Text 7"/>
          <p:cNvSpPr/>
          <p:nvPr/>
        </p:nvSpPr>
        <p:spPr>
          <a:xfrm>
            <a:off x="3675888" y="2724912"/>
            <a:ext cx="822960" cy="182880"/>
          </a:xfrm>
          <a:prstGeom prst="rect">
            <a:avLst/>
          </a:prstGeom>
          <a:noFill/>
          <a:ln/>
        </p:spPr>
        <p:txBody>
          <a:bodyPr wrap="square" lIns="0" tIns="0" rIns="0" bIns="0" rtlCol="0" anchor="ctr">
            <a:normAutofit/>
          </a:bodyPr>
          <a:lstStyle/>
          <a:p>
            <a:pPr marL="0" indent="0" algn="ctr">
              <a:buNone/>
            </a:pPr>
            <a:r>
              <a:rPr lang="en-US" sz="800" b="1" kern="0" spc="50" dirty="0">
                <a:solidFill>
                  <a:srgbClr val="8B5E50"/>
                </a:solidFill>
                <a:latin typeface="Aptos" pitchFamily="34" charset="0"/>
                <a:ea typeface="Aptos" pitchFamily="34" charset="-122"/>
                <a:cs typeface="Aptos" pitchFamily="34" charset="-120"/>
              </a:rPr>
              <a:t>REST · SOCKET.IO</a:t>
            </a:r>
            <a:endParaRPr lang="en-US" sz="800" dirty="0"/>
          </a:p>
        </p:txBody>
      </p:sp>
      <p:sp>
        <p:nvSpPr>
          <p:cNvPr id="10" name="Shape 8"/>
          <p:cNvSpPr/>
          <p:nvPr/>
        </p:nvSpPr>
        <p:spPr>
          <a:xfrm>
            <a:off x="7754112" y="3099816"/>
            <a:ext cx="621792" cy="0"/>
          </a:xfrm>
          <a:prstGeom prst="line">
            <a:avLst/>
          </a:prstGeom>
          <a:noFill/>
          <a:ln w="20320">
            <a:solidFill>
              <a:srgbClr val="8B5E50"/>
            </a:solidFill>
            <a:prstDash val="solid"/>
            <a:tailEnd type="triangle"/>
          </a:ln>
        </p:spPr>
        <p:txBody>
          <a:bodyPr/>
          <a:lstStyle/>
          <a:p>
            <a:endParaRPr lang="en-US"/>
          </a:p>
        </p:txBody>
      </p:sp>
      <p:sp>
        <p:nvSpPr>
          <p:cNvPr id="11" name="Text 9"/>
          <p:cNvSpPr/>
          <p:nvPr/>
        </p:nvSpPr>
        <p:spPr>
          <a:xfrm>
            <a:off x="7671816" y="2724912"/>
            <a:ext cx="804672" cy="182880"/>
          </a:xfrm>
          <a:prstGeom prst="rect">
            <a:avLst/>
          </a:prstGeom>
          <a:noFill/>
          <a:ln/>
        </p:spPr>
        <p:txBody>
          <a:bodyPr wrap="square" lIns="0" tIns="0" rIns="0" bIns="0" rtlCol="0" anchor="ctr">
            <a:normAutofit/>
          </a:bodyPr>
          <a:lstStyle/>
          <a:p>
            <a:pPr marL="0" indent="0" algn="ctr">
              <a:buNone/>
            </a:pPr>
            <a:r>
              <a:rPr lang="en-US" sz="800" b="1" kern="0" spc="35" dirty="0">
                <a:solidFill>
                  <a:srgbClr val="8B5E50"/>
                </a:solidFill>
                <a:latin typeface="Aptos" pitchFamily="34" charset="0"/>
                <a:ea typeface="Aptos" pitchFamily="34" charset="-122"/>
                <a:cs typeface="Aptos" pitchFamily="34" charset="-120"/>
              </a:rPr>
              <a:t>PODACI · KONTEKST</a:t>
            </a:r>
            <a:endParaRPr lang="en-US" sz="800" dirty="0"/>
          </a:p>
        </p:txBody>
      </p:sp>
      <p:sp>
        <p:nvSpPr>
          <p:cNvPr id="12" name="Shape 10"/>
          <p:cNvSpPr/>
          <p:nvPr/>
        </p:nvSpPr>
        <p:spPr>
          <a:xfrm>
            <a:off x="658368" y="1755648"/>
            <a:ext cx="2907792" cy="3218688"/>
          </a:xfrm>
          <a:prstGeom prst="roundRect">
            <a:avLst/>
          </a:prstGeom>
          <a:solidFill>
            <a:srgbClr val="FFFDFC"/>
          </a:solidFill>
          <a:ln w="12700">
            <a:solidFill>
              <a:srgbClr val="DED2C5"/>
            </a:solidFill>
            <a:prstDash val="solid"/>
          </a:ln>
          <a:effectLst>
            <a:outerShdw blurRad="19050" dist="50800" dir="2700000" algn="bl" rotWithShape="0">
              <a:srgbClr val="B9AA9B">
                <a:alpha val="11000"/>
              </a:srgbClr>
            </a:outerShdw>
          </a:effectLst>
        </p:spPr>
        <p:txBody>
          <a:bodyPr/>
          <a:lstStyle/>
          <a:p>
            <a:r>
              <a:rPr lang="en-US"/>
              <a:t> </a:t>
            </a:r>
          </a:p>
        </p:txBody>
      </p:sp>
      <p:sp>
        <p:nvSpPr>
          <p:cNvPr id="13" name="Shape 11"/>
          <p:cNvSpPr/>
          <p:nvPr/>
        </p:nvSpPr>
        <p:spPr>
          <a:xfrm>
            <a:off x="932688" y="2029968"/>
            <a:ext cx="694944" cy="694944"/>
          </a:xfrm>
          <a:prstGeom prst="ellipse">
            <a:avLst/>
          </a:prstGeom>
          <a:solidFill>
            <a:srgbClr val="4B91B8">
              <a:alpha val="16000"/>
            </a:srgbClr>
          </a:solidFill>
          <a:ln w="15240">
            <a:solidFill>
              <a:srgbClr val="4B91B8"/>
            </a:solidFill>
            <a:prstDash val="solid"/>
          </a:ln>
        </p:spPr>
        <p:txBody>
          <a:bodyPr/>
          <a:lstStyle/>
          <a:p>
            <a:endParaRPr lang="en-US"/>
          </a:p>
        </p:txBody>
      </p:sp>
      <p:sp>
        <p:nvSpPr>
          <p:cNvPr id="14" name="Shape 12"/>
          <p:cNvSpPr/>
          <p:nvPr/>
        </p:nvSpPr>
        <p:spPr>
          <a:xfrm>
            <a:off x="1083564" y="2249424"/>
            <a:ext cx="114300" cy="114300"/>
          </a:xfrm>
          <a:prstGeom prst="rect">
            <a:avLst/>
          </a:prstGeom>
          <a:solidFill>
            <a:srgbClr val="FFFDFC"/>
          </a:solidFill>
          <a:ln w="12700">
            <a:solidFill>
              <a:srgbClr val="DED2C5"/>
            </a:solidFill>
            <a:prstDash val="solid"/>
          </a:ln>
        </p:spPr>
        <p:txBody>
          <a:bodyPr/>
          <a:lstStyle/>
          <a:p>
            <a:endParaRPr lang="en-US"/>
          </a:p>
        </p:txBody>
      </p:sp>
      <p:sp>
        <p:nvSpPr>
          <p:cNvPr id="15" name="Shape 13"/>
          <p:cNvSpPr/>
          <p:nvPr/>
        </p:nvSpPr>
        <p:spPr>
          <a:xfrm>
            <a:off x="1220724" y="2249424"/>
            <a:ext cx="114300" cy="114300"/>
          </a:xfrm>
          <a:prstGeom prst="rect">
            <a:avLst/>
          </a:prstGeom>
          <a:solidFill>
            <a:srgbClr val="FFFDFC"/>
          </a:solidFill>
          <a:ln w="12700">
            <a:solidFill>
              <a:srgbClr val="DED2C5"/>
            </a:solidFill>
            <a:prstDash val="solid"/>
          </a:ln>
        </p:spPr>
        <p:txBody>
          <a:bodyPr/>
          <a:lstStyle/>
          <a:p>
            <a:endParaRPr lang="en-US"/>
          </a:p>
        </p:txBody>
      </p:sp>
      <p:sp>
        <p:nvSpPr>
          <p:cNvPr id="16" name="Shape 14"/>
          <p:cNvSpPr/>
          <p:nvPr/>
        </p:nvSpPr>
        <p:spPr>
          <a:xfrm>
            <a:off x="1357884" y="2249424"/>
            <a:ext cx="114300" cy="114300"/>
          </a:xfrm>
          <a:prstGeom prst="rect">
            <a:avLst/>
          </a:prstGeom>
          <a:solidFill>
            <a:srgbClr val="D49A32"/>
          </a:solidFill>
          <a:ln w="12700">
            <a:solidFill>
              <a:srgbClr val="DED2C5"/>
            </a:solidFill>
            <a:prstDash val="solid"/>
          </a:ln>
        </p:spPr>
        <p:txBody>
          <a:bodyPr/>
          <a:lstStyle/>
          <a:p>
            <a:endParaRPr lang="en-US"/>
          </a:p>
        </p:txBody>
      </p:sp>
      <p:sp>
        <p:nvSpPr>
          <p:cNvPr id="17" name="Shape 15"/>
          <p:cNvSpPr/>
          <p:nvPr/>
        </p:nvSpPr>
        <p:spPr>
          <a:xfrm>
            <a:off x="1083564" y="2386584"/>
            <a:ext cx="114300" cy="114300"/>
          </a:xfrm>
          <a:prstGeom prst="rect">
            <a:avLst/>
          </a:prstGeom>
          <a:solidFill>
            <a:srgbClr val="4B91B8"/>
          </a:solidFill>
          <a:ln w="12700">
            <a:solidFill>
              <a:srgbClr val="DED2C5"/>
            </a:solidFill>
            <a:prstDash val="solid"/>
          </a:ln>
        </p:spPr>
        <p:txBody>
          <a:bodyPr/>
          <a:lstStyle/>
          <a:p>
            <a:endParaRPr lang="en-US"/>
          </a:p>
        </p:txBody>
      </p:sp>
      <p:sp>
        <p:nvSpPr>
          <p:cNvPr id="18" name="Shape 16"/>
          <p:cNvSpPr/>
          <p:nvPr/>
        </p:nvSpPr>
        <p:spPr>
          <a:xfrm>
            <a:off x="1220724" y="2386584"/>
            <a:ext cx="114300" cy="114300"/>
          </a:xfrm>
          <a:prstGeom prst="rect">
            <a:avLst/>
          </a:prstGeom>
          <a:solidFill>
            <a:srgbClr val="8066B5"/>
          </a:solidFill>
          <a:ln w="12700">
            <a:solidFill>
              <a:srgbClr val="DED2C5"/>
            </a:solidFill>
            <a:prstDash val="solid"/>
          </a:ln>
        </p:spPr>
        <p:txBody>
          <a:bodyPr/>
          <a:lstStyle/>
          <a:p>
            <a:endParaRPr lang="en-US"/>
          </a:p>
        </p:txBody>
      </p:sp>
      <p:sp>
        <p:nvSpPr>
          <p:cNvPr id="19" name="Shape 17"/>
          <p:cNvSpPr/>
          <p:nvPr/>
        </p:nvSpPr>
        <p:spPr>
          <a:xfrm>
            <a:off x="1357884" y="2386584"/>
            <a:ext cx="114300" cy="114300"/>
          </a:xfrm>
          <a:prstGeom prst="rect">
            <a:avLst/>
          </a:prstGeom>
          <a:solidFill>
            <a:srgbClr val="FFFDFC"/>
          </a:solidFill>
          <a:ln w="12700">
            <a:solidFill>
              <a:srgbClr val="DED2C5"/>
            </a:solidFill>
            <a:prstDash val="solid"/>
          </a:ln>
        </p:spPr>
        <p:txBody>
          <a:bodyPr/>
          <a:lstStyle/>
          <a:p>
            <a:endParaRPr lang="en-US"/>
          </a:p>
        </p:txBody>
      </p:sp>
      <p:sp>
        <p:nvSpPr>
          <p:cNvPr id="20" name="Text 18"/>
          <p:cNvSpPr/>
          <p:nvPr/>
        </p:nvSpPr>
        <p:spPr>
          <a:xfrm>
            <a:off x="1810512" y="2075688"/>
            <a:ext cx="1417320" cy="219456"/>
          </a:xfrm>
          <a:prstGeom prst="rect">
            <a:avLst/>
          </a:prstGeom>
          <a:noFill/>
          <a:ln/>
        </p:spPr>
        <p:txBody>
          <a:bodyPr wrap="square" lIns="0" tIns="0" rIns="0" bIns="0" rtlCol="0" anchor="ctr">
            <a:normAutofit/>
          </a:bodyPr>
          <a:lstStyle/>
          <a:p>
            <a:pPr marL="0" indent="0">
              <a:buNone/>
            </a:pPr>
            <a:r>
              <a:rPr lang="en-US" sz="1050" b="1" kern="0" spc="80" dirty="0">
                <a:solidFill>
                  <a:srgbClr val="4B91B8"/>
                </a:solidFill>
                <a:latin typeface="Aptos" pitchFamily="34" charset="0"/>
                <a:ea typeface="Aptos" pitchFamily="34" charset="-122"/>
                <a:cs typeface="Aptos" pitchFamily="34" charset="-120"/>
              </a:rPr>
              <a:t>01  KLIJENT</a:t>
            </a:r>
            <a:endParaRPr lang="en-US" sz="1050" dirty="0"/>
          </a:p>
        </p:txBody>
      </p:sp>
      <p:sp>
        <p:nvSpPr>
          <p:cNvPr id="21" name="Text 19"/>
          <p:cNvSpPr/>
          <p:nvPr/>
        </p:nvSpPr>
        <p:spPr>
          <a:xfrm>
            <a:off x="932688" y="2852928"/>
            <a:ext cx="2359152" cy="329184"/>
          </a:xfrm>
          <a:prstGeom prst="rect">
            <a:avLst/>
          </a:prstGeom>
          <a:noFill/>
          <a:ln/>
        </p:spPr>
        <p:txBody>
          <a:bodyPr wrap="square" lIns="0" tIns="0" rIns="0" bIns="0" rtlCol="0" anchor="ctr">
            <a:normAutofit/>
          </a:bodyPr>
          <a:lstStyle/>
          <a:p>
            <a:pPr marL="0" indent="0">
              <a:buNone/>
            </a:pPr>
            <a:r>
              <a:rPr lang="en-US" sz="1950" dirty="0">
                <a:solidFill>
                  <a:srgbClr val="352B26"/>
                </a:solidFill>
                <a:latin typeface="Georgia" pitchFamily="34" charset="0"/>
                <a:ea typeface="Georgia" pitchFamily="34" charset="-122"/>
                <a:cs typeface="Georgia" pitchFamily="34" charset="-120"/>
              </a:rPr>
              <a:t>Angular + TypeScript</a:t>
            </a:r>
            <a:endParaRPr lang="en-US" sz="1950" dirty="0"/>
          </a:p>
        </p:txBody>
      </p:sp>
      <p:sp>
        <p:nvSpPr>
          <p:cNvPr id="22" name="Text 20"/>
          <p:cNvSpPr/>
          <p:nvPr/>
        </p:nvSpPr>
        <p:spPr>
          <a:xfrm>
            <a:off x="932688" y="3328416"/>
            <a:ext cx="2359152" cy="274320"/>
          </a:xfrm>
          <a:prstGeom prst="rect">
            <a:avLst/>
          </a:prstGeom>
          <a:noFill/>
          <a:ln/>
        </p:spPr>
        <p:txBody>
          <a:bodyPr wrap="square" lIns="0" tIns="0" rIns="0" bIns="0" rtlCol="0" anchor="ctr">
            <a:normAutofit/>
          </a:bodyPr>
          <a:lstStyle/>
          <a:p>
            <a:pPr marL="0" indent="0">
              <a:buNone/>
            </a:pPr>
            <a:r>
              <a:rPr lang="en-US" sz="1500" b="1" dirty="0">
                <a:solidFill>
                  <a:srgbClr val="4B91B8"/>
                </a:solidFill>
                <a:latin typeface="Aptos" pitchFamily="34" charset="0"/>
                <a:ea typeface="Aptos" pitchFamily="34" charset="-122"/>
                <a:cs typeface="Aptos" pitchFamily="34" charset="-120"/>
              </a:rPr>
              <a:t>Canvas prikaz</a:t>
            </a:r>
            <a:endParaRPr lang="en-US" sz="1500" dirty="0"/>
          </a:p>
        </p:txBody>
      </p:sp>
      <p:sp>
        <p:nvSpPr>
          <p:cNvPr id="23" name="Shape 21"/>
          <p:cNvSpPr/>
          <p:nvPr/>
        </p:nvSpPr>
        <p:spPr>
          <a:xfrm>
            <a:off x="932688" y="3785616"/>
            <a:ext cx="2212848" cy="0"/>
          </a:xfrm>
          <a:prstGeom prst="line">
            <a:avLst/>
          </a:prstGeom>
          <a:noFill/>
          <a:ln w="12700">
            <a:solidFill>
              <a:srgbClr val="DED2C5"/>
            </a:solidFill>
            <a:prstDash val="solid"/>
          </a:ln>
        </p:spPr>
        <p:txBody>
          <a:bodyPr/>
          <a:lstStyle/>
          <a:p>
            <a:endParaRPr lang="en-US"/>
          </a:p>
        </p:txBody>
      </p:sp>
      <p:sp>
        <p:nvSpPr>
          <p:cNvPr id="24" name="Text 22"/>
          <p:cNvSpPr/>
          <p:nvPr/>
        </p:nvSpPr>
        <p:spPr>
          <a:xfrm>
            <a:off x="932688" y="4041648"/>
            <a:ext cx="2267712" cy="457200"/>
          </a:xfrm>
          <a:prstGeom prst="rect">
            <a:avLst/>
          </a:prstGeom>
          <a:noFill/>
          <a:ln/>
        </p:spPr>
        <p:txBody>
          <a:bodyPr wrap="square" lIns="0" tIns="0" rIns="0" bIns="0" rtlCol="0" anchor="ctr">
            <a:normAutofit/>
          </a:bodyPr>
          <a:lstStyle/>
          <a:p>
            <a:pPr marL="0" indent="0" algn="ctr">
              <a:buNone/>
            </a:pPr>
            <a:r>
              <a:rPr lang="en-US" sz="1350" dirty="0">
                <a:solidFill>
                  <a:srgbClr val="786B62"/>
                </a:solidFill>
                <a:latin typeface="Aptos" pitchFamily="34" charset="0"/>
                <a:ea typeface="Aptos" pitchFamily="34" charset="-122"/>
                <a:cs typeface="Aptos" pitchFamily="34" charset="-120"/>
              </a:rPr>
              <a:t>interakcija  ·  trag  ·  animacija</a:t>
            </a:r>
            <a:endParaRPr lang="en-US" sz="1350" dirty="0"/>
          </a:p>
        </p:txBody>
      </p:sp>
      <p:sp>
        <p:nvSpPr>
          <p:cNvPr id="25" name="Shape 23"/>
          <p:cNvSpPr/>
          <p:nvPr/>
        </p:nvSpPr>
        <p:spPr>
          <a:xfrm>
            <a:off x="4572000" y="1572768"/>
            <a:ext cx="3035808" cy="3584448"/>
          </a:xfrm>
          <a:prstGeom prst="roundRect">
            <a:avLst/>
          </a:prstGeom>
          <a:solidFill>
            <a:srgbClr val="FFFDFC"/>
          </a:solidFill>
          <a:ln w="12700">
            <a:solidFill>
              <a:srgbClr val="DED2C5"/>
            </a:solidFill>
            <a:prstDash val="solid"/>
          </a:ln>
          <a:effectLst>
            <a:outerShdw blurRad="22860" dist="50800" dir="2700000" algn="bl" rotWithShape="0">
              <a:srgbClr val="B9AA9B">
                <a:alpha val="14000"/>
              </a:srgbClr>
            </a:outerShdw>
          </a:effectLst>
        </p:spPr>
        <p:txBody>
          <a:bodyPr/>
          <a:lstStyle/>
          <a:p>
            <a:endParaRPr lang="en-US"/>
          </a:p>
        </p:txBody>
      </p:sp>
      <p:sp>
        <p:nvSpPr>
          <p:cNvPr id="26" name="Shape 24"/>
          <p:cNvSpPr/>
          <p:nvPr/>
        </p:nvSpPr>
        <p:spPr>
          <a:xfrm>
            <a:off x="5733288" y="1856232"/>
            <a:ext cx="713232" cy="713232"/>
          </a:xfrm>
          <a:prstGeom prst="ellipse">
            <a:avLst/>
          </a:prstGeom>
          <a:solidFill>
            <a:srgbClr val="D85B4A">
              <a:alpha val="16000"/>
            </a:srgbClr>
          </a:solidFill>
          <a:ln w="15240">
            <a:solidFill>
              <a:srgbClr val="D85B4A"/>
            </a:solidFill>
            <a:prstDash val="solid"/>
          </a:ln>
        </p:spPr>
        <p:txBody>
          <a:bodyPr/>
          <a:lstStyle/>
          <a:p>
            <a:endParaRPr lang="en-US"/>
          </a:p>
        </p:txBody>
      </p:sp>
      <p:sp>
        <p:nvSpPr>
          <p:cNvPr id="27" name="Text 25"/>
          <p:cNvSpPr/>
          <p:nvPr/>
        </p:nvSpPr>
        <p:spPr>
          <a:xfrm>
            <a:off x="5733288" y="2039112"/>
            <a:ext cx="713232" cy="228600"/>
          </a:xfrm>
          <a:prstGeom prst="rect">
            <a:avLst/>
          </a:prstGeom>
          <a:noFill/>
          <a:ln/>
        </p:spPr>
        <p:txBody>
          <a:bodyPr wrap="square" lIns="0" tIns="0" rIns="0" bIns="0" rtlCol="0" anchor="ctr">
            <a:normAutofit/>
          </a:bodyPr>
          <a:lstStyle/>
          <a:p>
            <a:pPr marL="0" indent="0" algn="ctr">
              <a:buNone/>
            </a:pPr>
            <a:r>
              <a:rPr lang="en-US" sz="1050" b="1" dirty="0">
                <a:solidFill>
                  <a:srgbClr val="D85B4A"/>
                </a:solidFill>
                <a:latin typeface="Aptos" pitchFamily="34" charset="0"/>
                <a:ea typeface="Aptos" pitchFamily="34" charset="-122"/>
                <a:cs typeface="Aptos" pitchFamily="34" charset="-120"/>
              </a:rPr>
              <a:t>API</a:t>
            </a:r>
            <a:endParaRPr lang="en-US" sz="1050" dirty="0"/>
          </a:p>
        </p:txBody>
      </p:sp>
      <p:sp>
        <p:nvSpPr>
          <p:cNvPr id="28" name="Text 26"/>
          <p:cNvSpPr/>
          <p:nvPr/>
        </p:nvSpPr>
        <p:spPr>
          <a:xfrm>
            <a:off x="4864608" y="2660904"/>
            <a:ext cx="2450592" cy="219456"/>
          </a:xfrm>
          <a:prstGeom prst="rect">
            <a:avLst/>
          </a:prstGeom>
          <a:noFill/>
          <a:ln/>
        </p:spPr>
        <p:txBody>
          <a:bodyPr wrap="square" lIns="0" tIns="0" rIns="0" bIns="0" rtlCol="0" anchor="ctr">
            <a:normAutofit/>
          </a:bodyPr>
          <a:lstStyle/>
          <a:p>
            <a:pPr marL="0" indent="0" algn="ctr">
              <a:buNone/>
            </a:pPr>
            <a:r>
              <a:rPr lang="en-US" sz="1050" b="1" kern="0" spc="80" dirty="0">
                <a:solidFill>
                  <a:srgbClr val="D85B4A"/>
                </a:solidFill>
                <a:latin typeface="Aptos" pitchFamily="34" charset="0"/>
                <a:ea typeface="Aptos" pitchFamily="34" charset="-122"/>
                <a:cs typeface="Aptos" pitchFamily="34" charset="-120"/>
              </a:rPr>
              <a:t>02  SERVER</a:t>
            </a:r>
            <a:endParaRPr lang="en-US" sz="1050" dirty="0"/>
          </a:p>
        </p:txBody>
      </p:sp>
      <p:sp>
        <p:nvSpPr>
          <p:cNvPr id="29" name="Text 27"/>
          <p:cNvSpPr/>
          <p:nvPr/>
        </p:nvSpPr>
        <p:spPr>
          <a:xfrm>
            <a:off x="4864608" y="3017520"/>
            <a:ext cx="2450592" cy="329184"/>
          </a:xfrm>
          <a:prstGeom prst="rect">
            <a:avLst/>
          </a:prstGeom>
          <a:noFill/>
          <a:ln/>
        </p:spPr>
        <p:txBody>
          <a:bodyPr wrap="square" lIns="0" tIns="0" rIns="0" bIns="0" rtlCol="0" anchor="ctr">
            <a:normAutofit/>
          </a:bodyPr>
          <a:lstStyle/>
          <a:p>
            <a:pPr marL="0" indent="0" algn="ctr">
              <a:buNone/>
            </a:pPr>
            <a:r>
              <a:rPr lang="en-US" sz="1950" dirty="0">
                <a:solidFill>
                  <a:srgbClr val="352B26"/>
                </a:solidFill>
                <a:latin typeface="Georgia" pitchFamily="34" charset="0"/>
                <a:ea typeface="Georgia" pitchFamily="34" charset="-122"/>
                <a:cs typeface="Georgia" pitchFamily="34" charset="-120"/>
              </a:rPr>
              <a:t>Node.js + Express</a:t>
            </a:r>
            <a:endParaRPr lang="en-US" sz="1950" dirty="0"/>
          </a:p>
        </p:txBody>
      </p:sp>
      <p:sp>
        <p:nvSpPr>
          <p:cNvPr id="30" name="Shape 28"/>
          <p:cNvSpPr/>
          <p:nvPr/>
        </p:nvSpPr>
        <p:spPr>
          <a:xfrm>
            <a:off x="5056632" y="3675888"/>
            <a:ext cx="118872" cy="118872"/>
          </a:xfrm>
          <a:prstGeom prst="ellipse">
            <a:avLst/>
          </a:prstGeom>
          <a:solidFill>
            <a:srgbClr val="D85B4A"/>
          </a:solidFill>
          <a:ln w="12700">
            <a:solidFill>
              <a:srgbClr val="D85B4A"/>
            </a:solidFill>
            <a:prstDash val="solid"/>
          </a:ln>
        </p:spPr>
        <p:txBody>
          <a:bodyPr/>
          <a:lstStyle/>
          <a:p>
            <a:endParaRPr lang="en-US"/>
          </a:p>
        </p:txBody>
      </p:sp>
      <p:sp>
        <p:nvSpPr>
          <p:cNvPr id="31" name="Text 29"/>
          <p:cNvSpPr/>
          <p:nvPr/>
        </p:nvSpPr>
        <p:spPr>
          <a:xfrm>
            <a:off x="5330952" y="3602736"/>
            <a:ext cx="1874520" cy="256032"/>
          </a:xfrm>
          <a:prstGeom prst="rect">
            <a:avLst/>
          </a:prstGeom>
          <a:noFill/>
          <a:ln/>
        </p:spPr>
        <p:txBody>
          <a:bodyPr wrap="square" lIns="0" tIns="0" rIns="0" bIns="0" rtlCol="0" anchor="ctr">
            <a:normAutofit/>
          </a:bodyPr>
          <a:lstStyle/>
          <a:p>
            <a:pPr marL="0" indent="0">
              <a:buNone/>
            </a:pPr>
            <a:r>
              <a:rPr lang="en-US" sz="1250" dirty="0">
                <a:solidFill>
                  <a:srgbClr val="786B62"/>
                </a:solidFill>
                <a:latin typeface="Aptos" pitchFamily="34" charset="0"/>
                <a:ea typeface="Aptos" pitchFamily="34" charset="-122"/>
                <a:cs typeface="Aptos" pitchFamily="34" charset="-120"/>
              </a:rPr>
              <a:t>pokreće algoritme</a:t>
            </a:r>
            <a:endParaRPr lang="en-US" sz="1250" dirty="0"/>
          </a:p>
        </p:txBody>
      </p:sp>
      <p:sp>
        <p:nvSpPr>
          <p:cNvPr id="32" name="Shape 30"/>
          <p:cNvSpPr/>
          <p:nvPr/>
        </p:nvSpPr>
        <p:spPr>
          <a:xfrm>
            <a:off x="5056632" y="4041648"/>
            <a:ext cx="118872" cy="118872"/>
          </a:xfrm>
          <a:prstGeom prst="ellipse">
            <a:avLst/>
          </a:prstGeom>
          <a:solidFill>
            <a:srgbClr val="D85B4A"/>
          </a:solidFill>
          <a:ln w="12700">
            <a:solidFill>
              <a:srgbClr val="D85B4A"/>
            </a:solidFill>
            <a:prstDash val="solid"/>
          </a:ln>
        </p:spPr>
        <p:txBody>
          <a:bodyPr/>
          <a:lstStyle/>
          <a:p>
            <a:endParaRPr lang="en-US"/>
          </a:p>
        </p:txBody>
      </p:sp>
      <p:sp>
        <p:nvSpPr>
          <p:cNvPr id="33" name="Text 31"/>
          <p:cNvSpPr/>
          <p:nvPr/>
        </p:nvSpPr>
        <p:spPr>
          <a:xfrm>
            <a:off x="5330952" y="3968496"/>
            <a:ext cx="1874520" cy="256032"/>
          </a:xfrm>
          <a:prstGeom prst="rect">
            <a:avLst/>
          </a:prstGeom>
          <a:noFill/>
          <a:ln/>
        </p:spPr>
        <p:txBody>
          <a:bodyPr wrap="square" lIns="0" tIns="0" rIns="0" bIns="0" rtlCol="0" anchor="ctr">
            <a:normAutofit/>
          </a:bodyPr>
          <a:lstStyle/>
          <a:p>
            <a:pPr marL="0" indent="0">
              <a:buNone/>
            </a:pPr>
            <a:r>
              <a:rPr lang="en-US" sz="1250" dirty="0">
                <a:solidFill>
                  <a:srgbClr val="786B62"/>
                </a:solidFill>
                <a:latin typeface="Aptos" pitchFamily="34" charset="0"/>
                <a:ea typeface="Aptos" pitchFamily="34" charset="-122"/>
                <a:cs typeface="Aptos" pitchFamily="34" charset="-120"/>
              </a:rPr>
              <a:t>beleži merenja</a:t>
            </a:r>
            <a:endParaRPr lang="en-US" sz="1250" dirty="0"/>
          </a:p>
        </p:txBody>
      </p:sp>
      <p:sp>
        <p:nvSpPr>
          <p:cNvPr id="34" name="Shape 32"/>
          <p:cNvSpPr/>
          <p:nvPr/>
        </p:nvSpPr>
        <p:spPr>
          <a:xfrm>
            <a:off x="5056632" y="4407408"/>
            <a:ext cx="118872" cy="118872"/>
          </a:xfrm>
          <a:prstGeom prst="ellipse">
            <a:avLst/>
          </a:prstGeom>
          <a:solidFill>
            <a:srgbClr val="D85B4A"/>
          </a:solidFill>
          <a:ln w="12700">
            <a:solidFill>
              <a:srgbClr val="D85B4A"/>
            </a:solidFill>
            <a:prstDash val="solid"/>
          </a:ln>
        </p:spPr>
        <p:txBody>
          <a:bodyPr/>
          <a:lstStyle/>
          <a:p>
            <a:endParaRPr lang="en-US"/>
          </a:p>
        </p:txBody>
      </p:sp>
      <p:sp>
        <p:nvSpPr>
          <p:cNvPr id="35" name="Text 33"/>
          <p:cNvSpPr/>
          <p:nvPr/>
        </p:nvSpPr>
        <p:spPr>
          <a:xfrm>
            <a:off x="5330952" y="4334256"/>
            <a:ext cx="1874520" cy="256032"/>
          </a:xfrm>
          <a:prstGeom prst="rect">
            <a:avLst/>
          </a:prstGeom>
          <a:noFill/>
          <a:ln/>
        </p:spPr>
        <p:txBody>
          <a:bodyPr wrap="square" lIns="0" tIns="0" rIns="0" bIns="0" rtlCol="0" anchor="ctr">
            <a:normAutofit/>
          </a:bodyPr>
          <a:lstStyle/>
          <a:p>
            <a:pPr marL="0" indent="0">
              <a:buNone/>
            </a:pPr>
            <a:r>
              <a:rPr lang="en-US" sz="1250" dirty="0">
                <a:solidFill>
                  <a:srgbClr val="786B62"/>
                </a:solidFill>
                <a:latin typeface="Aptos" pitchFamily="34" charset="0"/>
                <a:ea typeface="Aptos" pitchFamily="34" charset="-122"/>
                <a:cs typeface="Aptos" pitchFamily="34" charset="-120"/>
              </a:rPr>
              <a:t>priprema AI kontekst</a:t>
            </a:r>
            <a:endParaRPr lang="en-US" sz="1250" dirty="0"/>
          </a:p>
        </p:txBody>
      </p:sp>
      <p:sp>
        <p:nvSpPr>
          <p:cNvPr id="36" name="Shape 34"/>
          <p:cNvSpPr/>
          <p:nvPr/>
        </p:nvSpPr>
        <p:spPr>
          <a:xfrm>
            <a:off x="8613648" y="1755648"/>
            <a:ext cx="2907792" cy="3218688"/>
          </a:xfrm>
          <a:prstGeom prst="roundRect">
            <a:avLst/>
          </a:prstGeom>
          <a:solidFill>
            <a:srgbClr val="FFFDFC"/>
          </a:solidFill>
          <a:ln w="12700">
            <a:solidFill>
              <a:srgbClr val="DED2C5"/>
            </a:solidFill>
            <a:prstDash val="solid"/>
          </a:ln>
          <a:effectLst>
            <a:outerShdw blurRad="19050" dist="50800" dir="2700000" algn="bl" rotWithShape="0">
              <a:srgbClr val="B9AA9B">
                <a:alpha val="11000"/>
              </a:srgbClr>
            </a:outerShdw>
          </a:effectLst>
        </p:spPr>
        <p:txBody>
          <a:bodyPr/>
          <a:lstStyle/>
          <a:p>
            <a:endParaRPr lang="en-US"/>
          </a:p>
        </p:txBody>
      </p:sp>
      <p:sp>
        <p:nvSpPr>
          <p:cNvPr id="37" name="Text 35"/>
          <p:cNvSpPr/>
          <p:nvPr/>
        </p:nvSpPr>
        <p:spPr>
          <a:xfrm>
            <a:off x="8906256" y="2029968"/>
            <a:ext cx="2322576" cy="219456"/>
          </a:xfrm>
          <a:prstGeom prst="rect">
            <a:avLst/>
          </a:prstGeom>
          <a:noFill/>
          <a:ln/>
        </p:spPr>
        <p:txBody>
          <a:bodyPr wrap="square" lIns="0" tIns="0" rIns="0" bIns="0" rtlCol="0" anchor="ctr">
            <a:normAutofit/>
          </a:bodyPr>
          <a:lstStyle/>
          <a:p>
            <a:pPr marL="0" indent="0">
              <a:buNone/>
            </a:pPr>
            <a:r>
              <a:rPr lang="en-US" sz="1050" b="1" kern="0" spc="80" dirty="0">
                <a:solidFill>
                  <a:srgbClr val="328C8B"/>
                </a:solidFill>
                <a:latin typeface="Aptos" pitchFamily="34" charset="0"/>
                <a:ea typeface="Aptos" pitchFamily="34" charset="-122"/>
                <a:cs typeface="Aptos" pitchFamily="34" charset="-120"/>
              </a:rPr>
              <a:t>03  SERVISI</a:t>
            </a:r>
            <a:endParaRPr lang="en-US" sz="1050" dirty="0"/>
          </a:p>
        </p:txBody>
      </p:sp>
      <p:sp>
        <p:nvSpPr>
          <p:cNvPr id="38" name="Shape 36"/>
          <p:cNvSpPr/>
          <p:nvPr/>
        </p:nvSpPr>
        <p:spPr>
          <a:xfrm>
            <a:off x="8915400" y="2468880"/>
            <a:ext cx="2304288" cy="896112"/>
          </a:xfrm>
          <a:prstGeom prst="roundRect">
            <a:avLst/>
          </a:prstGeom>
          <a:solidFill>
            <a:srgbClr val="4F8D4A">
              <a:alpha val="11000"/>
            </a:srgbClr>
          </a:solidFill>
          <a:ln w="12700">
            <a:solidFill>
              <a:srgbClr val="4F8D4A">
                <a:alpha val="55000"/>
              </a:srgbClr>
            </a:solidFill>
            <a:prstDash val="solid"/>
          </a:ln>
        </p:spPr>
        <p:txBody>
          <a:bodyPr/>
          <a:lstStyle/>
          <a:p>
            <a:endParaRPr lang="en-US"/>
          </a:p>
        </p:txBody>
      </p:sp>
      <p:sp>
        <p:nvSpPr>
          <p:cNvPr id="39" name="Shape 37"/>
          <p:cNvSpPr/>
          <p:nvPr/>
        </p:nvSpPr>
        <p:spPr>
          <a:xfrm>
            <a:off x="9125712" y="2697480"/>
            <a:ext cx="393192" cy="393192"/>
          </a:xfrm>
          <a:prstGeom prst="ellipse">
            <a:avLst/>
          </a:prstGeom>
          <a:solidFill>
            <a:srgbClr val="4F8D4A"/>
          </a:solidFill>
          <a:ln w="12700">
            <a:solidFill>
              <a:srgbClr val="4F8D4A"/>
            </a:solidFill>
            <a:prstDash val="solid"/>
          </a:ln>
        </p:spPr>
        <p:txBody>
          <a:bodyPr/>
          <a:lstStyle/>
          <a:p>
            <a:endParaRPr lang="en-US"/>
          </a:p>
        </p:txBody>
      </p:sp>
      <p:sp>
        <p:nvSpPr>
          <p:cNvPr id="40" name="Text 38"/>
          <p:cNvSpPr/>
          <p:nvPr/>
        </p:nvSpPr>
        <p:spPr>
          <a:xfrm>
            <a:off x="9125712" y="2788920"/>
            <a:ext cx="393192" cy="164592"/>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Aptos" pitchFamily="34" charset="0"/>
                <a:ea typeface="Aptos" pitchFamily="34" charset="-122"/>
                <a:cs typeface="Aptos" pitchFamily="34" charset="-120"/>
              </a:rPr>
              <a:t>DB</a:t>
            </a:r>
            <a:endParaRPr lang="en-US" sz="850" dirty="0"/>
          </a:p>
        </p:txBody>
      </p:sp>
      <p:sp>
        <p:nvSpPr>
          <p:cNvPr id="41" name="Text 39"/>
          <p:cNvSpPr/>
          <p:nvPr/>
        </p:nvSpPr>
        <p:spPr>
          <a:xfrm>
            <a:off x="9683496" y="2615184"/>
            <a:ext cx="1280160" cy="219456"/>
          </a:xfrm>
          <a:prstGeom prst="rect">
            <a:avLst/>
          </a:prstGeom>
          <a:noFill/>
          <a:ln/>
        </p:spPr>
        <p:txBody>
          <a:bodyPr wrap="square" lIns="0" tIns="0" rIns="0" bIns="0" rtlCol="0" anchor="ctr">
            <a:normAutofit/>
          </a:bodyPr>
          <a:lstStyle/>
          <a:p>
            <a:pPr marL="0" indent="0">
              <a:buNone/>
            </a:pPr>
            <a:r>
              <a:rPr lang="en-US" sz="1650" dirty="0">
                <a:solidFill>
                  <a:srgbClr val="4F8D4A"/>
                </a:solidFill>
                <a:latin typeface="Georgia" pitchFamily="34" charset="0"/>
                <a:ea typeface="Georgia" pitchFamily="34" charset="-122"/>
                <a:cs typeface="Georgia" pitchFamily="34" charset="-120"/>
              </a:rPr>
              <a:t>MongoDB</a:t>
            </a:r>
            <a:endParaRPr lang="en-US" sz="1650" dirty="0"/>
          </a:p>
        </p:txBody>
      </p:sp>
      <p:sp>
        <p:nvSpPr>
          <p:cNvPr id="42" name="Text 40"/>
          <p:cNvSpPr/>
          <p:nvPr/>
        </p:nvSpPr>
        <p:spPr>
          <a:xfrm>
            <a:off x="9683496" y="2907792"/>
            <a:ext cx="1261872" cy="182880"/>
          </a:xfrm>
          <a:prstGeom prst="rect">
            <a:avLst/>
          </a:prstGeom>
          <a:noFill/>
          <a:ln/>
        </p:spPr>
        <p:txBody>
          <a:bodyPr wrap="square" lIns="0" tIns="0" rIns="0" bIns="0" rtlCol="0" anchor="ctr">
            <a:normAutofit/>
          </a:bodyPr>
          <a:lstStyle/>
          <a:p>
            <a:pPr marL="0" indent="0">
              <a:buNone/>
            </a:pPr>
            <a:r>
              <a:rPr lang="en-US" sz="1150" dirty="0">
                <a:solidFill>
                  <a:srgbClr val="786B62"/>
                </a:solidFill>
                <a:latin typeface="Aptos" pitchFamily="34" charset="0"/>
                <a:ea typeface="Aptos" pitchFamily="34" charset="-122"/>
                <a:cs typeface="Aptos" pitchFamily="34" charset="-120"/>
              </a:rPr>
              <a:t>trajni podaci</a:t>
            </a:r>
            <a:endParaRPr lang="en-US" sz="1150" dirty="0"/>
          </a:p>
        </p:txBody>
      </p:sp>
      <p:sp>
        <p:nvSpPr>
          <p:cNvPr id="43" name="Shape 41"/>
          <p:cNvSpPr/>
          <p:nvPr/>
        </p:nvSpPr>
        <p:spPr>
          <a:xfrm>
            <a:off x="8915400" y="3630168"/>
            <a:ext cx="2304288" cy="896112"/>
          </a:xfrm>
          <a:prstGeom prst="roundRect">
            <a:avLst/>
          </a:prstGeom>
          <a:solidFill>
            <a:srgbClr val="8066B5">
              <a:alpha val="10000"/>
            </a:srgbClr>
          </a:solidFill>
          <a:ln w="12700">
            <a:solidFill>
              <a:srgbClr val="8066B5">
                <a:alpha val="55000"/>
              </a:srgbClr>
            </a:solidFill>
            <a:prstDash val="solid"/>
          </a:ln>
        </p:spPr>
        <p:txBody>
          <a:bodyPr/>
          <a:lstStyle/>
          <a:p>
            <a:endParaRPr lang="en-US"/>
          </a:p>
        </p:txBody>
      </p:sp>
      <p:sp>
        <p:nvSpPr>
          <p:cNvPr id="44" name="Shape 42"/>
          <p:cNvSpPr/>
          <p:nvPr/>
        </p:nvSpPr>
        <p:spPr>
          <a:xfrm>
            <a:off x="9125712" y="3858768"/>
            <a:ext cx="393192" cy="393192"/>
          </a:xfrm>
          <a:prstGeom prst="ellipse">
            <a:avLst/>
          </a:prstGeom>
          <a:solidFill>
            <a:srgbClr val="8066B5"/>
          </a:solidFill>
          <a:ln w="12700">
            <a:solidFill>
              <a:srgbClr val="8066B5"/>
            </a:solidFill>
            <a:prstDash val="solid"/>
          </a:ln>
        </p:spPr>
        <p:txBody>
          <a:bodyPr/>
          <a:lstStyle/>
          <a:p>
            <a:endParaRPr lang="en-US"/>
          </a:p>
        </p:txBody>
      </p:sp>
      <p:sp>
        <p:nvSpPr>
          <p:cNvPr id="45" name="Text 43"/>
          <p:cNvSpPr/>
          <p:nvPr/>
        </p:nvSpPr>
        <p:spPr>
          <a:xfrm>
            <a:off x="9125712" y="3950208"/>
            <a:ext cx="393192" cy="164592"/>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Aptos" pitchFamily="34" charset="0"/>
                <a:ea typeface="Aptos" pitchFamily="34" charset="-122"/>
                <a:cs typeface="Aptos" pitchFamily="34" charset="-120"/>
              </a:rPr>
              <a:t>AI</a:t>
            </a:r>
            <a:endParaRPr lang="en-US" sz="850" dirty="0"/>
          </a:p>
        </p:txBody>
      </p:sp>
      <p:sp>
        <p:nvSpPr>
          <p:cNvPr id="46" name="Text 44"/>
          <p:cNvSpPr/>
          <p:nvPr/>
        </p:nvSpPr>
        <p:spPr>
          <a:xfrm>
            <a:off x="9683496" y="3776472"/>
            <a:ext cx="1280160" cy="219456"/>
          </a:xfrm>
          <a:prstGeom prst="rect">
            <a:avLst/>
          </a:prstGeom>
          <a:noFill/>
          <a:ln/>
        </p:spPr>
        <p:txBody>
          <a:bodyPr wrap="square" lIns="0" tIns="0" rIns="0" bIns="0" rtlCol="0" anchor="ctr">
            <a:normAutofit/>
          </a:bodyPr>
          <a:lstStyle/>
          <a:p>
            <a:pPr marL="0" indent="0">
              <a:buNone/>
            </a:pPr>
            <a:r>
              <a:rPr lang="en-US" sz="1650" dirty="0">
                <a:solidFill>
                  <a:srgbClr val="8066B5"/>
                </a:solidFill>
                <a:latin typeface="Georgia" pitchFamily="34" charset="0"/>
                <a:ea typeface="Georgia" pitchFamily="34" charset="-122"/>
                <a:cs typeface="Georgia" pitchFamily="34" charset="-120"/>
              </a:rPr>
              <a:t>AI servis</a:t>
            </a:r>
            <a:endParaRPr lang="en-US" sz="1650" dirty="0"/>
          </a:p>
        </p:txBody>
      </p:sp>
      <p:sp>
        <p:nvSpPr>
          <p:cNvPr id="47" name="Text 45"/>
          <p:cNvSpPr/>
          <p:nvPr/>
        </p:nvSpPr>
        <p:spPr>
          <a:xfrm>
            <a:off x="9683496" y="4069080"/>
            <a:ext cx="1261872" cy="256032"/>
          </a:xfrm>
          <a:prstGeom prst="rect">
            <a:avLst/>
          </a:prstGeom>
          <a:noFill/>
          <a:ln/>
        </p:spPr>
        <p:txBody>
          <a:bodyPr wrap="square" lIns="0" tIns="0" rIns="0" bIns="0" rtlCol="0" anchor="ctr">
            <a:normAutofit/>
          </a:bodyPr>
          <a:lstStyle/>
          <a:p>
            <a:pPr marL="0" indent="0">
              <a:buNone/>
            </a:pPr>
            <a:r>
              <a:rPr lang="en-US" sz="1150" dirty="0">
                <a:solidFill>
                  <a:srgbClr val="786B62"/>
                </a:solidFill>
                <a:latin typeface="Aptos" pitchFamily="34" charset="0"/>
                <a:ea typeface="Aptos" pitchFamily="34" charset="-122"/>
                <a:cs typeface="Aptos" pitchFamily="34" charset="-120"/>
              </a:rPr>
              <a:t>jezička objašnjenja</a:t>
            </a:r>
            <a:endParaRPr lang="en-US" sz="1150" dirty="0"/>
          </a:p>
        </p:txBody>
      </p:sp>
      <p:sp>
        <p:nvSpPr>
          <p:cNvPr id="48" name="Shape 46"/>
          <p:cNvSpPr/>
          <p:nvPr/>
        </p:nvSpPr>
        <p:spPr>
          <a:xfrm>
            <a:off x="6089904" y="5212080"/>
            <a:ext cx="0" cy="329184"/>
          </a:xfrm>
          <a:prstGeom prst="line">
            <a:avLst/>
          </a:prstGeom>
          <a:noFill/>
          <a:ln w="17780">
            <a:solidFill>
              <a:srgbClr val="8B5E50"/>
            </a:solidFill>
            <a:prstDash val="solid"/>
            <a:tailEnd type="triangle"/>
          </a:ln>
        </p:spPr>
        <p:txBody>
          <a:bodyPr/>
          <a:lstStyle/>
          <a:p>
            <a:endParaRPr lang="en-US"/>
          </a:p>
        </p:txBody>
      </p:sp>
      <p:sp>
        <p:nvSpPr>
          <p:cNvPr id="49" name="Shape 47"/>
          <p:cNvSpPr/>
          <p:nvPr/>
        </p:nvSpPr>
        <p:spPr>
          <a:xfrm>
            <a:off x="4087368" y="5541264"/>
            <a:ext cx="4005072" cy="475488"/>
          </a:xfrm>
          <a:prstGeom prst="roundRect">
            <a:avLst/>
          </a:prstGeom>
          <a:solidFill>
            <a:srgbClr val="EEE5DA"/>
          </a:solidFill>
          <a:ln w="12700">
            <a:solidFill>
              <a:srgbClr val="EEE5DA"/>
            </a:solidFill>
            <a:prstDash val="solid"/>
          </a:ln>
        </p:spPr>
        <p:txBody>
          <a:bodyPr/>
          <a:lstStyle/>
          <a:p>
            <a:endParaRPr lang="en-US"/>
          </a:p>
        </p:txBody>
      </p:sp>
      <p:sp>
        <p:nvSpPr>
          <p:cNvPr id="50" name="Text 48"/>
          <p:cNvSpPr/>
          <p:nvPr/>
        </p:nvSpPr>
        <p:spPr>
          <a:xfrm>
            <a:off x="4297680" y="5660136"/>
            <a:ext cx="3584448" cy="219456"/>
          </a:xfrm>
          <a:prstGeom prst="rect">
            <a:avLst/>
          </a:prstGeom>
          <a:noFill/>
          <a:ln/>
        </p:spPr>
        <p:txBody>
          <a:bodyPr wrap="square" lIns="0" tIns="0" rIns="0" bIns="0" rtlCol="0" anchor="ctr">
            <a:normAutofit/>
          </a:bodyPr>
          <a:lstStyle/>
          <a:p>
            <a:pPr marL="0" indent="0" algn="ctr">
              <a:buNone/>
            </a:pPr>
            <a:r>
              <a:rPr lang="en-US" sz="1150" b="1" dirty="0">
                <a:solidFill>
                  <a:srgbClr val="6E473B"/>
                </a:solidFill>
                <a:latin typeface="Aptos" pitchFamily="34" charset="0"/>
                <a:ea typeface="Aptos" pitchFamily="34" charset="-122"/>
                <a:cs typeface="Aptos" pitchFamily="34" charset="-120"/>
              </a:rPr>
              <a:t>PYTHON  ·  statistička obrada nakon eksperimenata</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3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
          </a:xfrm>
          <a:prstGeom prst="rect">
            <a:avLst/>
          </a:prstGeom>
          <a:solidFill>
            <a:srgbClr val="8B5E50"/>
          </a:solidFill>
          <a:ln w="12700">
            <a:solidFill>
              <a:srgbClr val="8B5E50"/>
            </a:solidFill>
            <a:prstDash val="solid"/>
          </a:ln>
        </p:spPr>
        <p:txBody>
          <a:bodyPr/>
          <a:lstStyle/>
          <a:p>
            <a:endParaRPr lang="en-US"/>
          </a:p>
        </p:txBody>
      </p:sp>
      <p:sp>
        <p:nvSpPr>
          <p:cNvPr id="3" name="Text 1"/>
          <p:cNvSpPr/>
          <p:nvPr/>
        </p:nvSpPr>
        <p:spPr>
          <a:xfrm>
            <a:off x="658368" y="274320"/>
            <a:ext cx="6858000" cy="182880"/>
          </a:xfrm>
          <a:prstGeom prst="rect">
            <a:avLst/>
          </a:prstGeom>
          <a:noFill/>
          <a:ln/>
        </p:spPr>
        <p:txBody>
          <a:bodyPr wrap="square" lIns="0" tIns="0" rIns="0" bIns="0" rtlCol="0" anchor="ctr">
            <a:normAutofit/>
          </a:bodyPr>
          <a:lstStyle/>
          <a:p>
            <a:pPr marL="0" indent="0">
              <a:buNone/>
            </a:pPr>
            <a:r>
              <a:rPr lang="en-US" sz="1000" b="1" kern="0" spc="120" dirty="0">
                <a:solidFill>
                  <a:srgbClr val="8B5E50"/>
                </a:solidFill>
                <a:latin typeface="Aptos" pitchFamily="34" charset="0"/>
                <a:ea typeface="Aptos" pitchFamily="34" charset="-122"/>
                <a:cs typeface="Aptos" pitchFamily="34" charset="-120"/>
              </a:rPr>
              <a:t>KLJUČNA IMPLEMENTACIONA ODLUKA</a:t>
            </a:r>
            <a:endParaRPr lang="en-US" sz="1000" dirty="0"/>
          </a:p>
        </p:txBody>
      </p:sp>
      <p:sp>
        <p:nvSpPr>
          <p:cNvPr id="4" name="Shape 2"/>
          <p:cNvSpPr/>
          <p:nvPr/>
        </p:nvSpPr>
        <p:spPr>
          <a:xfrm>
            <a:off x="658368" y="6428232"/>
            <a:ext cx="10881360" cy="0"/>
          </a:xfrm>
          <a:prstGeom prst="line">
            <a:avLst/>
          </a:prstGeom>
          <a:noFill/>
          <a:ln w="10160">
            <a:solidFill>
              <a:srgbClr val="DED2C5"/>
            </a:solidFill>
            <a:prstDash val="solid"/>
          </a:ln>
        </p:spPr>
        <p:txBody>
          <a:bodyPr/>
          <a:lstStyle/>
          <a:p>
            <a:endParaRPr lang="en-US"/>
          </a:p>
        </p:txBody>
      </p:sp>
      <p:sp>
        <p:nvSpPr>
          <p:cNvPr id="5" name="Text 3"/>
          <p:cNvSpPr/>
          <p:nvPr/>
        </p:nvSpPr>
        <p:spPr>
          <a:xfrm>
            <a:off x="11045952" y="6492240"/>
            <a:ext cx="493776" cy="146304"/>
          </a:xfrm>
          <a:prstGeom prst="rect">
            <a:avLst/>
          </a:prstGeom>
          <a:noFill/>
          <a:ln/>
        </p:spPr>
        <p:txBody>
          <a:bodyPr wrap="square" lIns="0" tIns="0" rIns="0" bIns="0" rtlCol="0" anchor="ctr">
            <a:normAutofit/>
          </a:bodyPr>
          <a:lstStyle/>
          <a:p>
            <a:pPr marL="0" indent="0" algn="r">
              <a:buNone/>
            </a:pPr>
            <a:r>
              <a:rPr lang="en-US" sz="850" b="1" dirty="0">
                <a:solidFill>
                  <a:srgbClr val="786B62"/>
                </a:solidFill>
                <a:latin typeface="Aptos" pitchFamily="34" charset="0"/>
                <a:ea typeface="Aptos" pitchFamily="34" charset="-122"/>
                <a:cs typeface="Aptos" pitchFamily="34" charset="-120"/>
              </a:rPr>
              <a:t>06</a:t>
            </a:r>
            <a:endParaRPr lang="en-US" sz="850" dirty="0"/>
          </a:p>
        </p:txBody>
      </p:sp>
      <p:sp>
        <p:nvSpPr>
          <p:cNvPr id="6" name="Text 4"/>
          <p:cNvSpPr/>
          <p:nvPr/>
        </p:nvSpPr>
        <p:spPr>
          <a:xfrm>
            <a:off x="658368" y="694944"/>
            <a:ext cx="10789920" cy="658368"/>
          </a:xfrm>
          <a:prstGeom prst="rect">
            <a:avLst/>
          </a:prstGeom>
          <a:noFill/>
          <a:ln/>
        </p:spPr>
        <p:txBody>
          <a:bodyPr wrap="square" lIns="0" tIns="0" rIns="0" bIns="0" rtlCol="0" anchor="t">
            <a:normAutofit/>
          </a:bodyPr>
          <a:lstStyle/>
          <a:p>
            <a:pPr marL="0" indent="0">
              <a:buNone/>
            </a:pPr>
            <a:r>
              <a:rPr lang="en-US" sz="2800" dirty="0">
                <a:solidFill>
                  <a:srgbClr val="352B26"/>
                </a:solidFill>
                <a:latin typeface="Georgia" pitchFamily="34" charset="0"/>
                <a:ea typeface="Georgia" pitchFamily="34" charset="-122"/>
                <a:cs typeface="Georgia" pitchFamily="34" charset="-120"/>
              </a:rPr>
              <a:t>Algoritam ne crta ekran. On govori jezikom događaja.</a:t>
            </a:r>
            <a:endParaRPr lang="en-US" sz="2800" dirty="0"/>
          </a:p>
        </p:txBody>
      </p:sp>
      <p:sp>
        <p:nvSpPr>
          <p:cNvPr id="7" name="Text 5"/>
          <p:cNvSpPr/>
          <p:nvPr/>
        </p:nvSpPr>
        <p:spPr>
          <a:xfrm>
            <a:off x="676656" y="1344168"/>
            <a:ext cx="8778240" cy="347472"/>
          </a:xfrm>
          <a:prstGeom prst="rect">
            <a:avLst/>
          </a:prstGeom>
          <a:noFill/>
          <a:ln/>
        </p:spPr>
        <p:txBody>
          <a:bodyPr wrap="square" lIns="0" tIns="0" rIns="0" bIns="0" rtlCol="0" anchor="ctr">
            <a:normAutofit/>
          </a:bodyPr>
          <a:lstStyle/>
          <a:p>
            <a:pPr marL="0" indent="0">
              <a:buNone/>
            </a:pPr>
            <a:r>
              <a:rPr lang="en-US" sz="1650" dirty="0">
                <a:solidFill>
                  <a:srgbClr val="786B62"/>
                </a:solidFill>
                <a:latin typeface="Aptos" pitchFamily="34" charset="0"/>
                <a:ea typeface="Aptos" pitchFamily="34" charset="-122"/>
                <a:cs typeface="Aptos" pitchFamily="34" charset="-120"/>
              </a:rPr>
              <a:t>Jedan standardizovan trag razdvaja logiku pretrage od reprodukcije.</a:t>
            </a:r>
            <a:endParaRPr lang="en-US" sz="1650" dirty="0"/>
          </a:p>
        </p:txBody>
      </p:sp>
      <p:sp>
        <p:nvSpPr>
          <p:cNvPr id="8" name="Shape 6"/>
          <p:cNvSpPr/>
          <p:nvPr/>
        </p:nvSpPr>
        <p:spPr>
          <a:xfrm>
            <a:off x="713232" y="1993392"/>
            <a:ext cx="2523744" cy="2029968"/>
          </a:xfrm>
          <a:prstGeom prst="roundRect">
            <a:avLst/>
          </a:prstGeom>
          <a:solidFill>
            <a:srgbClr val="FFFDFC"/>
          </a:solidFill>
          <a:ln w="12700">
            <a:solidFill>
              <a:srgbClr val="DED2C5"/>
            </a:solidFill>
            <a:prstDash val="solid"/>
          </a:ln>
          <a:effectLst>
            <a:outerShdw blurRad="16510" dist="50800" dir="2700000" algn="bl" rotWithShape="0">
              <a:srgbClr val="B9AA9B">
                <a:alpha val="10000"/>
              </a:srgbClr>
            </a:outerShdw>
          </a:effectLst>
        </p:spPr>
        <p:txBody>
          <a:bodyPr/>
          <a:lstStyle/>
          <a:p>
            <a:endParaRPr lang="en-US"/>
          </a:p>
        </p:txBody>
      </p:sp>
      <p:sp>
        <p:nvSpPr>
          <p:cNvPr id="9" name="Shape 7"/>
          <p:cNvSpPr/>
          <p:nvPr/>
        </p:nvSpPr>
        <p:spPr>
          <a:xfrm>
            <a:off x="1609344" y="2276856"/>
            <a:ext cx="731520" cy="731520"/>
          </a:xfrm>
          <a:prstGeom prst="ellipse">
            <a:avLst/>
          </a:prstGeom>
          <a:solidFill>
            <a:srgbClr val="8B5E50">
              <a:alpha val="16000"/>
            </a:srgbClr>
          </a:solidFill>
          <a:ln w="15240">
            <a:solidFill>
              <a:srgbClr val="8B5E50"/>
            </a:solidFill>
            <a:prstDash val="solid"/>
          </a:ln>
        </p:spPr>
        <p:txBody>
          <a:bodyPr/>
          <a:lstStyle/>
          <a:p>
            <a:endParaRPr lang="en-US"/>
          </a:p>
        </p:txBody>
      </p:sp>
      <p:sp>
        <p:nvSpPr>
          <p:cNvPr id="10" name="Text 8"/>
          <p:cNvSpPr/>
          <p:nvPr/>
        </p:nvSpPr>
        <p:spPr>
          <a:xfrm>
            <a:off x="1609344" y="2468880"/>
            <a:ext cx="731520" cy="228600"/>
          </a:xfrm>
          <a:prstGeom prst="rect">
            <a:avLst/>
          </a:prstGeom>
          <a:noFill/>
          <a:ln/>
        </p:spPr>
        <p:txBody>
          <a:bodyPr wrap="square" lIns="0" tIns="0" rIns="0" bIns="0" rtlCol="0" anchor="ctr">
            <a:normAutofit/>
          </a:bodyPr>
          <a:lstStyle/>
          <a:p>
            <a:pPr marL="0" indent="0" algn="ctr">
              <a:buNone/>
            </a:pPr>
            <a:r>
              <a:rPr lang="en-US" sz="1350" b="1" dirty="0">
                <a:solidFill>
                  <a:srgbClr val="8B5E50"/>
                </a:solidFill>
                <a:latin typeface="Georgia" pitchFamily="34" charset="0"/>
                <a:ea typeface="Georgia" pitchFamily="34" charset="-122"/>
                <a:cs typeface="Georgia" pitchFamily="34" charset="-120"/>
              </a:rPr>
              <a:t>step()</a:t>
            </a:r>
            <a:endParaRPr lang="en-US" sz="1350" dirty="0"/>
          </a:p>
        </p:txBody>
      </p:sp>
      <p:sp>
        <p:nvSpPr>
          <p:cNvPr id="11" name="Text 9"/>
          <p:cNvSpPr/>
          <p:nvPr/>
        </p:nvSpPr>
        <p:spPr>
          <a:xfrm>
            <a:off x="987552" y="3172968"/>
            <a:ext cx="1975104" cy="219456"/>
          </a:xfrm>
          <a:prstGeom prst="rect">
            <a:avLst/>
          </a:prstGeom>
          <a:noFill/>
          <a:ln/>
        </p:spPr>
        <p:txBody>
          <a:bodyPr wrap="square" lIns="0" tIns="0" rIns="0" bIns="0" rtlCol="0" anchor="ctr">
            <a:normAutofit/>
          </a:bodyPr>
          <a:lstStyle/>
          <a:p>
            <a:pPr marL="0" indent="0" algn="ctr">
              <a:buNone/>
            </a:pPr>
            <a:r>
              <a:rPr lang="en-US" sz="1050" b="1" kern="0" spc="100" dirty="0">
                <a:solidFill>
                  <a:srgbClr val="8B5E50"/>
                </a:solidFill>
                <a:latin typeface="Aptos" pitchFamily="34" charset="0"/>
                <a:ea typeface="Aptos" pitchFamily="34" charset="-122"/>
                <a:cs typeface="Aptos" pitchFamily="34" charset="-120"/>
              </a:rPr>
              <a:t>ALGORITAM</a:t>
            </a:r>
            <a:endParaRPr lang="en-US" sz="1050" dirty="0"/>
          </a:p>
        </p:txBody>
      </p:sp>
      <p:sp>
        <p:nvSpPr>
          <p:cNvPr id="12" name="Text 10"/>
          <p:cNvSpPr/>
          <p:nvPr/>
        </p:nvSpPr>
        <p:spPr>
          <a:xfrm>
            <a:off x="987552" y="3483864"/>
            <a:ext cx="1975104" cy="256032"/>
          </a:xfrm>
          <a:prstGeom prst="rect">
            <a:avLst/>
          </a:prstGeom>
          <a:noFill/>
          <a:ln/>
        </p:spPr>
        <p:txBody>
          <a:bodyPr wrap="square" lIns="0" tIns="0" rIns="0" bIns="0" rtlCol="0" anchor="ctr">
            <a:normAutofit/>
          </a:bodyPr>
          <a:lstStyle/>
          <a:p>
            <a:pPr marL="0" indent="0" algn="ctr">
              <a:buNone/>
            </a:pPr>
            <a:r>
              <a:rPr lang="en-US" sz="1350" dirty="0">
                <a:solidFill>
                  <a:srgbClr val="786B62"/>
                </a:solidFill>
                <a:latin typeface="Aptos" pitchFamily="34" charset="0"/>
                <a:ea typeface="Aptos" pitchFamily="34" charset="-122"/>
                <a:cs typeface="Aptos" pitchFamily="34" charset="-120"/>
              </a:rPr>
              <a:t>menja svoje stanje</a:t>
            </a:r>
            <a:endParaRPr lang="en-US" sz="1350" dirty="0"/>
          </a:p>
        </p:txBody>
      </p:sp>
      <p:sp>
        <p:nvSpPr>
          <p:cNvPr id="13" name="Shape 11"/>
          <p:cNvSpPr/>
          <p:nvPr/>
        </p:nvSpPr>
        <p:spPr>
          <a:xfrm>
            <a:off x="3465576" y="2990088"/>
            <a:ext cx="676656" cy="0"/>
          </a:xfrm>
          <a:prstGeom prst="line">
            <a:avLst/>
          </a:prstGeom>
          <a:noFill/>
          <a:ln w="21590">
            <a:solidFill>
              <a:srgbClr val="8B5E50"/>
            </a:solidFill>
            <a:prstDash val="solid"/>
            <a:tailEnd type="triangle"/>
          </a:ln>
        </p:spPr>
        <p:txBody>
          <a:bodyPr/>
          <a:lstStyle/>
          <a:p>
            <a:endParaRPr lang="en-US"/>
          </a:p>
        </p:txBody>
      </p:sp>
      <p:sp>
        <p:nvSpPr>
          <p:cNvPr id="14" name="Text 12"/>
          <p:cNvSpPr/>
          <p:nvPr/>
        </p:nvSpPr>
        <p:spPr>
          <a:xfrm>
            <a:off x="3520440" y="2633472"/>
            <a:ext cx="566928" cy="182880"/>
          </a:xfrm>
          <a:prstGeom prst="rect">
            <a:avLst/>
          </a:prstGeom>
          <a:noFill/>
          <a:ln/>
        </p:spPr>
        <p:txBody>
          <a:bodyPr wrap="square" lIns="0" tIns="0" rIns="0" bIns="0" rtlCol="0" anchor="ctr">
            <a:normAutofit/>
          </a:bodyPr>
          <a:lstStyle/>
          <a:p>
            <a:pPr marL="0" indent="0" algn="ctr">
              <a:buNone/>
            </a:pPr>
            <a:r>
              <a:rPr lang="en-US" sz="850" b="1" dirty="0">
                <a:solidFill>
                  <a:srgbClr val="8B5E50"/>
                </a:solidFill>
                <a:latin typeface="Aptos" pitchFamily="34" charset="0"/>
                <a:ea typeface="Aptos" pitchFamily="34" charset="-122"/>
                <a:cs typeface="Aptos" pitchFamily="34" charset="-120"/>
              </a:rPr>
              <a:t>emit()</a:t>
            </a:r>
            <a:endParaRPr lang="en-US" sz="850" dirty="0"/>
          </a:p>
        </p:txBody>
      </p:sp>
      <p:sp>
        <p:nvSpPr>
          <p:cNvPr id="15" name="Shape 13"/>
          <p:cNvSpPr/>
          <p:nvPr/>
        </p:nvSpPr>
        <p:spPr>
          <a:xfrm>
            <a:off x="4379976" y="1792224"/>
            <a:ext cx="3438144" cy="2432304"/>
          </a:xfrm>
          <a:prstGeom prst="roundRect">
            <a:avLst/>
          </a:prstGeom>
          <a:solidFill>
            <a:srgbClr val="F3ECE4"/>
          </a:solidFill>
          <a:ln w="12700">
            <a:solidFill>
              <a:srgbClr val="DED2C5"/>
            </a:solidFill>
            <a:prstDash val="solid"/>
          </a:ln>
          <a:effectLst>
            <a:outerShdw blurRad="19050" dist="50800" dir="2700000" algn="bl" rotWithShape="0">
              <a:srgbClr val="B9AA9B">
                <a:alpha val="12000"/>
              </a:srgbClr>
            </a:outerShdw>
          </a:effectLst>
        </p:spPr>
        <p:txBody>
          <a:bodyPr/>
          <a:lstStyle/>
          <a:p>
            <a:endParaRPr lang="en-US"/>
          </a:p>
        </p:txBody>
      </p:sp>
      <p:sp>
        <p:nvSpPr>
          <p:cNvPr id="16" name="Text 14"/>
          <p:cNvSpPr/>
          <p:nvPr/>
        </p:nvSpPr>
        <p:spPr>
          <a:xfrm>
            <a:off x="4690872" y="2048256"/>
            <a:ext cx="2816352" cy="219456"/>
          </a:xfrm>
          <a:prstGeom prst="rect">
            <a:avLst/>
          </a:prstGeom>
          <a:noFill/>
          <a:ln/>
        </p:spPr>
        <p:txBody>
          <a:bodyPr wrap="square" lIns="0" tIns="0" rIns="0" bIns="0" rtlCol="0" anchor="ctr">
            <a:normAutofit/>
          </a:bodyPr>
          <a:lstStyle/>
          <a:p>
            <a:pPr marL="0" indent="0" algn="ctr">
              <a:buNone/>
            </a:pPr>
            <a:r>
              <a:rPr lang="en-US" sz="1050" b="1" kern="0" spc="90" dirty="0">
                <a:solidFill>
                  <a:srgbClr val="6E473B"/>
                </a:solidFill>
                <a:latin typeface="Aptos" pitchFamily="34" charset="0"/>
                <a:ea typeface="Aptos" pitchFamily="34" charset="-122"/>
                <a:cs typeface="Aptos" pitchFamily="34" charset="-120"/>
              </a:rPr>
              <a:t>ZAJEDNIČKI TRAG</a:t>
            </a:r>
            <a:endParaRPr lang="en-US" sz="1050" dirty="0"/>
          </a:p>
        </p:txBody>
      </p:sp>
      <p:sp>
        <p:nvSpPr>
          <p:cNvPr id="17" name="Shape 15"/>
          <p:cNvSpPr/>
          <p:nvPr/>
        </p:nvSpPr>
        <p:spPr>
          <a:xfrm>
            <a:off x="4818888" y="2532888"/>
            <a:ext cx="2560320" cy="310896"/>
          </a:xfrm>
          <a:prstGeom prst="roundRect">
            <a:avLst/>
          </a:prstGeom>
          <a:solidFill>
            <a:srgbClr val="FFFDFC"/>
          </a:solidFill>
          <a:ln w="12700">
            <a:solidFill>
              <a:srgbClr val="DED2C5"/>
            </a:solidFill>
            <a:prstDash val="solid"/>
          </a:ln>
        </p:spPr>
        <p:txBody>
          <a:bodyPr/>
          <a:lstStyle/>
          <a:p>
            <a:endParaRPr lang="en-US"/>
          </a:p>
        </p:txBody>
      </p:sp>
      <p:sp>
        <p:nvSpPr>
          <p:cNvPr id="18" name="Shape 16"/>
          <p:cNvSpPr/>
          <p:nvPr/>
        </p:nvSpPr>
        <p:spPr>
          <a:xfrm>
            <a:off x="5001768" y="2624328"/>
            <a:ext cx="118872" cy="118872"/>
          </a:xfrm>
          <a:prstGeom prst="ellipse">
            <a:avLst/>
          </a:prstGeom>
          <a:solidFill>
            <a:srgbClr val="4B91B8"/>
          </a:solidFill>
          <a:ln w="12700">
            <a:solidFill>
              <a:srgbClr val="4B91B8"/>
            </a:solidFill>
            <a:prstDash val="solid"/>
          </a:ln>
        </p:spPr>
        <p:txBody>
          <a:bodyPr/>
          <a:lstStyle/>
          <a:p>
            <a:endParaRPr lang="en-US"/>
          </a:p>
        </p:txBody>
      </p:sp>
      <p:sp>
        <p:nvSpPr>
          <p:cNvPr id="19" name="Text 17"/>
          <p:cNvSpPr/>
          <p:nvPr/>
        </p:nvSpPr>
        <p:spPr>
          <a:xfrm>
            <a:off x="5266944" y="2587752"/>
            <a:ext cx="1810512" cy="182880"/>
          </a:xfrm>
          <a:prstGeom prst="rect">
            <a:avLst/>
          </a:prstGeom>
          <a:noFill/>
          <a:ln/>
        </p:spPr>
        <p:txBody>
          <a:bodyPr wrap="square" lIns="0" tIns="0" rIns="0" bIns="0" rtlCol="0" anchor="ctr">
            <a:normAutofit/>
          </a:bodyPr>
          <a:lstStyle/>
          <a:p>
            <a:pPr marL="0" indent="0">
              <a:buNone/>
            </a:pPr>
            <a:r>
              <a:rPr lang="en-US" sz="950" b="1" kern="0" spc="45" dirty="0">
                <a:solidFill>
                  <a:srgbClr val="4B91B8"/>
                </a:solidFill>
                <a:latin typeface="Aptos" pitchFamily="34" charset="0"/>
                <a:ea typeface="Aptos" pitchFamily="34" charset="-122"/>
                <a:cs typeface="Aptos" pitchFamily="34" charset="-120"/>
              </a:rPr>
              <a:t>OTVOREN ČVOR</a:t>
            </a:r>
            <a:endParaRPr lang="en-US" sz="950" dirty="0"/>
          </a:p>
        </p:txBody>
      </p:sp>
      <p:sp>
        <p:nvSpPr>
          <p:cNvPr id="20" name="Shape 18"/>
          <p:cNvSpPr/>
          <p:nvPr/>
        </p:nvSpPr>
        <p:spPr>
          <a:xfrm>
            <a:off x="4818888" y="2971800"/>
            <a:ext cx="2560320" cy="310896"/>
          </a:xfrm>
          <a:prstGeom prst="roundRect">
            <a:avLst/>
          </a:prstGeom>
          <a:solidFill>
            <a:srgbClr val="FFFDFC"/>
          </a:solidFill>
          <a:ln w="12700">
            <a:solidFill>
              <a:srgbClr val="DED2C5"/>
            </a:solidFill>
            <a:prstDash val="solid"/>
          </a:ln>
        </p:spPr>
        <p:txBody>
          <a:bodyPr/>
          <a:lstStyle/>
          <a:p>
            <a:endParaRPr lang="en-US"/>
          </a:p>
        </p:txBody>
      </p:sp>
      <p:sp>
        <p:nvSpPr>
          <p:cNvPr id="21" name="Shape 19"/>
          <p:cNvSpPr/>
          <p:nvPr/>
        </p:nvSpPr>
        <p:spPr>
          <a:xfrm>
            <a:off x="5001768" y="3063240"/>
            <a:ext cx="118872" cy="118872"/>
          </a:xfrm>
          <a:prstGeom prst="ellipse">
            <a:avLst/>
          </a:prstGeom>
          <a:solidFill>
            <a:srgbClr val="8066B5"/>
          </a:solidFill>
          <a:ln w="12700">
            <a:solidFill>
              <a:srgbClr val="8066B5"/>
            </a:solidFill>
            <a:prstDash val="solid"/>
          </a:ln>
        </p:spPr>
        <p:txBody>
          <a:bodyPr/>
          <a:lstStyle/>
          <a:p>
            <a:endParaRPr lang="en-US"/>
          </a:p>
        </p:txBody>
      </p:sp>
      <p:sp>
        <p:nvSpPr>
          <p:cNvPr id="22" name="Text 20"/>
          <p:cNvSpPr/>
          <p:nvPr/>
        </p:nvSpPr>
        <p:spPr>
          <a:xfrm>
            <a:off x="5266944" y="3026664"/>
            <a:ext cx="1810512" cy="182880"/>
          </a:xfrm>
          <a:prstGeom prst="rect">
            <a:avLst/>
          </a:prstGeom>
          <a:noFill/>
          <a:ln/>
        </p:spPr>
        <p:txBody>
          <a:bodyPr wrap="square" lIns="0" tIns="0" rIns="0" bIns="0" rtlCol="0" anchor="ctr">
            <a:normAutofit/>
          </a:bodyPr>
          <a:lstStyle/>
          <a:p>
            <a:pPr marL="0" indent="0">
              <a:buNone/>
            </a:pPr>
            <a:r>
              <a:rPr lang="en-US" sz="950" b="1" kern="0" spc="45" dirty="0">
                <a:solidFill>
                  <a:srgbClr val="8066B5"/>
                </a:solidFill>
                <a:latin typeface="Aptos" pitchFamily="34" charset="0"/>
                <a:ea typeface="Aptos" pitchFamily="34" charset="-122"/>
                <a:cs typeface="Aptos" pitchFamily="34" charset="-120"/>
              </a:rPr>
              <a:t>OBRAĐEN ČVOR</a:t>
            </a:r>
            <a:endParaRPr lang="en-US" sz="950" dirty="0"/>
          </a:p>
        </p:txBody>
      </p:sp>
      <p:sp>
        <p:nvSpPr>
          <p:cNvPr id="23" name="Shape 21"/>
          <p:cNvSpPr/>
          <p:nvPr/>
        </p:nvSpPr>
        <p:spPr>
          <a:xfrm>
            <a:off x="4818888" y="3410712"/>
            <a:ext cx="2560320" cy="310896"/>
          </a:xfrm>
          <a:prstGeom prst="roundRect">
            <a:avLst/>
          </a:prstGeom>
          <a:solidFill>
            <a:srgbClr val="FFFDFC"/>
          </a:solidFill>
          <a:ln w="12700">
            <a:solidFill>
              <a:srgbClr val="DED2C5"/>
            </a:solidFill>
            <a:prstDash val="solid"/>
          </a:ln>
        </p:spPr>
        <p:txBody>
          <a:bodyPr/>
          <a:lstStyle/>
          <a:p>
            <a:endParaRPr lang="en-US"/>
          </a:p>
        </p:txBody>
      </p:sp>
      <p:sp>
        <p:nvSpPr>
          <p:cNvPr id="24" name="Shape 22"/>
          <p:cNvSpPr/>
          <p:nvPr/>
        </p:nvSpPr>
        <p:spPr>
          <a:xfrm>
            <a:off x="5001768" y="3502152"/>
            <a:ext cx="118872" cy="118872"/>
          </a:xfrm>
          <a:prstGeom prst="ellipse">
            <a:avLst/>
          </a:prstGeom>
          <a:solidFill>
            <a:srgbClr val="D49A32"/>
          </a:solidFill>
          <a:ln w="12700">
            <a:solidFill>
              <a:srgbClr val="D49A32"/>
            </a:solidFill>
            <a:prstDash val="solid"/>
          </a:ln>
        </p:spPr>
        <p:txBody>
          <a:bodyPr/>
          <a:lstStyle/>
          <a:p>
            <a:endParaRPr lang="en-US"/>
          </a:p>
        </p:txBody>
      </p:sp>
      <p:sp>
        <p:nvSpPr>
          <p:cNvPr id="25" name="Text 23"/>
          <p:cNvSpPr/>
          <p:nvPr/>
        </p:nvSpPr>
        <p:spPr>
          <a:xfrm>
            <a:off x="5266944" y="3465576"/>
            <a:ext cx="1810512" cy="182880"/>
          </a:xfrm>
          <a:prstGeom prst="rect">
            <a:avLst/>
          </a:prstGeom>
          <a:noFill/>
          <a:ln/>
        </p:spPr>
        <p:txBody>
          <a:bodyPr wrap="square" lIns="0" tIns="0" rIns="0" bIns="0" rtlCol="0" anchor="ctr">
            <a:normAutofit/>
          </a:bodyPr>
          <a:lstStyle/>
          <a:p>
            <a:pPr marL="0" indent="0">
              <a:buNone/>
            </a:pPr>
            <a:r>
              <a:rPr lang="en-US" sz="950" b="1" kern="0" spc="45" dirty="0">
                <a:solidFill>
                  <a:srgbClr val="D49A32"/>
                </a:solidFill>
                <a:latin typeface="Aptos" pitchFamily="34" charset="0"/>
                <a:ea typeface="Aptos" pitchFamily="34" charset="-122"/>
                <a:cs typeface="Aptos" pitchFamily="34" charset="-120"/>
              </a:rPr>
              <a:t>PRONAĐEN PUT</a:t>
            </a:r>
            <a:endParaRPr lang="en-US" sz="950" dirty="0"/>
          </a:p>
        </p:txBody>
      </p:sp>
      <p:sp>
        <p:nvSpPr>
          <p:cNvPr id="26" name="Shape 24"/>
          <p:cNvSpPr/>
          <p:nvPr/>
        </p:nvSpPr>
        <p:spPr>
          <a:xfrm>
            <a:off x="8055864" y="2990088"/>
            <a:ext cx="676656" cy="0"/>
          </a:xfrm>
          <a:prstGeom prst="line">
            <a:avLst/>
          </a:prstGeom>
          <a:noFill/>
          <a:ln w="21590">
            <a:solidFill>
              <a:srgbClr val="8B5E50"/>
            </a:solidFill>
            <a:prstDash val="solid"/>
            <a:tailEnd type="triangle"/>
          </a:ln>
        </p:spPr>
        <p:txBody>
          <a:bodyPr/>
          <a:lstStyle/>
          <a:p>
            <a:endParaRPr lang="en-US"/>
          </a:p>
        </p:txBody>
      </p:sp>
      <p:sp>
        <p:nvSpPr>
          <p:cNvPr id="27" name="Text 25"/>
          <p:cNvSpPr/>
          <p:nvPr/>
        </p:nvSpPr>
        <p:spPr>
          <a:xfrm>
            <a:off x="8028432" y="2633472"/>
            <a:ext cx="731520" cy="182880"/>
          </a:xfrm>
          <a:prstGeom prst="rect">
            <a:avLst/>
          </a:prstGeom>
          <a:noFill/>
          <a:ln/>
        </p:spPr>
        <p:txBody>
          <a:bodyPr wrap="square" lIns="0" tIns="0" rIns="0" bIns="0" rtlCol="0" anchor="ctr">
            <a:normAutofit/>
          </a:bodyPr>
          <a:lstStyle/>
          <a:p>
            <a:pPr marL="0" indent="0" algn="ctr">
              <a:buNone/>
            </a:pPr>
            <a:r>
              <a:rPr lang="en-US" sz="850" b="1" dirty="0">
                <a:solidFill>
                  <a:srgbClr val="8B5E50"/>
                </a:solidFill>
                <a:latin typeface="Aptos" pitchFamily="34" charset="0"/>
                <a:ea typeface="Aptos" pitchFamily="34" charset="-122"/>
                <a:cs typeface="Aptos" pitchFamily="34" charset="-120"/>
              </a:rPr>
              <a:t>reprodukuj</a:t>
            </a:r>
            <a:endParaRPr lang="en-US" sz="850" dirty="0"/>
          </a:p>
        </p:txBody>
      </p:sp>
      <p:sp>
        <p:nvSpPr>
          <p:cNvPr id="28" name="Shape 26"/>
          <p:cNvSpPr/>
          <p:nvPr/>
        </p:nvSpPr>
        <p:spPr>
          <a:xfrm>
            <a:off x="8961120" y="1993392"/>
            <a:ext cx="2523744" cy="2029968"/>
          </a:xfrm>
          <a:prstGeom prst="roundRect">
            <a:avLst/>
          </a:prstGeom>
          <a:solidFill>
            <a:srgbClr val="FFFDFC"/>
          </a:solidFill>
          <a:ln w="12700">
            <a:solidFill>
              <a:srgbClr val="DED2C5"/>
            </a:solidFill>
            <a:prstDash val="solid"/>
          </a:ln>
          <a:effectLst>
            <a:outerShdw blurRad="16510" dist="50800" dir="2700000" algn="bl" rotWithShape="0">
              <a:srgbClr val="B9AA9B">
                <a:alpha val="10000"/>
              </a:srgbClr>
            </a:outerShdw>
          </a:effectLst>
        </p:spPr>
        <p:txBody>
          <a:bodyPr/>
          <a:lstStyle/>
          <a:p>
            <a:endParaRPr lang="en-US"/>
          </a:p>
        </p:txBody>
      </p:sp>
      <p:sp>
        <p:nvSpPr>
          <p:cNvPr id="29" name="Shape 27"/>
          <p:cNvSpPr/>
          <p:nvPr/>
        </p:nvSpPr>
        <p:spPr>
          <a:xfrm>
            <a:off x="9811512" y="2331720"/>
            <a:ext cx="150876" cy="150876"/>
          </a:xfrm>
          <a:prstGeom prst="rect">
            <a:avLst/>
          </a:prstGeom>
          <a:solidFill>
            <a:srgbClr val="FFFDFC"/>
          </a:solidFill>
          <a:ln w="12700">
            <a:solidFill>
              <a:srgbClr val="DED2C5"/>
            </a:solidFill>
            <a:prstDash val="solid"/>
          </a:ln>
        </p:spPr>
        <p:txBody>
          <a:bodyPr/>
          <a:lstStyle/>
          <a:p>
            <a:endParaRPr lang="en-US"/>
          </a:p>
        </p:txBody>
      </p:sp>
      <p:sp>
        <p:nvSpPr>
          <p:cNvPr id="30" name="Shape 28"/>
          <p:cNvSpPr/>
          <p:nvPr/>
        </p:nvSpPr>
        <p:spPr>
          <a:xfrm>
            <a:off x="9985248" y="2331720"/>
            <a:ext cx="150876" cy="150876"/>
          </a:xfrm>
          <a:prstGeom prst="rect">
            <a:avLst/>
          </a:prstGeom>
          <a:solidFill>
            <a:srgbClr val="FFFDFC"/>
          </a:solidFill>
          <a:ln w="12700">
            <a:solidFill>
              <a:srgbClr val="DED2C5"/>
            </a:solidFill>
            <a:prstDash val="solid"/>
          </a:ln>
        </p:spPr>
        <p:txBody>
          <a:bodyPr/>
          <a:lstStyle/>
          <a:p>
            <a:endParaRPr lang="en-US"/>
          </a:p>
        </p:txBody>
      </p:sp>
      <p:sp>
        <p:nvSpPr>
          <p:cNvPr id="31" name="Shape 29"/>
          <p:cNvSpPr/>
          <p:nvPr/>
        </p:nvSpPr>
        <p:spPr>
          <a:xfrm>
            <a:off x="10158984" y="2331720"/>
            <a:ext cx="150876" cy="150876"/>
          </a:xfrm>
          <a:prstGeom prst="rect">
            <a:avLst/>
          </a:prstGeom>
          <a:solidFill>
            <a:srgbClr val="FFFDFC"/>
          </a:solidFill>
          <a:ln w="12700">
            <a:solidFill>
              <a:srgbClr val="DED2C5"/>
            </a:solidFill>
            <a:prstDash val="solid"/>
          </a:ln>
        </p:spPr>
        <p:txBody>
          <a:bodyPr/>
          <a:lstStyle/>
          <a:p>
            <a:endParaRPr lang="en-US"/>
          </a:p>
        </p:txBody>
      </p:sp>
      <p:sp>
        <p:nvSpPr>
          <p:cNvPr id="32" name="Shape 30"/>
          <p:cNvSpPr/>
          <p:nvPr/>
        </p:nvSpPr>
        <p:spPr>
          <a:xfrm>
            <a:off x="10332720" y="2331720"/>
            <a:ext cx="150876" cy="150876"/>
          </a:xfrm>
          <a:prstGeom prst="rect">
            <a:avLst/>
          </a:prstGeom>
          <a:solidFill>
            <a:srgbClr val="FFFDFC"/>
          </a:solidFill>
          <a:ln w="12700">
            <a:solidFill>
              <a:srgbClr val="DED2C5"/>
            </a:solidFill>
            <a:prstDash val="solid"/>
          </a:ln>
        </p:spPr>
        <p:txBody>
          <a:bodyPr/>
          <a:lstStyle/>
          <a:p>
            <a:endParaRPr lang="en-US"/>
          </a:p>
        </p:txBody>
      </p:sp>
      <p:sp>
        <p:nvSpPr>
          <p:cNvPr id="33" name="Shape 31"/>
          <p:cNvSpPr/>
          <p:nvPr/>
        </p:nvSpPr>
        <p:spPr>
          <a:xfrm>
            <a:off x="10506456" y="2331720"/>
            <a:ext cx="150876" cy="150876"/>
          </a:xfrm>
          <a:prstGeom prst="rect">
            <a:avLst/>
          </a:prstGeom>
          <a:solidFill>
            <a:srgbClr val="FFFDFC"/>
          </a:solidFill>
          <a:ln w="12700">
            <a:solidFill>
              <a:srgbClr val="DED2C5"/>
            </a:solidFill>
            <a:prstDash val="solid"/>
          </a:ln>
        </p:spPr>
        <p:txBody>
          <a:bodyPr/>
          <a:lstStyle/>
          <a:p>
            <a:endParaRPr lang="en-US"/>
          </a:p>
        </p:txBody>
      </p:sp>
      <p:sp>
        <p:nvSpPr>
          <p:cNvPr id="34" name="Shape 32"/>
          <p:cNvSpPr/>
          <p:nvPr/>
        </p:nvSpPr>
        <p:spPr>
          <a:xfrm>
            <a:off x="9811512" y="2505456"/>
            <a:ext cx="150876" cy="150876"/>
          </a:xfrm>
          <a:prstGeom prst="rect">
            <a:avLst/>
          </a:prstGeom>
          <a:solidFill>
            <a:srgbClr val="4F8D4A"/>
          </a:solidFill>
          <a:ln w="12700">
            <a:solidFill>
              <a:srgbClr val="DED2C5"/>
            </a:solidFill>
            <a:prstDash val="solid"/>
          </a:ln>
        </p:spPr>
        <p:txBody>
          <a:bodyPr/>
          <a:lstStyle/>
          <a:p>
            <a:endParaRPr lang="en-US"/>
          </a:p>
        </p:txBody>
      </p:sp>
      <p:sp>
        <p:nvSpPr>
          <p:cNvPr id="35" name="Shape 33"/>
          <p:cNvSpPr/>
          <p:nvPr/>
        </p:nvSpPr>
        <p:spPr>
          <a:xfrm>
            <a:off x="9985248" y="2505456"/>
            <a:ext cx="150876" cy="150876"/>
          </a:xfrm>
          <a:prstGeom prst="rect">
            <a:avLst/>
          </a:prstGeom>
          <a:solidFill>
            <a:srgbClr val="4B91B8"/>
          </a:solidFill>
          <a:ln w="12700">
            <a:solidFill>
              <a:srgbClr val="DED2C5"/>
            </a:solidFill>
            <a:prstDash val="solid"/>
          </a:ln>
        </p:spPr>
        <p:txBody>
          <a:bodyPr/>
          <a:lstStyle/>
          <a:p>
            <a:endParaRPr lang="en-US"/>
          </a:p>
        </p:txBody>
      </p:sp>
      <p:sp>
        <p:nvSpPr>
          <p:cNvPr id="36" name="Shape 34"/>
          <p:cNvSpPr/>
          <p:nvPr/>
        </p:nvSpPr>
        <p:spPr>
          <a:xfrm>
            <a:off x="10158984" y="2505456"/>
            <a:ext cx="150876" cy="150876"/>
          </a:xfrm>
          <a:prstGeom prst="rect">
            <a:avLst/>
          </a:prstGeom>
          <a:solidFill>
            <a:srgbClr val="8066B5"/>
          </a:solidFill>
          <a:ln w="12700">
            <a:solidFill>
              <a:srgbClr val="DED2C5"/>
            </a:solidFill>
            <a:prstDash val="solid"/>
          </a:ln>
        </p:spPr>
        <p:txBody>
          <a:bodyPr/>
          <a:lstStyle/>
          <a:p>
            <a:endParaRPr lang="en-US"/>
          </a:p>
        </p:txBody>
      </p:sp>
      <p:sp>
        <p:nvSpPr>
          <p:cNvPr id="37" name="Shape 35"/>
          <p:cNvSpPr/>
          <p:nvPr/>
        </p:nvSpPr>
        <p:spPr>
          <a:xfrm>
            <a:off x="10332720" y="2505456"/>
            <a:ext cx="150876" cy="150876"/>
          </a:xfrm>
          <a:prstGeom prst="rect">
            <a:avLst/>
          </a:prstGeom>
          <a:solidFill>
            <a:srgbClr val="D49A32"/>
          </a:solidFill>
          <a:ln w="12700">
            <a:solidFill>
              <a:srgbClr val="DED2C5"/>
            </a:solidFill>
            <a:prstDash val="solid"/>
          </a:ln>
        </p:spPr>
        <p:txBody>
          <a:bodyPr/>
          <a:lstStyle/>
          <a:p>
            <a:endParaRPr lang="en-US"/>
          </a:p>
        </p:txBody>
      </p:sp>
      <p:sp>
        <p:nvSpPr>
          <p:cNvPr id="38" name="Shape 36"/>
          <p:cNvSpPr/>
          <p:nvPr/>
        </p:nvSpPr>
        <p:spPr>
          <a:xfrm>
            <a:off x="10506456" y="2505456"/>
            <a:ext cx="150876" cy="150876"/>
          </a:xfrm>
          <a:prstGeom prst="rect">
            <a:avLst/>
          </a:prstGeom>
          <a:solidFill>
            <a:srgbClr val="D85B4A"/>
          </a:solidFill>
          <a:ln w="12700">
            <a:solidFill>
              <a:srgbClr val="DED2C5"/>
            </a:solidFill>
            <a:prstDash val="solid"/>
          </a:ln>
        </p:spPr>
        <p:txBody>
          <a:bodyPr/>
          <a:lstStyle/>
          <a:p>
            <a:endParaRPr lang="en-US"/>
          </a:p>
        </p:txBody>
      </p:sp>
      <p:sp>
        <p:nvSpPr>
          <p:cNvPr id="39" name="Shape 37"/>
          <p:cNvSpPr/>
          <p:nvPr/>
        </p:nvSpPr>
        <p:spPr>
          <a:xfrm>
            <a:off x="9811512" y="2679192"/>
            <a:ext cx="150876" cy="150876"/>
          </a:xfrm>
          <a:prstGeom prst="rect">
            <a:avLst/>
          </a:prstGeom>
          <a:solidFill>
            <a:srgbClr val="FFFDFC"/>
          </a:solidFill>
          <a:ln w="12700">
            <a:solidFill>
              <a:srgbClr val="DED2C5"/>
            </a:solidFill>
            <a:prstDash val="solid"/>
          </a:ln>
        </p:spPr>
        <p:txBody>
          <a:bodyPr/>
          <a:lstStyle/>
          <a:p>
            <a:endParaRPr lang="en-US"/>
          </a:p>
        </p:txBody>
      </p:sp>
      <p:sp>
        <p:nvSpPr>
          <p:cNvPr id="40" name="Shape 38"/>
          <p:cNvSpPr/>
          <p:nvPr/>
        </p:nvSpPr>
        <p:spPr>
          <a:xfrm>
            <a:off x="9985248" y="2679192"/>
            <a:ext cx="150876" cy="150876"/>
          </a:xfrm>
          <a:prstGeom prst="rect">
            <a:avLst/>
          </a:prstGeom>
          <a:solidFill>
            <a:srgbClr val="FFFDFC"/>
          </a:solidFill>
          <a:ln w="12700">
            <a:solidFill>
              <a:srgbClr val="DED2C5"/>
            </a:solidFill>
            <a:prstDash val="solid"/>
          </a:ln>
        </p:spPr>
        <p:txBody>
          <a:bodyPr/>
          <a:lstStyle/>
          <a:p>
            <a:endParaRPr lang="en-US"/>
          </a:p>
        </p:txBody>
      </p:sp>
      <p:sp>
        <p:nvSpPr>
          <p:cNvPr id="41" name="Shape 39"/>
          <p:cNvSpPr/>
          <p:nvPr/>
        </p:nvSpPr>
        <p:spPr>
          <a:xfrm>
            <a:off x="10158984" y="2679192"/>
            <a:ext cx="150876" cy="150876"/>
          </a:xfrm>
          <a:prstGeom prst="rect">
            <a:avLst/>
          </a:prstGeom>
          <a:solidFill>
            <a:srgbClr val="FFFDFC"/>
          </a:solidFill>
          <a:ln w="12700">
            <a:solidFill>
              <a:srgbClr val="DED2C5"/>
            </a:solidFill>
            <a:prstDash val="solid"/>
          </a:ln>
        </p:spPr>
        <p:txBody>
          <a:bodyPr/>
          <a:lstStyle/>
          <a:p>
            <a:endParaRPr lang="en-US"/>
          </a:p>
        </p:txBody>
      </p:sp>
      <p:sp>
        <p:nvSpPr>
          <p:cNvPr id="42" name="Shape 40"/>
          <p:cNvSpPr/>
          <p:nvPr/>
        </p:nvSpPr>
        <p:spPr>
          <a:xfrm>
            <a:off x="10332720" y="2679192"/>
            <a:ext cx="150876" cy="150876"/>
          </a:xfrm>
          <a:prstGeom prst="rect">
            <a:avLst/>
          </a:prstGeom>
          <a:solidFill>
            <a:srgbClr val="FFFDFC"/>
          </a:solidFill>
          <a:ln w="12700">
            <a:solidFill>
              <a:srgbClr val="DED2C5"/>
            </a:solidFill>
            <a:prstDash val="solid"/>
          </a:ln>
        </p:spPr>
        <p:txBody>
          <a:bodyPr/>
          <a:lstStyle/>
          <a:p>
            <a:endParaRPr lang="en-US"/>
          </a:p>
        </p:txBody>
      </p:sp>
      <p:sp>
        <p:nvSpPr>
          <p:cNvPr id="43" name="Shape 41"/>
          <p:cNvSpPr/>
          <p:nvPr/>
        </p:nvSpPr>
        <p:spPr>
          <a:xfrm>
            <a:off x="10506456" y="2679192"/>
            <a:ext cx="150876" cy="150876"/>
          </a:xfrm>
          <a:prstGeom prst="rect">
            <a:avLst/>
          </a:prstGeom>
          <a:solidFill>
            <a:srgbClr val="FFFDFC"/>
          </a:solidFill>
          <a:ln w="12700">
            <a:solidFill>
              <a:srgbClr val="DED2C5"/>
            </a:solidFill>
            <a:prstDash val="solid"/>
          </a:ln>
        </p:spPr>
        <p:txBody>
          <a:bodyPr/>
          <a:lstStyle/>
          <a:p>
            <a:endParaRPr lang="en-US"/>
          </a:p>
        </p:txBody>
      </p:sp>
      <p:sp>
        <p:nvSpPr>
          <p:cNvPr id="44" name="Text 42"/>
          <p:cNvSpPr/>
          <p:nvPr/>
        </p:nvSpPr>
        <p:spPr>
          <a:xfrm>
            <a:off x="9235440" y="3172968"/>
            <a:ext cx="1975104" cy="219456"/>
          </a:xfrm>
          <a:prstGeom prst="rect">
            <a:avLst/>
          </a:prstGeom>
          <a:noFill/>
          <a:ln/>
        </p:spPr>
        <p:txBody>
          <a:bodyPr wrap="square" lIns="0" tIns="0" rIns="0" bIns="0" rtlCol="0" anchor="ctr">
            <a:normAutofit/>
          </a:bodyPr>
          <a:lstStyle/>
          <a:p>
            <a:pPr marL="0" indent="0" algn="ctr">
              <a:buNone/>
            </a:pPr>
            <a:r>
              <a:rPr lang="en-US" sz="1050" b="1" kern="0" spc="90" dirty="0">
                <a:solidFill>
                  <a:srgbClr val="328C8B"/>
                </a:solidFill>
                <a:latin typeface="Aptos" pitchFamily="34" charset="0"/>
                <a:ea typeface="Aptos" pitchFamily="34" charset="-122"/>
                <a:cs typeface="Aptos" pitchFamily="34" charset="-120"/>
              </a:rPr>
              <a:t>CANVAS PRIKAZ</a:t>
            </a:r>
            <a:endParaRPr lang="en-US" sz="1050" dirty="0"/>
          </a:p>
        </p:txBody>
      </p:sp>
      <p:sp>
        <p:nvSpPr>
          <p:cNvPr id="45" name="Text 43"/>
          <p:cNvSpPr/>
          <p:nvPr/>
        </p:nvSpPr>
        <p:spPr>
          <a:xfrm>
            <a:off x="9235440" y="3483864"/>
            <a:ext cx="1975104" cy="256032"/>
          </a:xfrm>
          <a:prstGeom prst="rect">
            <a:avLst/>
          </a:prstGeom>
          <a:noFill/>
          <a:ln/>
        </p:spPr>
        <p:txBody>
          <a:bodyPr wrap="square" lIns="0" tIns="0" rIns="0" bIns="0" rtlCol="0" anchor="ctr">
            <a:normAutofit/>
          </a:bodyPr>
          <a:lstStyle/>
          <a:p>
            <a:pPr marL="0" indent="0" algn="ctr">
              <a:buNone/>
            </a:pPr>
            <a:r>
              <a:rPr lang="en-US" sz="1350" dirty="0">
                <a:solidFill>
                  <a:srgbClr val="786B62"/>
                </a:solidFill>
                <a:latin typeface="Aptos" pitchFamily="34" charset="0"/>
                <a:ea typeface="Aptos" pitchFamily="34" charset="-122"/>
                <a:cs typeface="Aptos" pitchFamily="34" charset="-120"/>
              </a:rPr>
              <a:t>prikazuje isto stanje</a:t>
            </a:r>
            <a:endParaRPr lang="en-US" sz="1350" dirty="0"/>
          </a:p>
        </p:txBody>
      </p:sp>
      <p:sp>
        <p:nvSpPr>
          <p:cNvPr id="46" name="Shape 44"/>
          <p:cNvSpPr/>
          <p:nvPr/>
        </p:nvSpPr>
        <p:spPr>
          <a:xfrm>
            <a:off x="804672" y="4709160"/>
            <a:ext cx="10579608" cy="932688"/>
          </a:xfrm>
          <a:prstGeom prst="roundRect">
            <a:avLst/>
          </a:prstGeom>
          <a:solidFill>
            <a:srgbClr val="F3ECE4"/>
          </a:solidFill>
          <a:ln w="12700">
            <a:solidFill>
              <a:srgbClr val="F3ECE4"/>
            </a:solidFill>
            <a:prstDash val="solid"/>
          </a:ln>
        </p:spPr>
        <p:txBody>
          <a:bodyPr/>
          <a:lstStyle/>
          <a:p>
            <a:endParaRPr lang="en-US"/>
          </a:p>
        </p:txBody>
      </p:sp>
      <p:sp>
        <p:nvSpPr>
          <p:cNvPr id="47" name="Shape 45"/>
          <p:cNvSpPr/>
          <p:nvPr/>
        </p:nvSpPr>
        <p:spPr>
          <a:xfrm>
            <a:off x="1033272" y="4956048"/>
            <a:ext cx="411480" cy="411480"/>
          </a:xfrm>
          <a:prstGeom prst="ellipse">
            <a:avLst/>
          </a:prstGeom>
          <a:solidFill>
            <a:srgbClr val="8B5E50"/>
          </a:solidFill>
          <a:ln w="12700">
            <a:solidFill>
              <a:srgbClr val="8B5E50"/>
            </a:solidFill>
            <a:prstDash val="solid"/>
          </a:ln>
        </p:spPr>
        <p:txBody>
          <a:bodyPr/>
          <a:lstStyle/>
          <a:p>
            <a:endParaRPr lang="en-US"/>
          </a:p>
        </p:txBody>
      </p:sp>
      <p:sp>
        <p:nvSpPr>
          <p:cNvPr id="48" name="Text 46"/>
          <p:cNvSpPr/>
          <p:nvPr/>
        </p:nvSpPr>
        <p:spPr>
          <a:xfrm>
            <a:off x="1033272" y="5038344"/>
            <a:ext cx="411480" cy="201168"/>
          </a:xfrm>
          <a:prstGeom prst="rect">
            <a:avLst/>
          </a:prstGeom>
          <a:noFill/>
          <a:ln/>
        </p:spPr>
        <p:txBody>
          <a:bodyPr wrap="square" lIns="0" tIns="0" rIns="0" bIns="0" rtlCol="0" anchor="ctr">
            <a:norm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a:t>
            </a:r>
            <a:endParaRPr lang="en-US" sz="1100" dirty="0"/>
          </a:p>
        </p:txBody>
      </p:sp>
      <p:sp>
        <p:nvSpPr>
          <p:cNvPr id="49" name="Text 47"/>
          <p:cNvSpPr/>
          <p:nvPr/>
        </p:nvSpPr>
        <p:spPr>
          <a:xfrm>
            <a:off x="1563624" y="5010912"/>
            <a:ext cx="1170432" cy="237744"/>
          </a:xfrm>
          <a:prstGeom prst="rect">
            <a:avLst/>
          </a:prstGeom>
          <a:noFill/>
          <a:ln/>
        </p:spPr>
        <p:txBody>
          <a:bodyPr wrap="square" lIns="0" tIns="0" rIns="0" bIns="0" rtlCol="0" anchor="ctr">
            <a:normAutofit/>
          </a:bodyPr>
          <a:lstStyle/>
          <a:p>
            <a:pPr marL="0" indent="0">
              <a:buNone/>
            </a:pPr>
            <a:r>
              <a:rPr lang="en-US" sz="1250" b="1" dirty="0">
                <a:solidFill>
                  <a:srgbClr val="352B26"/>
                </a:solidFill>
                <a:latin typeface="Aptos" pitchFamily="34" charset="0"/>
                <a:ea typeface="Aptos" pitchFamily="34" charset="-122"/>
                <a:cs typeface="Aptos" pitchFamily="34" charset="-120"/>
              </a:rPr>
              <a:t>Pokreni</a:t>
            </a:r>
            <a:endParaRPr lang="en-US" sz="1250" dirty="0"/>
          </a:p>
        </p:txBody>
      </p:sp>
      <p:sp>
        <p:nvSpPr>
          <p:cNvPr id="50" name="Shape 48"/>
          <p:cNvSpPr/>
          <p:nvPr/>
        </p:nvSpPr>
        <p:spPr>
          <a:xfrm>
            <a:off x="3081528" y="4956048"/>
            <a:ext cx="411480" cy="411480"/>
          </a:xfrm>
          <a:prstGeom prst="ellipse">
            <a:avLst/>
          </a:prstGeom>
          <a:solidFill>
            <a:srgbClr val="8B5E50"/>
          </a:solidFill>
          <a:ln w="12700">
            <a:solidFill>
              <a:srgbClr val="8B5E50"/>
            </a:solidFill>
            <a:prstDash val="solid"/>
          </a:ln>
        </p:spPr>
        <p:txBody>
          <a:bodyPr/>
          <a:lstStyle/>
          <a:p>
            <a:endParaRPr lang="en-US"/>
          </a:p>
        </p:txBody>
      </p:sp>
      <p:sp>
        <p:nvSpPr>
          <p:cNvPr id="51" name="Text 49"/>
          <p:cNvSpPr/>
          <p:nvPr/>
        </p:nvSpPr>
        <p:spPr>
          <a:xfrm>
            <a:off x="3081528" y="5038344"/>
            <a:ext cx="411480" cy="201168"/>
          </a:xfrm>
          <a:prstGeom prst="rect">
            <a:avLst/>
          </a:prstGeom>
          <a:noFill/>
          <a:ln/>
        </p:spPr>
        <p:txBody>
          <a:bodyPr wrap="square" lIns="0" tIns="0" rIns="0" bIns="0" rtlCol="0" anchor="ctr">
            <a:norm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Ⅱ</a:t>
            </a:r>
            <a:endParaRPr lang="en-US" sz="1100" dirty="0"/>
          </a:p>
        </p:txBody>
      </p:sp>
      <p:sp>
        <p:nvSpPr>
          <p:cNvPr id="52" name="Text 50"/>
          <p:cNvSpPr/>
          <p:nvPr/>
        </p:nvSpPr>
        <p:spPr>
          <a:xfrm>
            <a:off x="3611880" y="5010912"/>
            <a:ext cx="1170432" cy="237744"/>
          </a:xfrm>
          <a:prstGeom prst="rect">
            <a:avLst/>
          </a:prstGeom>
          <a:noFill/>
          <a:ln/>
        </p:spPr>
        <p:txBody>
          <a:bodyPr wrap="square" lIns="0" tIns="0" rIns="0" bIns="0" rtlCol="0" anchor="ctr">
            <a:normAutofit/>
          </a:bodyPr>
          <a:lstStyle/>
          <a:p>
            <a:pPr marL="0" indent="0">
              <a:buNone/>
            </a:pPr>
            <a:r>
              <a:rPr lang="en-US" sz="1250" b="1" dirty="0">
                <a:solidFill>
                  <a:srgbClr val="352B26"/>
                </a:solidFill>
                <a:latin typeface="Aptos" pitchFamily="34" charset="0"/>
                <a:ea typeface="Aptos" pitchFamily="34" charset="-122"/>
                <a:cs typeface="Aptos" pitchFamily="34" charset="-120"/>
              </a:rPr>
              <a:t>Pauziraj</a:t>
            </a:r>
            <a:endParaRPr lang="en-US" sz="1250" dirty="0"/>
          </a:p>
        </p:txBody>
      </p:sp>
      <p:sp>
        <p:nvSpPr>
          <p:cNvPr id="53" name="Shape 51"/>
          <p:cNvSpPr/>
          <p:nvPr/>
        </p:nvSpPr>
        <p:spPr>
          <a:xfrm>
            <a:off x="5129784" y="4956048"/>
            <a:ext cx="411480" cy="411480"/>
          </a:xfrm>
          <a:prstGeom prst="ellipse">
            <a:avLst/>
          </a:prstGeom>
          <a:solidFill>
            <a:srgbClr val="8B5E50"/>
          </a:solidFill>
          <a:ln w="12700">
            <a:solidFill>
              <a:srgbClr val="8B5E50"/>
            </a:solidFill>
            <a:prstDash val="solid"/>
          </a:ln>
        </p:spPr>
        <p:txBody>
          <a:bodyPr/>
          <a:lstStyle/>
          <a:p>
            <a:endParaRPr lang="en-US"/>
          </a:p>
        </p:txBody>
      </p:sp>
      <p:sp>
        <p:nvSpPr>
          <p:cNvPr id="54" name="Text 52"/>
          <p:cNvSpPr/>
          <p:nvPr/>
        </p:nvSpPr>
        <p:spPr>
          <a:xfrm>
            <a:off x="5129784" y="5038344"/>
            <a:ext cx="411480" cy="201168"/>
          </a:xfrm>
          <a:prstGeom prst="rect">
            <a:avLst/>
          </a:prstGeom>
          <a:noFill/>
          <a:ln/>
        </p:spPr>
        <p:txBody>
          <a:bodyPr wrap="square" lIns="0" tIns="0" rIns="0" bIns="0" rtlCol="0" anchor="ctr">
            <a:norm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a:t>
            </a:r>
            <a:endParaRPr lang="en-US" sz="1100" dirty="0"/>
          </a:p>
        </p:txBody>
      </p:sp>
      <p:sp>
        <p:nvSpPr>
          <p:cNvPr id="55" name="Text 53"/>
          <p:cNvSpPr/>
          <p:nvPr/>
        </p:nvSpPr>
        <p:spPr>
          <a:xfrm>
            <a:off x="5660136" y="5010912"/>
            <a:ext cx="1170432" cy="237744"/>
          </a:xfrm>
          <a:prstGeom prst="rect">
            <a:avLst/>
          </a:prstGeom>
          <a:noFill/>
          <a:ln/>
        </p:spPr>
        <p:txBody>
          <a:bodyPr wrap="square" lIns="0" tIns="0" rIns="0" bIns="0" rtlCol="0" anchor="ctr">
            <a:normAutofit/>
          </a:bodyPr>
          <a:lstStyle/>
          <a:p>
            <a:pPr marL="0" indent="0">
              <a:buNone/>
            </a:pPr>
            <a:r>
              <a:rPr lang="en-US" sz="1250" b="1" dirty="0">
                <a:solidFill>
                  <a:srgbClr val="352B26"/>
                </a:solidFill>
                <a:latin typeface="Aptos" pitchFamily="34" charset="0"/>
                <a:ea typeface="Aptos" pitchFamily="34" charset="-122"/>
                <a:cs typeface="Aptos" pitchFamily="34" charset="-120"/>
              </a:rPr>
              <a:t>Korak</a:t>
            </a:r>
            <a:endParaRPr lang="en-US" sz="1250" dirty="0"/>
          </a:p>
        </p:txBody>
      </p:sp>
      <p:sp>
        <p:nvSpPr>
          <p:cNvPr id="56" name="Shape 54"/>
          <p:cNvSpPr/>
          <p:nvPr/>
        </p:nvSpPr>
        <p:spPr>
          <a:xfrm>
            <a:off x="7178040" y="4956048"/>
            <a:ext cx="411480" cy="411480"/>
          </a:xfrm>
          <a:prstGeom prst="ellipse">
            <a:avLst/>
          </a:prstGeom>
          <a:solidFill>
            <a:srgbClr val="D85B4A"/>
          </a:solidFill>
          <a:ln w="12700">
            <a:solidFill>
              <a:srgbClr val="D85B4A"/>
            </a:solidFill>
            <a:prstDash val="solid"/>
          </a:ln>
        </p:spPr>
        <p:txBody>
          <a:bodyPr/>
          <a:lstStyle/>
          <a:p>
            <a:endParaRPr lang="en-US"/>
          </a:p>
        </p:txBody>
      </p:sp>
      <p:sp>
        <p:nvSpPr>
          <p:cNvPr id="57" name="Text 55"/>
          <p:cNvSpPr/>
          <p:nvPr/>
        </p:nvSpPr>
        <p:spPr>
          <a:xfrm>
            <a:off x="7178040" y="5038344"/>
            <a:ext cx="411480" cy="201168"/>
          </a:xfrm>
          <a:prstGeom prst="rect">
            <a:avLst/>
          </a:prstGeom>
          <a:noFill/>
          <a:ln/>
        </p:spPr>
        <p:txBody>
          <a:bodyPr wrap="square" lIns="0" tIns="0" rIns="0" bIns="0" rtlCol="0" anchor="ctr">
            <a:norm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a:t>
            </a:r>
            <a:endParaRPr lang="en-US" sz="1100" dirty="0"/>
          </a:p>
        </p:txBody>
      </p:sp>
      <p:sp>
        <p:nvSpPr>
          <p:cNvPr id="58" name="Text 56"/>
          <p:cNvSpPr/>
          <p:nvPr/>
        </p:nvSpPr>
        <p:spPr>
          <a:xfrm>
            <a:off x="7708392" y="5010912"/>
            <a:ext cx="1170432" cy="237744"/>
          </a:xfrm>
          <a:prstGeom prst="rect">
            <a:avLst/>
          </a:prstGeom>
          <a:noFill/>
          <a:ln/>
        </p:spPr>
        <p:txBody>
          <a:bodyPr wrap="square" lIns="0" tIns="0" rIns="0" bIns="0" rtlCol="0" anchor="ctr">
            <a:normAutofit/>
          </a:bodyPr>
          <a:lstStyle/>
          <a:p>
            <a:pPr marL="0" indent="0">
              <a:buNone/>
            </a:pPr>
            <a:r>
              <a:rPr lang="en-US" sz="1250" b="1" dirty="0">
                <a:solidFill>
                  <a:srgbClr val="352B26"/>
                </a:solidFill>
                <a:latin typeface="Aptos" pitchFamily="34" charset="0"/>
                <a:ea typeface="Aptos" pitchFamily="34" charset="-122"/>
                <a:cs typeface="Aptos" pitchFamily="34" charset="-120"/>
              </a:rPr>
              <a:t>Nazad</a:t>
            </a:r>
            <a:endParaRPr lang="en-US" sz="1250" dirty="0"/>
          </a:p>
        </p:txBody>
      </p:sp>
      <p:sp>
        <p:nvSpPr>
          <p:cNvPr id="59" name="Shape 57"/>
          <p:cNvSpPr/>
          <p:nvPr/>
        </p:nvSpPr>
        <p:spPr>
          <a:xfrm>
            <a:off x="9226296" y="4956048"/>
            <a:ext cx="411480" cy="411480"/>
          </a:xfrm>
          <a:prstGeom prst="ellipse">
            <a:avLst/>
          </a:prstGeom>
          <a:solidFill>
            <a:srgbClr val="8B5E50"/>
          </a:solidFill>
          <a:ln w="12700">
            <a:solidFill>
              <a:srgbClr val="8B5E50"/>
            </a:solidFill>
            <a:prstDash val="solid"/>
          </a:ln>
        </p:spPr>
        <p:txBody>
          <a:bodyPr/>
          <a:lstStyle/>
          <a:p>
            <a:endParaRPr lang="en-US"/>
          </a:p>
        </p:txBody>
      </p:sp>
      <p:sp>
        <p:nvSpPr>
          <p:cNvPr id="60" name="Text 58"/>
          <p:cNvSpPr/>
          <p:nvPr/>
        </p:nvSpPr>
        <p:spPr>
          <a:xfrm>
            <a:off x="9226296" y="5038344"/>
            <a:ext cx="411480" cy="201168"/>
          </a:xfrm>
          <a:prstGeom prst="rect">
            <a:avLst/>
          </a:prstGeom>
          <a:noFill/>
          <a:ln/>
        </p:spPr>
        <p:txBody>
          <a:bodyPr wrap="square" lIns="0" tIns="0" rIns="0" bIns="0" rtlCol="0" anchor="ctr">
            <a:norm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a:t>
            </a:r>
            <a:endParaRPr lang="en-US" sz="1100" dirty="0"/>
          </a:p>
        </p:txBody>
      </p:sp>
      <p:sp>
        <p:nvSpPr>
          <p:cNvPr id="61" name="Text 59"/>
          <p:cNvSpPr/>
          <p:nvPr/>
        </p:nvSpPr>
        <p:spPr>
          <a:xfrm>
            <a:off x="9756648" y="5010912"/>
            <a:ext cx="1170432" cy="237744"/>
          </a:xfrm>
          <a:prstGeom prst="rect">
            <a:avLst/>
          </a:prstGeom>
          <a:noFill/>
          <a:ln/>
        </p:spPr>
        <p:txBody>
          <a:bodyPr wrap="square" lIns="0" tIns="0" rIns="0" bIns="0" rtlCol="0" anchor="ctr">
            <a:normAutofit/>
          </a:bodyPr>
          <a:lstStyle/>
          <a:p>
            <a:pPr marL="0" indent="0">
              <a:buNone/>
            </a:pPr>
            <a:r>
              <a:rPr lang="en-US" sz="1250" b="1" dirty="0">
                <a:solidFill>
                  <a:srgbClr val="352B26"/>
                </a:solidFill>
                <a:latin typeface="Aptos" pitchFamily="34" charset="0"/>
                <a:ea typeface="Aptos" pitchFamily="34" charset="-122"/>
                <a:cs typeface="Aptos" pitchFamily="34" charset="-120"/>
              </a:rPr>
              <a:t>Premotaj</a:t>
            </a:r>
            <a:endParaRPr lang="en-US" sz="1250" dirty="0"/>
          </a:p>
        </p:txBody>
      </p:sp>
      <p:sp>
        <p:nvSpPr>
          <p:cNvPr id="62" name="Text 60"/>
          <p:cNvSpPr/>
          <p:nvPr/>
        </p:nvSpPr>
        <p:spPr>
          <a:xfrm>
            <a:off x="1947672" y="5870448"/>
            <a:ext cx="8321040" cy="274320"/>
          </a:xfrm>
          <a:prstGeom prst="rect">
            <a:avLst/>
          </a:prstGeom>
          <a:noFill/>
          <a:ln/>
        </p:spPr>
        <p:txBody>
          <a:bodyPr wrap="square" lIns="0" tIns="0" rIns="0" bIns="0" rtlCol="0" anchor="ctr">
            <a:normAutofit/>
          </a:bodyPr>
          <a:lstStyle/>
          <a:p>
            <a:pPr marL="0" indent="0" algn="ctr">
              <a:buNone/>
            </a:pPr>
            <a:r>
              <a:rPr lang="en-US" sz="1750" dirty="0">
                <a:solidFill>
                  <a:srgbClr val="6E473B"/>
                </a:solidFill>
                <a:latin typeface="Georgia" pitchFamily="34" charset="0"/>
                <a:ea typeface="Georgia" pitchFamily="34" charset="-122"/>
                <a:cs typeface="Georgia" pitchFamily="34" charset="-120"/>
              </a:rPr>
              <a:t>Novi algoritam se priključuje čim emituje isti skup događaja.</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3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
          </a:xfrm>
          <a:prstGeom prst="rect">
            <a:avLst/>
          </a:prstGeom>
          <a:solidFill>
            <a:srgbClr val="8B5E50"/>
          </a:solidFill>
          <a:ln w="12700">
            <a:solidFill>
              <a:srgbClr val="8B5E50"/>
            </a:solidFill>
            <a:prstDash val="solid"/>
          </a:ln>
        </p:spPr>
        <p:txBody>
          <a:bodyPr/>
          <a:lstStyle/>
          <a:p>
            <a:endParaRPr lang="en-US"/>
          </a:p>
        </p:txBody>
      </p:sp>
      <p:sp>
        <p:nvSpPr>
          <p:cNvPr id="3" name="Text 1"/>
          <p:cNvSpPr/>
          <p:nvPr/>
        </p:nvSpPr>
        <p:spPr>
          <a:xfrm>
            <a:off x="658368" y="274320"/>
            <a:ext cx="6858000" cy="182880"/>
          </a:xfrm>
          <a:prstGeom prst="rect">
            <a:avLst/>
          </a:prstGeom>
          <a:noFill/>
          <a:ln/>
        </p:spPr>
        <p:txBody>
          <a:bodyPr wrap="square" lIns="0" tIns="0" rIns="0" bIns="0" rtlCol="0" anchor="ctr">
            <a:normAutofit/>
          </a:bodyPr>
          <a:lstStyle/>
          <a:p>
            <a:pPr marL="0" indent="0">
              <a:buNone/>
            </a:pPr>
            <a:r>
              <a:rPr lang="en-US" sz="1000" b="1" kern="0" spc="120" dirty="0">
                <a:solidFill>
                  <a:srgbClr val="8B5E50"/>
                </a:solidFill>
                <a:latin typeface="Aptos" pitchFamily="34" charset="0"/>
                <a:ea typeface="Aptos" pitchFamily="34" charset="-122"/>
                <a:cs typeface="Aptos" pitchFamily="34" charset="-120"/>
              </a:rPr>
              <a:t>VEŠTAČKA INTELIGENCIJA</a:t>
            </a:r>
            <a:endParaRPr lang="en-US" sz="1000" dirty="0"/>
          </a:p>
        </p:txBody>
      </p:sp>
      <p:sp>
        <p:nvSpPr>
          <p:cNvPr id="4" name="Shape 2"/>
          <p:cNvSpPr/>
          <p:nvPr/>
        </p:nvSpPr>
        <p:spPr>
          <a:xfrm>
            <a:off x="658368" y="6428232"/>
            <a:ext cx="10881360" cy="0"/>
          </a:xfrm>
          <a:prstGeom prst="line">
            <a:avLst/>
          </a:prstGeom>
          <a:noFill/>
          <a:ln w="10160">
            <a:solidFill>
              <a:srgbClr val="DED2C5"/>
            </a:solidFill>
            <a:prstDash val="solid"/>
          </a:ln>
        </p:spPr>
        <p:txBody>
          <a:bodyPr/>
          <a:lstStyle/>
          <a:p>
            <a:endParaRPr lang="en-US"/>
          </a:p>
        </p:txBody>
      </p:sp>
      <p:sp>
        <p:nvSpPr>
          <p:cNvPr id="5" name="Text 3"/>
          <p:cNvSpPr/>
          <p:nvPr/>
        </p:nvSpPr>
        <p:spPr>
          <a:xfrm>
            <a:off x="11045952" y="6492240"/>
            <a:ext cx="493776" cy="146304"/>
          </a:xfrm>
          <a:prstGeom prst="rect">
            <a:avLst/>
          </a:prstGeom>
          <a:noFill/>
          <a:ln/>
        </p:spPr>
        <p:txBody>
          <a:bodyPr wrap="square" lIns="0" tIns="0" rIns="0" bIns="0" rtlCol="0" anchor="ctr">
            <a:normAutofit/>
          </a:bodyPr>
          <a:lstStyle/>
          <a:p>
            <a:pPr marL="0" indent="0" algn="r">
              <a:buNone/>
            </a:pPr>
            <a:r>
              <a:rPr lang="en-US" sz="850" b="1" dirty="0">
                <a:solidFill>
                  <a:srgbClr val="786B62"/>
                </a:solidFill>
                <a:latin typeface="Aptos" pitchFamily="34" charset="0"/>
                <a:ea typeface="Aptos" pitchFamily="34" charset="-122"/>
                <a:cs typeface="Aptos" pitchFamily="34" charset="-120"/>
              </a:rPr>
              <a:t>07</a:t>
            </a:r>
            <a:endParaRPr lang="en-US" sz="850" dirty="0"/>
          </a:p>
        </p:txBody>
      </p:sp>
      <p:sp>
        <p:nvSpPr>
          <p:cNvPr id="6" name="Text 4"/>
          <p:cNvSpPr/>
          <p:nvPr/>
        </p:nvSpPr>
        <p:spPr>
          <a:xfrm>
            <a:off x="658368" y="694944"/>
            <a:ext cx="10789920" cy="658368"/>
          </a:xfrm>
          <a:prstGeom prst="rect">
            <a:avLst/>
          </a:prstGeom>
          <a:noFill/>
          <a:ln/>
        </p:spPr>
        <p:txBody>
          <a:bodyPr wrap="square" lIns="0" tIns="0" rIns="0" bIns="0" rtlCol="0" anchor="t">
            <a:normAutofit/>
          </a:bodyPr>
          <a:lstStyle/>
          <a:p>
            <a:pPr marL="0" indent="0">
              <a:buNone/>
            </a:pPr>
            <a:r>
              <a:rPr lang="en-US" sz="2900" dirty="0">
                <a:solidFill>
                  <a:srgbClr val="352B26"/>
                </a:solidFill>
                <a:latin typeface="Georgia" pitchFamily="34" charset="0"/>
                <a:ea typeface="Georgia" pitchFamily="34" charset="-122"/>
                <a:cs typeface="Georgia" pitchFamily="34" charset="-120"/>
              </a:rPr>
              <a:t>Program računa. AI objašnjava.</a:t>
            </a:r>
            <a:endParaRPr lang="en-US" sz="2900" dirty="0"/>
          </a:p>
        </p:txBody>
      </p:sp>
      <p:sp>
        <p:nvSpPr>
          <p:cNvPr id="7" name="Text 5"/>
          <p:cNvSpPr/>
          <p:nvPr/>
        </p:nvSpPr>
        <p:spPr>
          <a:xfrm>
            <a:off x="676656" y="1344168"/>
            <a:ext cx="10241280" cy="347472"/>
          </a:xfrm>
          <a:prstGeom prst="rect">
            <a:avLst/>
          </a:prstGeom>
          <a:noFill/>
          <a:ln/>
        </p:spPr>
        <p:txBody>
          <a:bodyPr wrap="square" lIns="0" tIns="0" rIns="0" bIns="0" rtlCol="0" anchor="ctr">
            <a:normAutofit/>
          </a:bodyPr>
          <a:lstStyle/>
          <a:p>
            <a:pPr marL="0" indent="0">
              <a:buNone/>
            </a:pPr>
            <a:r>
              <a:rPr lang="en-US" sz="1650" dirty="0">
                <a:solidFill>
                  <a:srgbClr val="786B62"/>
                </a:solidFill>
                <a:latin typeface="Aptos" pitchFamily="34" charset="0"/>
                <a:ea typeface="Aptos" pitchFamily="34" charset="-122"/>
                <a:cs typeface="Aptos" pitchFamily="34" charset="-120"/>
              </a:rPr>
              <a:t>API tok čuva proverljive činjenice između korisničkog zahteva i objašnjenja.</a:t>
            </a:r>
            <a:endParaRPr lang="en-US" sz="1650" dirty="0"/>
          </a:p>
        </p:txBody>
      </p:sp>
      <p:sp>
        <p:nvSpPr>
          <p:cNvPr id="8" name="Shape 6"/>
          <p:cNvSpPr/>
          <p:nvPr/>
        </p:nvSpPr>
        <p:spPr>
          <a:xfrm>
            <a:off x="2798064" y="3081528"/>
            <a:ext cx="393192" cy="0"/>
          </a:xfrm>
          <a:prstGeom prst="line">
            <a:avLst/>
          </a:prstGeom>
          <a:noFill/>
          <a:ln w="20320">
            <a:solidFill>
              <a:srgbClr val="8B5E50"/>
            </a:solidFill>
            <a:prstDash val="solid"/>
            <a:tailEnd type="triangle"/>
          </a:ln>
        </p:spPr>
        <p:txBody>
          <a:bodyPr/>
          <a:lstStyle/>
          <a:p>
            <a:endParaRPr lang="en-US"/>
          </a:p>
        </p:txBody>
      </p:sp>
      <p:sp>
        <p:nvSpPr>
          <p:cNvPr id="9" name="Text 7"/>
          <p:cNvSpPr/>
          <p:nvPr/>
        </p:nvSpPr>
        <p:spPr>
          <a:xfrm>
            <a:off x="2724912" y="2743200"/>
            <a:ext cx="530352" cy="164592"/>
          </a:xfrm>
          <a:prstGeom prst="rect">
            <a:avLst/>
          </a:prstGeom>
          <a:noFill/>
          <a:ln/>
        </p:spPr>
        <p:txBody>
          <a:bodyPr wrap="square" lIns="0" tIns="0" rIns="0" bIns="0" rtlCol="0" anchor="ctr">
            <a:normAutofit/>
          </a:bodyPr>
          <a:lstStyle/>
          <a:p>
            <a:pPr marL="0" indent="0" algn="ctr">
              <a:buNone/>
            </a:pPr>
            <a:r>
              <a:rPr lang="en-US" sz="850" b="1" dirty="0">
                <a:solidFill>
                  <a:srgbClr val="8B5E50"/>
                </a:solidFill>
                <a:latin typeface="Aptos" pitchFamily="34" charset="0"/>
                <a:ea typeface="Aptos" pitchFamily="34" charset="-122"/>
                <a:cs typeface="Aptos" pitchFamily="34" charset="-120"/>
              </a:rPr>
              <a:t>zahtev</a:t>
            </a:r>
            <a:endParaRPr lang="en-US" sz="850" dirty="0"/>
          </a:p>
        </p:txBody>
      </p:sp>
      <p:sp>
        <p:nvSpPr>
          <p:cNvPr id="10" name="Shape 8"/>
          <p:cNvSpPr/>
          <p:nvPr/>
        </p:nvSpPr>
        <p:spPr>
          <a:xfrm>
            <a:off x="6345936" y="3081528"/>
            <a:ext cx="402336" cy="0"/>
          </a:xfrm>
          <a:prstGeom prst="line">
            <a:avLst/>
          </a:prstGeom>
          <a:noFill/>
          <a:ln w="20320">
            <a:solidFill>
              <a:srgbClr val="8B5E50"/>
            </a:solidFill>
            <a:prstDash val="solid"/>
            <a:tailEnd type="triangle"/>
          </a:ln>
        </p:spPr>
        <p:txBody>
          <a:bodyPr/>
          <a:lstStyle/>
          <a:p>
            <a:endParaRPr lang="en-US"/>
          </a:p>
        </p:txBody>
      </p:sp>
      <p:sp>
        <p:nvSpPr>
          <p:cNvPr id="11" name="Shape 9"/>
          <p:cNvSpPr/>
          <p:nvPr/>
        </p:nvSpPr>
        <p:spPr>
          <a:xfrm>
            <a:off x="6236208" y="2587752"/>
            <a:ext cx="630936" cy="292608"/>
          </a:xfrm>
          <a:prstGeom prst="roundRect">
            <a:avLst/>
          </a:prstGeom>
          <a:solidFill>
            <a:srgbClr val="EEE5DA"/>
          </a:solidFill>
          <a:ln w="12700">
            <a:solidFill>
              <a:srgbClr val="EEE5DA"/>
            </a:solidFill>
            <a:prstDash val="solid"/>
          </a:ln>
        </p:spPr>
        <p:txBody>
          <a:bodyPr/>
          <a:lstStyle/>
          <a:p>
            <a:endParaRPr lang="en-US"/>
          </a:p>
        </p:txBody>
      </p:sp>
      <p:sp>
        <p:nvSpPr>
          <p:cNvPr id="12" name="Text 10"/>
          <p:cNvSpPr/>
          <p:nvPr/>
        </p:nvSpPr>
        <p:spPr>
          <a:xfrm>
            <a:off x="6263640" y="2660904"/>
            <a:ext cx="576072" cy="128016"/>
          </a:xfrm>
          <a:prstGeom prst="rect">
            <a:avLst/>
          </a:prstGeom>
          <a:noFill/>
          <a:ln/>
        </p:spPr>
        <p:txBody>
          <a:bodyPr wrap="square" lIns="0" tIns="0" rIns="0" bIns="0" rtlCol="0" anchor="ctr">
            <a:normAutofit/>
          </a:bodyPr>
          <a:lstStyle/>
          <a:p>
            <a:pPr marL="0" indent="0" algn="ctr">
              <a:buNone/>
            </a:pPr>
            <a:r>
              <a:rPr lang="en-US" sz="680" b="1" dirty="0">
                <a:solidFill>
                  <a:srgbClr val="6E473B"/>
                </a:solidFill>
                <a:latin typeface="Aptos" pitchFamily="34" charset="0"/>
                <a:ea typeface="Aptos" pitchFamily="34" charset="-122"/>
                <a:cs typeface="Aptos" pitchFamily="34" charset="-120"/>
              </a:rPr>
              <a:t>POST /api/ai/*</a:t>
            </a:r>
            <a:endParaRPr lang="en-US" sz="680" dirty="0"/>
          </a:p>
        </p:txBody>
      </p:sp>
      <p:sp>
        <p:nvSpPr>
          <p:cNvPr id="13" name="Shape 11"/>
          <p:cNvSpPr/>
          <p:nvPr/>
        </p:nvSpPr>
        <p:spPr>
          <a:xfrm>
            <a:off x="9070848" y="3081528"/>
            <a:ext cx="365760" cy="0"/>
          </a:xfrm>
          <a:prstGeom prst="line">
            <a:avLst/>
          </a:prstGeom>
          <a:noFill/>
          <a:ln w="20320">
            <a:solidFill>
              <a:srgbClr val="8B5E50"/>
            </a:solidFill>
            <a:prstDash val="solid"/>
            <a:tailEnd type="triangle"/>
          </a:ln>
        </p:spPr>
        <p:txBody>
          <a:bodyPr/>
          <a:lstStyle/>
          <a:p>
            <a:endParaRPr lang="en-US"/>
          </a:p>
        </p:txBody>
      </p:sp>
      <p:sp>
        <p:nvSpPr>
          <p:cNvPr id="14" name="Text 12"/>
          <p:cNvSpPr/>
          <p:nvPr/>
        </p:nvSpPr>
        <p:spPr>
          <a:xfrm>
            <a:off x="9043416" y="2743200"/>
            <a:ext cx="429768" cy="164592"/>
          </a:xfrm>
          <a:prstGeom prst="rect">
            <a:avLst/>
          </a:prstGeom>
          <a:noFill/>
          <a:ln/>
        </p:spPr>
        <p:txBody>
          <a:bodyPr wrap="square" lIns="0" tIns="0" rIns="0" bIns="0" rtlCol="0" anchor="ctr">
            <a:normAutofit/>
          </a:bodyPr>
          <a:lstStyle/>
          <a:p>
            <a:pPr marL="0" indent="0" algn="ctr">
              <a:buNone/>
            </a:pPr>
            <a:r>
              <a:rPr lang="en-US" sz="850" b="1" dirty="0">
                <a:solidFill>
                  <a:srgbClr val="8B5E50"/>
                </a:solidFill>
                <a:latin typeface="Aptos" pitchFamily="34" charset="0"/>
                <a:ea typeface="Aptos" pitchFamily="34" charset="-122"/>
                <a:cs typeface="Aptos" pitchFamily="34" charset="-120"/>
              </a:rPr>
              <a:t>JSON</a:t>
            </a:r>
            <a:endParaRPr lang="en-US" sz="850" dirty="0"/>
          </a:p>
        </p:txBody>
      </p:sp>
      <p:sp>
        <p:nvSpPr>
          <p:cNvPr id="15" name="Shape 13"/>
          <p:cNvSpPr/>
          <p:nvPr/>
        </p:nvSpPr>
        <p:spPr>
          <a:xfrm>
            <a:off x="658368" y="2029968"/>
            <a:ext cx="2066544" cy="2157984"/>
          </a:xfrm>
          <a:prstGeom prst="roundRect">
            <a:avLst/>
          </a:prstGeom>
          <a:solidFill>
            <a:srgbClr val="FFFDFC"/>
          </a:solidFill>
          <a:ln w="12700">
            <a:solidFill>
              <a:srgbClr val="DED2C5"/>
            </a:solidFill>
            <a:prstDash val="solid"/>
          </a:ln>
          <a:effectLst>
            <a:outerShdw blurRad="16510" dist="50800" dir="2700000" algn="bl" rotWithShape="0">
              <a:srgbClr val="B9AA9B">
                <a:alpha val="10000"/>
              </a:srgbClr>
            </a:outerShdw>
          </a:effectLst>
        </p:spPr>
        <p:txBody>
          <a:bodyPr/>
          <a:lstStyle/>
          <a:p>
            <a:endParaRPr lang="en-US"/>
          </a:p>
        </p:txBody>
      </p:sp>
      <p:sp>
        <p:nvSpPr>
          <p:cNvPr id="16" name="Shape 14"/>
          <p:cNvSpPr/>
          <p:nvPr/>
        </p:nvSpPr>
        <p:spPr>
          <a:xfrm>
            <a:off x="1417320" y="2313432"/>
            <a:ext cx="548640" cy="548640"/>
          </a:xfrm>
          <a:prstGeom prst="ellipse">
            <a:avLst/>
          </a:prstGeom>
          <a:solidFill>
            <a:srgbClr val="4B91B8">
              <a:alpha val="18000"/>
            </a:srgbClr>
          </a:solidFill>
          <a:ln w="15240">
            <a:solidFill>
              <a:srgbClr val="4B91B8"/>
            </a:solidFill>
            <a:prstDash val="solid"/>
          </a:ln>
        </p:spPr>
        <p:txBody>
          <a:bodyPr/>
          <a:lstStyle/>
          <a:p>
            <a:endParaRPr lang="en-US"/>
          </a:p>
        </p:txBody>
      </p:sp>
      <p:sp>
        <p:nvSpPr>
          <p:cNvPr id="17" name="Text 15"/>
          <p:cNvSpPr/>
          <p:nvPr/>
        </p:nvSpPr>
        <p:spPr>
          <a:xfrm>
            <a:off x="1417320" y="2423160"/>
            <a:ext cx="548640" cy="256032"/>
          </a:xfrm>
          <a:prstGeom prst="rect">
            <a:avLst/>
          </a:prstGeom>
          <a:noFill/>
          <a:ln/>
        </p:spPr>
        <p:txBody>
          <a:bodyPr wrap="square" lIns="0" tIns="0" rIns="0" bIns="0" rtlCol="0" anchor="ctr">
            <a:normAutofit/>
          </a:bodyPr>
          <a:lstStyle/>
          <a:p>
            <a:pPr marL="0" indent="0" algn="ctr">
              <a:buNone/>
            </a:pPr>
            <a:r>
              <a:rPr lang="en-US" sz="1800" b="1" dirty="0">
                <a:solidFill>
                  <a:srgbClr val="4B91B8"/>
                </a:solidFill>
                <a:latin typeface="Georgia" pitchFamily="34" charset="0"/>
                <a:ea typeface="Georgia" pitchFamily="34" charset="-122"/>
                <a:cs typeface="Georgia" pitchFamily="34" charset="-120"/>
              </a:rPr>
              <a:t>?</a:t>
            </a:r>
            <a:endParaRPr lang="en-US" sz="1800" dirty="0"/>
          </a:p>
        </p:txBody>
      </p:sp>
      <p:sp>
        <p:nvSpPr>
          <p:cNvPr id="18" name="Text 16"/>
          <p:cNvSpPr/>
          <p:nvPr/>
        </p:nvSpPr>
        <p:spPr>
          <a:xfrm>
            <a:off x="886968" y="3127248"/>
            <a:ext cx="1609344" cy="219456"/>
          </a:xfrm>
          <a:prstGeom prst="rect">
            <a:avLst/>
          </a:prstGeom>
          <a:noFill/>
          <a:ln/>
        </p:spPr>
        <p:txBody>
          <a:bodyPr wrap="square" lIns="0" tIns="0" rIns="0" bIns="0" rtlCol="0" anchor="ctr">
            <a:normAutofit/>
          </a:bodyPr>
          <a:lstStyle/>
          <a:p>
            <a:pPr marL="0" indent="0" algn="ctr">
              <a:buNone/>
            </a:pPr>
            <a:r>
              <a:rPr lang="en-US" sz="950" b="1" kern="0" spc="70" dirty="0">
                <a:solidFill>
                  <a:srgbClr val="4B91B8"/>
                </a:solidFill>
                <a:latin typeface="Aptos" pitchFamily="34" charset="0"/>
                <a:ea typeface="Aptos" pitchFamily="34" charset="-122"/>
                <a:cs typeface="Aptos" pitchFamily="34" charset="-120"/>
              </a:rPr>
              <a:t>KORISNIČKI ZAHTEV</a:t>
            </a:r>
            <a:endParaRPr lang="en-US" sz="950" dirty="0"/>
          </a:p>
        </p:txBody>
      </p:sp>
      <p:sp>
        <p:nvSpPr>
          <p:cNvPr id="19" name="Text 17"/>
          <p:cNvSpPr/>
          <p:nvPr/>
        </p:nvSpPr>
        <p:spPr>
          <a:xfrm>
            <a:off x="886968" y="3493008"/>
            <a:ext cx="1609344" cy="310896"/>
          </a:xfrm>
          <a:prstGeom prst="rect">
            <a:avLst/>
          </a:prstGeom>
          <a:noFill/>
          <a:ln/>
        </p:spPr>
        <p:txBody>
          <a:bodyPr wrap="square" lIns="0" tIns="0" rIns="0" bIns="0" rtlCol="0" anchor="ctr">
            <a:normAutofit/>
          </a:bodyPr>
          <a:lstStyle/>
          <a:p>
            <a:pPr marL="0" indent="0" algn="ctr">
              <a:buNone/>
            </a:pPr>
            <a:r>
              <a:rPr lang="en-US" sz="1600" dirty="0">
                <a:solidFill>
                  <a:srgbClr val="352B26"/>
                </a:solidFill>
                <a:latin typeface="Georgia" pitchFamily="34" charset="0"/>
                <a:ea typeface="Georgia" pitchFamily="34" charset="-122"/>
                <a:cs typeface="Georgia" pitchFamily="34" charset="-120"/>
              </a:rPr>
              <a:t>Šta se dogodilo?</a:t>
            </a:r>
            <a:endParaRPr lang="en-US" sz="1600" dirty="0"/>
          </a:p>
        </p:txBody>
      </p:sp>
      <p:sp>
        <p:nvSpPr>
          <p:cNvPr id="20" name="Shape 18"/>
          <p:cNvSpPr/>
          <p:nvPr/>
        </p:nvSpPr>
        <p:spPr>
          <a:xfrm>
            <a:off x="3246120" y="1792224"/>
            <a:ext cx="3026664" cy="2633472"/>
          </a:xfrm>
          <a:prstGeom prst="roundRect">
            <a:avLst/>
          </a:prstGeom>
          <a:solidFill>
            <a:srgbClr val="FFFDFC"/>
          </a:solidFill>
          <a:ln w="12700">
            <a:solidFill>
              <a:srgbClr val="DED2C5"/>
            </a:solidFill>
            <a:prstDash val="solid"/>
          </a:ln>
          <a:effectLst>
            <a:outerShdw blurRad="20320" dist="50800" dir="2700000" algn="bl" rotWithShape="0">
              <a:srgbClr val="B9AA9B">
                <a:alpha val="14000"/>
              </a:srgbClr>
            </a:outerShdw>
          </a:effectLst>
        </p:spPr>
        <p:txBody>
          <a:bodyPr/>
          <a:lstStyle/>
          <a:p>
            <a:endParaRPr lang="en-US"/>
          </a:p>
        </p:txBody>
      </p:sp>
      <p:sp>
        <p:nvSpPr>
          <p:cNvPr id="21" name="Text 19"/>
          <p:cNvSpPr/>
          <p:nvPr/>
        </p:nvSpPr>
        <p:spPr>
          <a:xfrm>
            <a:off x="3566160" y="2075688"/>
            <a:ext cx="2386584" cy="219456"/>
          </a:xfrm>
          <a:prstGeom prst="rect">
            <a:avLst/>
          </a:prstGeom>
          <a:noFill/>
          <a:ln/>
        </p:spPr>
        <p:txBody>
          <a:bodyPr wrap="square" lIns="0" tIns="0" rIns="0" bIns="0" rtlCol="0" anchor="ctr">
            <a:normAutofit/>
          </a:bodyPr>
          <a:lstStyle/>
          <a:p>
            <a:pPr marL="0" indent="0" algn="ctr">
              <a:buNone/>
            </a:pPr>
            <a:r>
              <a:rPr lang="en-US" sz="1050" b="1" kern="0" spc="80" dirty="0">
                <a:solidFill>
                  <a:srgbClr val="328C8B"/>
                </a:solidFill>
                <a:latin typeface="Aptos" pitchFamily="34" charset="0"/>
                <a:ea typeface="Aptos" pitchFamily="34" charset="-122"/>
                <a:cs typeface="Aptos" pitchFamily="34" charset="-120"/>
              </a:rPr>
              <a:t>PATHFINDER SERVER</a:t>
            </a:r>
            <a:endParaRPr lang="en-US" sz="1050" dirty="0"/>
          </a:p>
        </p:txBody>
      </p:sp>
      <p:sp>
        <p:nvSpPr>
          <p:cNvPr id="22" name="Shape 20"/>
          <p:cNvSpPr/>
          <p:nvPr/>
        </p:nvSpPr>
        <p:spPr>
          <a:xfrm>
            <a:off x="3639312" y="2688336"/>
            <a:ext cx="201168" cy="201168"/>
          </a:xfrm>
          <a:prstGeom prst="ellipse">
            <a:avLst/>
          </a:prstGeom>
          <a:solidFill>
            <a:srgbClr val="328C8B"/>
          </a:solidFill>
          <a:ln w="12700">
            <a:solidFill>
              <a:srgbClr val="328C8B"/>
            </a:solidFill>
            <a:prstDash val="solid"/>
          </a:ln>
        </p:spPr>
        <p:txBody>
          <a:bodyPr/>
          <a:lstStyle/>
          <a:p>
            <a:endParaRPr lang="en-US"/>
          </a:p>
        </p:txBody>
      </p:sp>
      <p:sp>
        <p:nvSpPr>
          <p:cNvPr id="23" name="Text 21"/>
          <p:cNvSpPr/>
          <p:nvPr/>
        </p:nvSpPr>
        <p:spPr>
          <a:xfrm>
            <a:off x="3639312" y="2724912"/>
            <a:ext cx="201168" cy="146304"/>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Aptos" pitchFamily="34" charset="0"/>
                <a:ea typeface="Aptos" pitchFamily="34" charset="-122"/>
                <a:cs typeface="Aptos" pitchFamily="34" charset="-120"/>
              </a:rPr>
              <a:t>✓</a:t>
            </a:r>
            <a:endParaRPr lang="en-US" sz="850" dirty="0"/>
          </a:p>
        </p:txBody>
      </p:sp>
      <p:sp>
        <p:nvSpPr>
          <p:cNvPr id="24" name="Text 22"/>
          <p:cNvSpPr/>
          <p:nvPr/>
        </p:nvSpPr>
        <p:spPr>
          <a:xfrm>
            <a:off x="4023360" y="2651760"/>
            <a:ext cx="1828800" cy="237744"/>
          </a:xfrm>
          <a:prstGeom prst="rect">
            <a:avLst/>
          </a:prstGeom>
          <a:noFill/>
          <a:ln/>
        </p:spPr>
        <p:txBody>
          <a:bodyPr wrap="square" lIns="0" tIns="0" rIns="0" bIns="0" rtlCol="0" anchor="ctr">
            <a:normAutofit/>
          </a:bodyPr>
          <a:lstStyle/>
          <a:p>
            <a:pPr marL="0" indent="0">
              <a:buNone/>
            </a:pPr>
            <a:r>
              <a:rPr lang="en-US" sz="1250" dirty="0">
                <a:solidFill>
                  <a:srgbClr val="352B26"/>
                </a:solidFill>
                <a:latin typeface="Aptos" pitchFamily="34" charset="0"/>
                <a:ea typeface="Aptos" pitchFamily="34" charset="-122"/>
                <a:cs typeface="Aptos" pitchFamily="34" charset="-120"/>
              </a:rPr>
              <a:t>pokreće algoritam</a:t>
            </a:r>
            <a:endParaRPr lang="en-US" sz="1250" dirty="0"/>
          </a:p>
        </p:txBody>
      </p:sp>
      <p:sp>
        <p:nvSpPr>
          <p:cNvPr id="25" name="Shape 23"/>
          <p:cNvSpPr/>
          <p:nvPr/>
        </p:nvSpPr>
        <p:spPr>
          <a:xfrm>
            <a:off x="3639312" y="3172968"/>
            <a:ext cx="201168" cy="201168"/>
          </a:xfrm>
          <a:prstGeom prst="ellipse">
            <a:avLst/>
          </a:prstGeom>
          <a:solidFill>
            <a:srgbClr val="328C8B"/>
          </a:solidFill>
          <a:ln w="12700">
            <a:solidFill>
              <a:srgbClr val="328C8B"/>
            </a:solidFill>
            <a:prstDash val="solid"/>
          </a:ln>
        </p:spPr>
        <p:txBody>
          <a:bodyPr/>
          <a:lstStyle/>
          <a:p>
            <a:endParaRPr lang="en-US"/>
          </a:p>
        </p:txBody>
      </p:sp>
      <p:sp>
        <p:nvSpPr>
          <p:cNvPr id="26" name="Text 24"/>
          <p:cNvSpPr/>
          <p:nvPr/>
        </p:nvSpPr>
        <p:spPr>
          <a:xfrm>
            <a:off x="3639312" y="3209544"/>
            <a:ext cx="201168" cy="146304"/>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Aptos" pitchFamily="34" charset="0"/>
                <a:ea typeface="Aptos" pitchFamily="34" charset="-122"/>
                <a:cs typeface="Aptos" pitchFamily="34" charset="-120"/>
              </a:rPr>
              <a:t>✓</a:t>
            </a:r>
            <a:endParaRPr lang="en-US" sz="850" dirty="0"/>
          </a:p>
        </p:txBody>
      </p:sp>
      <p:sp>
        <p:nvSpPr>
          <p:cNvPr id="27" name="Text 25"/>
          <p:cNvSpPr/>
          <p:nvPr/>
        </p:nvSpPr>
        <p:spPr>
          <a:xfrm>
            <a:off x="4023360" y="3136392"/>
            <a:ext cx="1828800" cy="237744"/>
          </a:xfrm>
          <a:prstGeom prst="rect">
            <a:avLst/>
          </a:prstGeom>
          <a:noFill/>
          <a:ln/>
        </p:spPr>
        <p:txBody>
          <a:bodyPr wrap="square" lIns="0" tIns="0" rIns="0" bIns="0" rtlCol="0" anchor="ctr">
            <a:normAutofit/>
          </a:bodyPr>
          <a:lstStyle/>
          <a:p>
            <a:pPr marL="0" indent="0">
              <a:buNone/>
            </a:pPr>
            <a:r>
              <a:rPr lang="en-US" sz="1250" dirty="0">
                <a:solidFill>
                  <a:srgbClr val="352B26"/>
                </a:solidFill>
                <a:latin typeface="Aptos" pitchFamily="34" charset="0"/>
                <a:ea typeface="Aptos" pitchFamily="34" charset="-122"/>
                <a:cs typeface="Aptos" pitchFamily="34" charset="-120"/>
              </a:rPr>
              <a:t>proverava put i cenu</a:t>
            </a:r>
            <a:endParaRPr lang="en-US" sz="1250" dirty="0"/>
          </a:p>
        </p:txBody>
      </p:sp>
      <p:sp>
        <p:nvSpPr>
          <p:cNvPr id="28" name="Shape 26"/>
          <p:cNvSpPr/>
          <p:nvPr/>
        </p:nvSpPr>
        <p:spPr>
          <a:xfrm>
            <a:off x="3639312" y="3657600"/>
            <a:ext cx="201168" cy="201168"/>
          </a:xfrm>
          <a:prstGeom prst="ellipse">
            <a:avLst/>
          </a:prstGeom>
          <a:solidFill>
            <a:srgbClr val="328C8B"/>
          </a:solidFill>
          <a:ln w="12700">
            <a:solidFill>
              <a:srgbClr val="328C8B"/>
            </a:solidFill>
            <a:prstDash val="solid"/>
          </a:ln>
        </p:spPr>
        <p:txBody>
          <a:bodyPr/>
          <a:lstStyle/>
          <a:p>
            <a:endParaRPr lang="en-US"/>
          </a:p>
        </p:txBody>
      </p:sp>
      <p:sp>
        <p:nvSpPr>
          <p:cNvPr id="29" name="Text 27"/>
          <p:cNvSpPr/>
          <p:nvPr/>
        </p:nvSpPr>
        <p:spPr>
          <a:xfrm>
            <a:off x="3639312" y="3694176"/>
            <a:ext cx="201168" cy="146304"/>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Aptos" pitchFamily="34" charset="0"/>
                <a:ea typeface="Aptos" pitchFamily="34" charset="-122"/>
                <a:cs typeface="Aptos" pitchFamily="34" charset="-120"/>
              </a:rPr>
              <a:t>✓</a:t>
            </a:r>
            <a:endParaRPr lang="en-US" sz="850" dirty="0"/>
          </a:p>
        </p:txBody>
      </p:sp>
      <p:sp>
        <p:nvSpPr>
          <p:cNvPr id="30" name="Text 28"/>
          <p:cNvSpPr/>
          <p:nvPr/>
        </p:nvSpPr>
        <p:spPr>
          <a:xfrm>
            <a:off x="4023360" y="3621024"/>
            <a:ext cx="1828800" cy="237744"/>
          </a:xfrm>
          <a:prstGeom prst="rect">
            <a:avLst/>
          </a:prstGeom>
          <a:noFill/>
          <a:ln/>
        </p:spPr>
        <p:txBody>
          <a:bodyPr wrap="square" lIns="0" tIns="0" rIns="0" bIns="0" rtlCol="0" anchor="ctr">
            <a:normAutofit/>
          </a:bodyPr>
          <a:lstStyle/>
          <a:p>
            <a:pPr marL="0" indent="0">
              <a:buNone/>
            </a:pPr>
            <a:r>
              <a:rPr lang="en-US" sz="1250" dirty="0">
                <a:solidFill>
                  <a:srgbClr val="352B26"/>
                </a:solidFill>
                <a:latin typeface="Aptos" pitchFamily="34" charset="0"/>
                <a:ea typeface="Aptos" pitchFamily="34" charset="-122"/>
                <a:cs typeface="Aptos" pitchFamily="34" charset="-120"/>
              </a:rPr>
              <a:t>izdvaja ključne trenutke</a:t>
            </a:r>
            <a:endParaRPr lang="en-US" sz="1250" dirty="0"/>
          </a:p>
        </p:txBody>
      </p:sp>
      <p:sp>
        <p:nvSpPr>
          <p:cNvPr id="31" name="Shape 29"/>
          <p:cNvSpPr/>
          <p:nvPr/>
        </p:nvSpPr>
        <p:spPr>
          <a:xfrm>
            <a:off x="6821424" y="2029968"/>
            <a:ext cx="2157984" cy="2157984"/>
          </a:xfrm>
          <a:prstGeom prst="roundRect">
            <a:avLst/>
          </a:prstGeom>
          <a:solidFill>
            <a:srgbClr val="8066B5">
              <a:alpha val="9000"/>
            </a:srgbClr>
          </a:solidFill>
          <a:ln w="12700">
            <a:solidFill>
              <a:srgbClr val="8066B5">
                <a:alpha val="70000"/>
              </a:srgbClr>
            </a:solidFill>
            <a:prstDash val="solid"/>
          </a:ln>
        </p:spPr>
        <p:txBody>
          <a:bodyPr/>
          <a:lstStyle/>
          <a:p>
            <a:endParaRPr lang="en-US"/>
          </a:p>
        </p:txBody>
      </p:sp>
      <p:sp>
        <p:nvSpPr>
          <p:cNvPr id="32" name="Shape 30"/>
          <p:cNvSpPr/>
          <p:nvPr/>
        </p:nvSpPr>
        <p:spPr>
          <a:xfrm>
            <a:off x="7589520" y="2313432"/>
            <a:ext cx="621792" cy="621792"/>
          </a:xfrm>
          <a:prstGeom prst="ellipse">
            <a:avLst/>
          </a:prstGeom>
          <a:solidFill>
            <a:srgbClr val="8066B5"/>
          </a:solidFill>
          <a:ln w="12700">
            <a:solidFill>
              <a:srgbClr val="8066B5"/>
            </a:solidFill>
            <a:prstDash val="solid"/>
          </a:ln>
        </p:spPr>
        <p:txBody>
          <a:bodyPr/>
          <a:lstStyle/>
          <a:p>
            <a:endParaRPr lang="en-US"/>
          </a:p>
        </p:txBody>
      </p:sp>
      <p:sp>
        <p:nvSpPr>
          <p:cNvPr id="33" name="Text 31"/>
          <p:cNvSpPr/>
          <p:nvPr/>
        </p:nvSpPr>
        <p:spPr>
          <a:xfrm>
            <a:off x="7589520" y="2468880"/>
            <a:ext cx="621792" cy="219456"/>
          </a:xfrm>
          <a:prstGeom prst="rect">
            <a:avLst/>
          </a:prstGeom>
          <a:noFill/>
          <a:ln/>
        </p:spPr>
        <p:txBody>
          <a:bodyPr wrap="square" lIns="0" tIns="0" rIns="0" bIns="0" rtlCol="0" anchor="ctr">
            <a:norm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AI</a:t>
            </a:r>
            <a:endParaRPr lang="en-US" sz="1100" dirty="0"/>
          </a:p>
        </p:txBody>
      </p:sp>
      <p:sp>
        <p:nvSpPr>
          <p:cNvPr id="34" name="Text 32"/>
          <p:cNvSpPr/>
          <p:nvPr/>
        </p:nvSpPr>
        <p:spPr>
          <a:xfrm>
            <a:off x="7095744" y="3127248"/>
            <a:ext cx="1609344" cy="219456"/>
          </a:xfrm>
          <a:prstGeom prst="rect">
            <a:avLst/>
          </a:prstGeom>
          <a:noFill/>
          <a:ln/>
        </p:spPr>
        <p:txBody>
          <a:bodyPr wrap="square" lIns="0" tIns="0" rIns="0" bIns="0" rtlCol="0" anchor="ctr">
            <a:normAutofit/>
          </a:bodyPr>
          <a:lstStyle/>
          <a:p>
            <a:pPr marL="0" indent="0" algn="ctr">
              <a:buNone/>
            </a:pPr>
            <a:r>
              <a:rPr lang="en-US" sz="950" b="1" kern="0" spc="70" dirty="0">
                <a:solidFill>
                  <a:srgbClr val="8066B5"/>
                </a:solidFill>
                <a:latin typeface="Aptos" pitchFamily="34" charset="0"/>
                <a:ea typeface="Aptos" pitchFamily="34" charset="-122"/>
                <a:cs typeface="Aptos" pitchFamily="34" charset="-120"/>
              </a:rPr>
              <a:t>JEZIČKI MODEL</a:t>
            </a:r>
            <a:endParaRPr lang="en-US" sz="950" dirty="0"/>
          </a:p>
        </p:txBody>
      </p:sp>
      <p:sp>
        <p:nvSpPr>
          <p:cNvPr id="35" name="Text 33"/>
          <p:cNvSpPr/>
          <p:nvPr/>
        </p:nvSpPr>
        <p:spPr>
          <a:xfrm>
            <a:off x="7050024" y="3493008"/>
            <a:ext cx="1700784" cy="310896"/>
          </a:xfrm>
          <a:prstGeom prst="rect">
            <a:avLst/>
          </a:prstGeom>
          <a:noFill/>
          <a:ln/>
        </p:spPr>
        <p:txBody>
          <a:bodyPr wrap="square" lIns="0" tIns="0" rIns="0" bIns="0" rtlCol="0" anchor="ctr">
            <a:normAutofit/>
          </a:bodyPr>
          <a:lstStyle/>
          <a:p>
            <a:pPr marL="0" indent="0" algn="ctr">
              <a:buNone/>
            </a:pPr>
            <a:r>
              <a:rPr lang="en-US" sz="1550" dirty="0">
                <a:solidFill>
                  <a:srgbClr val="352B26"/>
                </a:solidFill>
                <a:latin typeface="Georgia" pitchFamily="34" charset="0"/>
                <a:ea typeface="Georgia" pitchFamily="34" charset="-122"/>
                <a:cs typeface="Georgia" pitchFamily="34" charset="-120"/>
              </a:rPr>
              <a:t>objašnjava kontekst</a:t>
            </a:r>
            <a:endParaRPr lang="en-US" sz="1550" dirty="0"/>
          </a:p>
        </p:txBody>
      </p:sp>
      <p:sp>
        <p:nvSpPr>
          <p:cNvPr id="36" name="Shape 34"/>
          <p:cNvSpPr/>
          <p:nvPr/>
        </p:nvSpPr>
        <p:spPr>
          <a:xfrm>
            <a:off x="9509760" y="2029968"/>
            <a:ext cx="2011680" cy="2157984"/>
          </a:xfrm>
          <a:prstGeom prst="roundRect">
            <a:avLst/>
          </a:prstGeom>
          <a:solidFill>
            <a:srgbClr val="FFFDFC"/>
          </a:solidFill>
          <a:ln w="12700">
            <a:solidFill>
              <a:srgbClr val="DED2C5"/>
            </a:solidFill>
            <a:prstDash val="solid"/>
          </a:ln>
          <a:effectLst>
            <a:outerShdw blurRad="16510" dist="50800" dir="2700000" algn="bl" rotWithShape="0">
              <a:srgbClr val="B9AA9B">
                <a:alpha val="10000"/>
              </a:srgbClr>
            </a:outerShdw>
          </a:effectLst>
        </p:spPr>
        <p:txBody>
          <a:bodyPr/>
          <a:lstStyle/>
          <a:p>
            <a:endParaRPr lang="en-US"/>
          </a:p>
        </p:txBody>
      </p:sp>
      <p:sp>
        <p:nvSpPr>
          <p:cNvPr id="37" name="Text 35"/>
          <p:cNvSpPr/>
          <p:nvPr/>
        </p:nvSpPr>
        <p:spPr>
          <a:xfrm>
            <a:off x="9756648" y="2313432"/>
            <a:ext cx="1517904" cy="219456"/>
          </a:xfrm>
          <a:prstGeom prst="rect">
            <a:avLst/>
          </a:prstGeom>
          <a:noFill/>
          <a:ln/>
        </p:spPr>
        <p:txBody>
          <a:bodyPr wrap="square" lIns="0" tIns="0" rIns="0" bIns="0" rtlCol="0" anchor="ctr">
            <a:normAutofit/>
          </a:bodyPr>
          <a:lstStyle/>
          <a:p>
            <a:pPr marL="0" indent="0" algn="ctr">
              <a:buNone/>
            </a:pPr>
            <a:r>
              <a:rPr lang="en-US" sz="950" b="1" kern="0" spc="70" dirty="0">
                <a:solidFill>
                  <a:srgbClr val="8B5E50"/>
                </a:solidFill>
                <a:latin typeface="Aptos" pitchFamily="34" charset="0"/>
                <a:ea typeface="Aptos" pitchFamily="34" charset="-122"/>
                <a:cs typeface="Aptos" pitchFamily="34" charset="-120"/>
              </a:rPr>
              <a:t>OBJAŠNJENJE</a:t>
            </a:r>
            <a:endParaRPr lang="en-US" sz="950" dirty="0"/>
          </a:p>
        </p:txBody>
      </p:sp>
      <p:sp>
        <p:nvSpPr>
          <p:cNvPr id="38" name="Shape 36"/>
          <p:cNvSpPr/>
          <p:nvPr/>
        </p:nvSpPr>
        <p:spPr>
          <a:xfrm>
            <a:off x="9765792" y="2816352"/>
            <a:ext cx="621792" cy="329184"/>
          </a:xfrm>
          <a:prstGeom prst="roundRect">
            <a:avLst/>
          </a:prstGeom>
          <a:solidFill>
            <a:srgbClr val="F3ECE4"/>
          </a:solidFill>
          <a:ln w="12700">
            <a:solidFill>
              <a:srgbClr val="DED2C5"/>
            </a:solidFill>
            <a:prstDash val="solid"/>
          </a:ln>
        </p:spPr>
        <p:txBody>
          <a:bodyPr/>
          <a:lstStyle/>
          <a:p>
            <a:endParaRPr lang="en-US"/>
          </a:p>
        </p:txBody>
      </p:sp>
      <p:sp>
        <p:nvSpPr>
          <p:cNvPr id="39" name="Text 37"/>
          <p:cNvSpPr/>
          <p:nvPr/>
        </p:nvSpPr>
        <p:spPr>
          <a:xfrm>
            <a:off x="9784080" y="2889504"/>
            <a:ext cx="585216" cy="164592"/>
          </a:xfrm>
          <a:prstGeom prst="rect">
            <a:avLst/>
          </a:prstGeom>
          <a:noFill/>
          <a:ln/>
        </p:spPr>
        <p:txBody>
          <a:bodyPr wrap="square" lIns="0" tIns="0" rIns="0" bIns="0" rtlCol="0" anchor="ctr">
            <a:normAutofit/>
          </a:bodyPr>
          <a:lstStyle/>
          <a:p>
            <a:pPr marL="0" indent="0" algn="ctr">
              <a:buNone/>
            </a:pPr>
            <a:r>
              <a:rPr lang="en-US" sz="850" b="1" dirty="0">
                <a:solidFill>
                  <a:srgbClr val="6E473B"/>
                </a:solidFill>
                <a:latin typeface="Aptos" pitchFamily="34" charset="0"/>
                <a:ea typeface="Aptos" pitchFamily="34" charset="-122"/>
                <a:cs typeface="Aptos" pitchFamily="34" charset="-120"/>
              </a:rPr>
              <a:t>Tutor</a:t>
            </a:r>
            <a:endParaRPr lang="en-US" sz="850" dirty="0"/>
          </a:p>
        </p:txBody>
      </p:sp>
      <p:sp>
        <p:nvSpPr>
          <p:cNvPr id="40" name="Shape 38"/>
          <p:cNvSpPr/>
          <p:nvPr/>
        </p:nvSpPr>
        <p:spPr>
          <a:xfrm>
            <a:off x="10460736" y="2816352"/>
            <a:ext cx="621792" cy="329184"/>
          </a:xfrm>
          <a:prstGeom prst="roundRect">
            <a:avLst/>
          </a:prstGeom>
          <a:solidFill>
            <a:srgbClr val="8066B5">
              <a:alpha val="12000"/>
            </a:srgbClr>
          </a:solidFill>
          <a:ln w="12700">
            <a:solidFill>
              <a:srgbClr val="DED2C5"/>
            </a:solidFill>
            <a:prstDash val="solid"/>
          </a:ln>
        </p:spPr>
        <p:txBody>
          <a:bodyPr/>
          <a:lstStyle/>
          <a:p>
            <a:endParaRPr lang="en-US"/>
          </a:p>
        </p:txBody>
      </p:sp>
      <p:sp>
        <p:nvSpPr>
          <p:cNvPr id="41" name="Text 39"/>
          <p:cNvSpPr/>
          <p:nvPr/>
        </p:nvSpPr>
        <p:spPr>
          <a:xfrm>
            <a:off x="10479024" y="2889504"/>
            <a:ext cx="585216" cy="164592"/>
          </a:xfrm>
          <a:prstGeom prst="rect">
            <a:avLst/>
          </a:prstGeom>
          <a:noFill/>
          <a:ln/>
        </p:spPr>
        <p:txBody>
          <a:bodyPr wrap="square" lIns="0" tIns="0" rIns="0" bIns="0" rtlCol="0" anchor="ctr">
            <a:normAutofit/>
          </a:bodyPr>
          <a:lstStyle/>
          <a:p>
            <a:pPr marL="0" indent="0" algn="ctr">
              <a:buNone/>
            </a:pPr>
            <a:r>
              <a:rPr lang="en-US" sz="850" b="1" dirty="0">
                <a:solidFill>
                  <a:srgbClr val="8066B5"/>
                </a:solidFill>
                <a:latin typeface="Aptos" pitchFamily="34" charset="0"/>
                <a:ea typeface="Aptos" pitchFamily="34" charset="-122"/>
                <a:cs typeface="Aptos" pitchFamily="34" charset="-120"/>
              </a:rPr>
              <a:t>Generator</a:t>
            </a:r>
            <a:endParaRPr lang="en-US" sz="850" dirty="0"/>
          </a:p>
        </p:txBody>
      </p:sp>
      <p:sp>
        <p:nvSpPr>
          <p:cNvPr id="42" name="Shape 40"/>
          <p:cNvSpPr/>
          <p:nvPr/>
        </p:nvSpPr>
        <p:spPr>
          <a:xfrm>
            <a:off x="9765792" y="3328416"/>
            <a:ext cx="621792" cy="329184"/>
          </a:xfrm>
          <a:prstGeom prst="roundRect">
            <a:avLst/>
          </a:prstGeom>
          <a:solidFill>
            <a:srgbClr val="F3ECE4"/>
          </a:solidFill>
          <a:ln w="12700">
            <a:solidFill>
              <a:srgbClr val="DED2C5"/>
            </a:solidFill>
            <a:prstDash val="solid"/>
          </a:ln>
        </p:spPr>
        <p:txBody>
          <a:bodyPr/>
          <a:lstStyle/>
          <a:p>
            <a:endParaRPr lang="en-US"/>
          </a:p>
        </p:txBody>
      </p:sp>
      <p:sp>
        <p:nvSpPr>
          <p:cNvPr id="43" name="Text 41"/>
          <p:cNvSpPr/>
          <p:nvPr/>
        </p:nvSpPr>
        <p:spPr>
          <a:xfrm>
            <a:off x="9784080" y="3401568"/>
            <a:ext cx="585216" cy="164592"/>
          </a:xfrm>
          <a:prstGeom prst="rect">
            <a:avLst/>
          </a:prstGeom>
          <a:noFill/>
          <a:ln/>
        </p:spPr>
        <p:txBody>
          <a:bodyPr wrap="square" lIns="0" tIns="0" rIns="0" bIns="0" rtlCol="0" anchor="ctr">
            <a:normAutofit/>
          </a:bodyPr>
          <a:lstStyle/>
          <a:p>
            <a:pPr marL="0" indent="0" algn="ctr">
              <a:buNone/>
            </a:pPr>
            <a:r>
              <a:rPr lang="en-US" sz="850" b="1" dirty="0">
                <a:solidFill>
                  <a:srgbClr val="6E473B"/>
                </a:solidFill>
                <a:latin typeface="Aptos" pitchFamily="34" charset="0"/>
                <a:ea typeface="Aptos" pitchFamily="34" charset="-122"/>
                <a:cs typeface="Aptos" pitchFamily="34" charset="-120"/>
              </a:rPr>
              <a:t>Preporuka</a:t>
            </a:r>
            <a:endParaRPr lang="en-US" sz="850" dirty="0"/>
          </a:p>
        </p:txBody>
      </p:sp>
      <p:sp>
        <p:nvSpPr>
          <p:cNvPr id="44" name="Shape 42"/>
          <p:cNvSpPr/>
          <p:nvPr/>
        </p:nvSpPr>
        <p:spPr>
          <a:xfrm>
            <a:off x="10460736" y="3328416"/>
            <a:ext cx="621792" cy="329184"/>
          </a:xfrm>
          <a:prstGeom prst="roundRect">
            <a:avLst/>
          </a:prstGeom>
          <a:solidFill>
            <a:srgbClr val="8066B5">
              <a:alpha val="12000"/>
            </a:srgbClr>
          </a:solidFill>
          <a:ln w="12700">
            <a:solidFill>
              <a:srgbClr val="DED2C5"/>
            </a:solidFill>
            <a:prstDash val="solid"/>
          </a:ln>
        </p:spPr>
        <p:txBody>
          <a:bodyPr/>
          <a:lstStyle/>
          <a:p>
            <a:endParaRPr lang="en-US"/>
          </a:p>
        </p:txBody>
      </p:sp>
      <p:sp>
        <p:nvSpPr>
          <p:cNvPr id="45" name="Text 43"/>
          <p:cNvSpPr/>
          <p:nvPr/>
        </p:nvSpPr>
        <p:spPr>
          <a:xfrm>
            <a:off x="10479024" y="3401568"/>
            <a:ext cx="585216" cy="164592"/>
          </a:xfrm>
          <a:prstGeom prst="rect">
            <a:avLst/>
          </a:prstGeom>
          <a:noFill/>
          <a:ln/>
        </p:spPr>
        <p:txBody>
          <a:bodyPr wrap="square" lIns="0" tIns="0" rIns="0" bIns="0" rtlCol="0" anchor="ctr">
            <a:normAutofit/>
          </a:bodyPr>
          <a:lstStyle/>
          <a:p>
            <a:pPr marL="0" indent="0" algn="ctr">
              <a:buNone/>
            </a:pPr>
            <a:r>
              <a:rPr lang="en-US" sz="850" b="1" dirty="0">
                <a:solidFill>
                  <a:srgbClr val="8066B5"/>
                </a:solidFill>
                <a:latin typeface="Aptos" pitchFamily="34" charset="0"/>
                <a:ea typeface="Aptos" pitchFamily="34" charset="-122"/>
                <a:cs typeface="Aptos" pitchFamily="34" charset="-120"/>
              </a:rPr>
              <a:t>Pomoć</a:t>
            </a:r>
            <a:endParaRPr lang="en-US" sz="850" dirty="0"/>
          </a:p>
        </p:txBody>
      </p:sp>
      <p:sp>
        <p:nvSpPr>
          <p:cNvPr id="46" name="Shape 44"/>
          <p:cNvSpPr/>
          <p:nvPr/>
        </p:nvSpPr>
        <p:spPr>
          <a:xfrm>
            <a:off x="1508760" y="5084064"/>
            <a:ext cx="9171432" cy="640080"/>
          </a:xfrm>
          <a:prstGeom prst="roundRect">
            <a:avLst/>
          </a:prstGeom>
          <a:solidFill>
            <a:srgbClr val="EEE5DA"/>
          </a:solidFill>
          <a:ln w="12700">
            <a:solidFill>
              <a:srgbClr val="EEE5DA"/>
            </a:solidFill>
            <a:prstDash val="solid"/>
          </a:ln>
        </p:spPr>
        <p:txBody>
          <a:bodyPr/>
          <a:lstStyle/>
          <a:p>
            <a:endParaRPr lang="en-US"/>
          </a:p>
        </p:txBody>
      </p:sp>
      <p:sp>
        <p:nvSpPr>
          <p:cNvPr id="47" name="Text 45"/>
          <p:cNvSpPr/>
          <p:nvPr/>
        </p:nvSpPr>
        <p:spPr>
          <a:xfrm>
            <a:off x="1810512" y="5248656"/>
            <a:ext cx="8567928" cy="292608"/>
          </a:xfrm>
          <a:prstGeom prst="rect">
            <a:avLst/>
          </a:prstGeom>
          <a:noFill/>
          <a:ln/>
        </p:spPr>
        <p:txBody>
          <a:bodyPr wrap="square" lIns="0" tIns="0" rIns="0" bIns="0" rtlCol="0" anchor="ctr">
            <a:normAutofit/>
          </a:bodyPr>
          <a:lstStyle/>
          <a:p>
            <a:pPr marL="0" indent="0" algn="ctr">
              <a:buNone/>
            </a:pPr>
            <a:r>
              <a:rPr lang="en-US" sz="1750" dirty="0">
                <a:solidFill>
                  <a:srgbClr val="6E473B"/>
                </a:solidFill>
                <a:latin typeface="Georgia" pitchFamily="34" charset="0"/>
                <a:ea typeface="Georgia" pitchFamily="34" charset="-122"/>
                <a:cs typeface="Georgia" pitchFamily="34" charset="-120"/>
              </a:rPr>
              <a:t>Tačno objašnjenje počinje tačnim, programski proverenim kontekstom.</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3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
          </a:xfrm>
          <a:prstGeom prst="rect">
            <a:avLst/>
          </a:prstGeom>
          <a:solidFill>
            <a:srgbClr val="8B5E50"/>
          </a:solidFill>
          <a:ln w="12700">
            <a:solidFill>
              <a:srgbClr val="8B5E50"/>
            </a:solidFill>
            <a:prstDash val="solid"/>
          </a:ln>
        </p:spPr>
        <p:txBody>
          <a:bodyPr/>
          <a:lstStyle/>
          <a:p>
            <a:endParaRPr lang="en-US"/>
          </a:p>
        </p:txBody>
      </p:sp>
      <p:sp>
        <p:nvSpPr>
          <p:cNvPr id="3" name="Text 1"/>
          <p:cNvSpPr/>
          <p:nvPr/>
        </p:nvSpPr>
        <p:spPr>
          <a:xfrm>
            <a:off x="658368" y="274320"/>
            <a:ext cx="6858000" cy="182880"/>
          </a:xfrm>
          <a:prstGeom prst="rect">
            <a:avLst/>
          </a:prstGeom>
          <a:noFill/>
          <a:ln/>
        </p:spPr>
        <p:txBody>
          <a:bodyPr wrap="square" lIns="0" tIns="0" rIns="0" bIns="0" rtlCol="0" anchor="ctr">
            <a:normAutofit/>
          </a:bodyPr>
          <a:lstStyle/>
          <a:p>
            <a:pPr marL="0" indent="0">
              <a:buNone/>
            </a:pPr>
            <a:r>
              <a:rPr lang="en-US" sz="1000" b="1" kern="0" spc="120" dirty="0">
                <a:solidFill>
                  <a:srgbClr val="8B5E50"/>
                </a:solidFill>
                <a:latin typeface="Aptos" pitchFamily="34" charset="0"/>
                <a:ea typeface="Aptos" pitchFamily="34" charset="-122"/>
                <a:cs typeface="Aptos" pitchFamily="34" charset="-120"/>
              </a:rPr>
              <a:t>METODOLOGIJA ISTRAŽIVANJA</a:t>
            </a:r>
            <a:endParaRPr lang="en-US" sz="1000" dirty="0"/>
          </a:p>
        </p:txBody>
      </p:sp>
      <p:sp>
        <p:nvSpPr>
          <p:cNvPr id="4" name="Shape 2"/>
          <p:cNvSpPr/>
          <p:nvPr/>
        </p:nvSpPr>
        <p:spPr>
          <a:xfrm>
            <a:off x="658368" y="6428232"/>
            <a:ext cx="10881360" cy="0"/>
          </a:xfrm>
          <a:prstGeom prst="line">
            <a:avLst/>
          </a:prstGeom>
          <a:noFill/>
          <a:ln w="10160">
            <a:solidFill>
              <a:srgbClr val="DED2C5"/>
            </a:solidFill>
            <a:prstDash val="solid"/>
          </a:ln>
        </p:spPr>
        <p:txBody>
          <a:bodyPr/>
          <a:lstStyle/>
          <a:p>
            <a:endParaRPr lang="en-US"/>
          </a:p>
        </p:txBody>
      </p:sp>
      <p:sp>
        <p:nvSpPr>
          <p:cNvPr id="5" name="Text 3"/>
          <p:cNvSpPr/>
          <p:nvPr/>
        </p:nvSpPr>
        <p:spPr>
          <a:xfrm>
            <a:off x="11045952" y="6492240"/>
            <a:ext cx="493776" cy="146304"/>
          </a:xfrm>
          <a:prstGeom prst="rect">
            <a:avLst/>
          </a:prstGeom>
          <a:noFill/>
          <a:ln/>
        </p:spPr>
        <p:txBody>
          <a:bodyPr wrap="square" lIns="0" tIns="0" rIns="0" bIns="0" rtlCol="0" anchor="ctr">
            <a:normAutofit/>
          </a:bodyPr>
          <a:lstStyle/>
          <a:p>
            <a:pPr marL="0" indent="0" algn="r">
              <a:buNone/>
            </a:pPr>
            <a:r>
              <a:rPr lang="en-US" sz="850" b="1" dirty="0">
                <a:solidFill>
                  <a:srgbClr val="786B62"/>
                </a:solidFill>
                <a:latin typeface="Aptos" pitchFamily="34" charset="0"/>
                <a:ea typeface="Aptos" pitchFamily="34" charset="-122"/>
                <a:cs typeface="Aptos" pitchFamily="34" charset="-120"/>
              </a:rPr>
              <a:t>08</a:t>
            </a:r>
            <a:endParaRPr lang="en-US" sz="850" dirty="0"/>
          </a:p>
        </p:txBody>
      </p:sp>
      <p:sp>
        <p:nvSpPr>
          <p:cNvPr id="6" name="Text 4"/>
          <p:cNvSpPr/>
          <p:nvPr/>
        </p:nvSpPr>
        <p:spPr>
          <a:xfrm>
            <a:off x="658368" y="694944"/>
            <a:ext cx="10789920" cy="658368"/>
          </a:xfrm>
          <a:prstGeom prst="rect">
            <a:avLst/>
          </a:prstGeom>
          <a:noFill/>
          <a:ln/>
        </p:spPr>
        <p:txBody>
          <a:bodyPr wrap="square" lIns="0" tIns="0" rIns="0" bIns="0" rtlCol="0" anchor="t">
            <a:normAutofit/>
          </a:bodyPr>
          <a:lstStyle/>
          <a:p>
            <a:pPr marL="0" indent="0">
              <a:buNone/>
            </a:pPr>
            <a:r>
              <a:rPr lang="en-US" sz="2900" dirty="0">
                <a:solidFill>
                  <a:srgbClr val="352B26"/>
                </a:solidFill>
                <a:latin typeface="Georgia" pitchFamily="34" charset="0"/>
                <a:ea typeface="Georgia" pitchFamily="34" charset="-122"/>
                <a:cs typeface="Georgia" pitchFamily="34" charset="-120"/>
              </a:rPr>
              <a:t>Od pitanja do merljivog rezultata.</a:t>
            </a:r>
            <a:endParaRPr lang="en-US" sz="2900" dirty="0"/>
          </a:p>
        </p:txBody>
      </p:sp>
      <p:sp>
        <p:nvSpPr>
          <p:cNvPr id="7" name="Text 5"/>
          <p:cNvSpPr/>
          <p:nvPr/>
        </p:nvSpPr>
        <p:spPr>
          <a:xfrm>
            <a:off x="676656" y="1344168"/>
            <a:ext cx="9784080" cy="347472"/>
          </a:xfrm>
          <a:prstGeom prst="rect">
            <a:avLst/>
          </a:prstGeom>
          <a:noFill/>
          <a:ln/>
        </p:spPr>
        <p:txBody>
          <a:bodyPr wrap="square" lIns="0" tIns="0" rIns="0" bIns="0" rtlCol="0" anchor="ctr">
            <a:normAutofit/>
          </a:bodyPr>
          <a:lstStyle/>
          <a:p>
            <a:pPr marL="0" indent="0">
              <a:buNone/>
            </a:pPr>
            <a:r>
              <a:rPr lang="en-US" sz="1650" dirty="0">
                <a:solidFill>
                  <a:srgbClr val="786B62"/>
                </a:solidFill>
                <a:latin typeface="Aptos" pitchFamily="34" charset="0"/>
                <a:ea typeface="Aptos" pitchFamily="34" charset="-122"/>
                <a:cs typeface="Aptos" pitchFamily="34" charset="-120"/>
              </a:rPr>
              <a:t>Metodologija pretvara demonstraciju u podatke koji mogu da se porede.</a:t>
            </a:r>
            <a:endParaRPr lang="en-US" sz="1650" dirty="0"/>
          </a:p>
        </p:txBody>
      </p:sp>
      <p:sp>
        <p:nvSpPr>
          <p:cNvPr id="8" name="Shape 6"/>
          <p:cNvSpPr/>
          <p:nvPr/>
        </p:nvSpPr>
        <p:spPr>
          <a:xfrm>
            <a:off x="9674352" y="841248"/>
            <a:ext cx="1636776" cy="347472"/>
          </a:xfrm>
          <a:prstGeom prst="roundRect">
            <a:avLst/>
          </a:prstGeom>
          <a:solidFill>
            <a:srgbClr val="328C8B">
              <a:alpha val="12000"/>
            </a:srgbClr>
          </a:solidFill>
          <a:ln w="12700">
            <a:solidFill>
              <a:srgbClr val="328C8B"/>
            </a:solidFill>
            <a:prstDash val="solid"/>
          </a:ln>
        </p:spPr>
        <p:txBody>
          <a:bodyPr/>
          <a:lstStyle/>
          <a:p>
            <a:endParaRPr lang="en-US"/>
          </a:p>
        </p:txBody>
      </p:sp>
      <p:sp>
        <p:nvSpPr>
          <p:cNvPr id="9" name="Text 7"/>
          <p:cNvSpPr/>
          <p:nvPr/>
        </p:nvSpPr>
        <p:spPr>
          <a:xfrm>
            <a:off x="9784080" y="923544"/>
            <a:ext cx="1417320" cy="164592"/>
          </a:xfrm>
          <a:prstGeom prst="rect">
            <a:avLst/>
          </a:prstGeom>
          <a:noFill/>
          <a:ln/>
        </p:spPr>
        <p:txBody>
          <a:bodyPr wrap="square" lIns="0" tIns="0" rIns="0" bIns="0" rtlCol="0" anchor="ctr">
            <a:normAutofit/>
          </a:bodyPr>
          <a:lstStyle/>
          <a:p>
            <a:pPr marL="0" indent="0" algn="ctr">
              <a:buNone/>
            </a:pPr>
            <a:r>
              <a:rPr lang="en-US" sz="870" b="1" kern="0" spc="35" dirty="0">
                <a:solidFill>
                  <a:srgbClr val="328C8B"/>
                </a:solidFill>
                <a:latin typeface="Aptos" pitchFamily="34" charset="0"/>
                <a:ea typeface="Aptos" pitchFamily="34" charset="-122"/>
                <a:cs typeface="Aptos" pitchFamily="34" charset="-120"/>
              </a:rPr>
              <a:t>UVOD U METRIKE  →</a:t>
            </a:r>
            <a:endParaRPr lang="en-US" sz="870" dirty="0"/>
          </a:p>
        </p:txBody>
      </p:sp>
      <p:sp>
        <p:nvSpPr>
          <p:cNvPr id="10" name="Shape 8"/>
          <p:cNvSpPr/>
          <p:nvPr/>
        </p:nvSpPr>
        <p:spPr>
          <a:xfrm>
            <a:off x="1344168" y="2112264"/>
            <a:ext cx="438912" cy="438912"/>
          </a:xfrm>
          <a:prstGeom prst="ellipse">
            <a:avLst/>
          </a:prstGeom>
          <a:solidFill>
            <a:srgbClr val="8B5E50"/>
          </a:solidFill>
          <a:ln w="12700">
            <a:solidFill>
              <a:srgbClr val="8B5E50"/>
            </a:solidFill>
            <a:prstDash val="solid"/>
          </a:ln>
        </p:spPr>
        <p:txBody>
          <a:bodyPr/>
          <a:lstStyle/>
          <a:p>
            <a:endParaRPr lang="en-US"/>
          </a:p>
        </p:txBody>
      </p:sp>
      <p:sp>
        <p:nvSpPr>
          <p:cNvPr id="11" name="Text 9"/>
          <p:cNvSpPr/>
          <p:nvPr/>
        </p:nvSpPr>
        <p:spPr>
          <a:xfrm>
            <a:off x="1344168" y="2153412"/>
            <a:ext cx="438912" cy="292608"/>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1</a:t>
            </a:r>
            <a:endParaRPr lang="en-US" sz="1200" dirty="0"/>
          </a:p>
        </p:txBody>
      </p:sp>
      <p:sp>
        <p:nvSpPr>
          <p:cNvPr id="12" name="Text 10"/>
          <p:cNvSpPr/>
          <p:nvPr/>
        </p:nvSpPr>
        <p:spPr>
          <a:xfrm>
            <a:off x="713232" y="2743200"/>
            <a:ext cx="1719072" cy="310896"/>
          </a:xfrm>
          <a:prstGeom prst="rect">
            <a:avLst/>
          </a:prstGeom>
          <a:noFill/>
          <a:ln/>
        </p:spPr>
        <p:txBody>
          <a:bodyPr wrap="square" lIns="0" tIns="0" rIns="0" bIns="0" rtlCol="0" anchor="ctr">
            <a:normAutofit/>
          </a:bodyPr>
          <a:lstStyle/>
          <a:p>
            <a:pPr marL="0" indent="0" algn="ctr">
              <a:buNone/>
            </a:pPr>
            <a:r>
              <a:rPr lang="en-US" sz="1700" dirty="0">
                <a:solidFill>
                  <a:srgbClr val="352B26"/>
                </a:solidFill>
                <a:latin typeface="Georgia" pitchFamily="34" charset="0"/>
                <a:ea typeface="Georgia" pitchFamily="34" charset="-122"/>
                <a:cs typeface="Georgia" pitchFamily="34" charset="-120"/>
              </a:rPr>
              <a:t>Pitanje</a:t>
            </a:r>
            <a:endParaRPr lang="en-US" sz="1700" dirty="0"/>
          </a:p>
        </p:txBody>
      </p:sp>
      <p:sp>
        <p:nvSpPr>
          <p:cNvPr id="13" name="Text 11"/>
          <p:cNvSpPr/>
          <p:nvPr/>
        </p:nvSpPr>
        <p:spPr>
          <a:xfrm>
            <a:off x="713232" y="3191256"/>
            <a:ext cx="1719072" cy="310896"/>
          </a:xfrm>
          <a:prstGeom prst="rect">
            <a:avLst/>
          </a:prstGeom>
          <a:noFill/>
          <a:ln/>
        </p:spPr>
        <p:txBody>
          <a:bodyPr wrap="square" lIns="0" tIns="0" rIns="0" bIns="0" rtlCol="0" anchor="ctr">
            <a:normAutofit/>
          </a:bodyPr>
          <a:lstStyle/>
          <a:p>
            <a:pPr marL="0" indent="0" algn="ctr">
              <a:buNone/>
            </a:pPr>
            <a:r>
              <a:rPr lang="en-US" sz="1300" dirty="0">
                <a:solidFill>
                  <a:srgbClr val="786B62"/>
                </a:solidFill>
                <a:latin typeface="Aptos" pitchFamily="34" charset="0"/>
                <a:ea typeface="Aptos" pitchFamily="34" charset="-122"/>
                <a:cs typeface="Aptos" pitchFamily="34" charset="-120"/>
              </a:rPr>
              <a:t>šta se menja?</a:t>
            </a:r>
            <a:endParaRPr lang="en-US" sz="1300" dirty="0"/>
          </a:p>
        </p:txBody>
      </p:sp>
      <p:sp>
        <p:nvSpPr>
          <p:cNvPr id="14" name="Shape 12"/>
          <p:cNvSpPr/>
          <p:nvPr/>
        </p:nvSpPr>
        <p:spPr>
          <a:xfrm>
            <a:off x="2386584" y="2331720"/>
            <a:ext cx="448056" cy="0"/>
          </a:xfrm>
          <a:prstGeom prst="line">
            <a:avLst/>
          </a:prstGeom>
          <a:noFill/>
          <a:ln w="19050">
            <a:solidFill>
              <a:srgbClr val="DED2C5"/>
            </a:solidFill>
            <a:prstDash val="solid"/>
            <a:tailEnd type="triangle"/>
          </a:ln>
        </p:spPr>
        <p:txBody>
          <a:bodyPr/>
          <a:lstStyle/>
          <a:p>
            <a:endParaRPr lang="en-US"/>
          </a:p>
        </p:txBody>
      </p:sp>
      <p:sp>
        <p:nvSpPr>
          <p:cNvPr id="15" name="Shape 13"/>
          <p:cNvSpPr/>
          <p:nvPr/>
        </p:nvSpPr>
        <p:spPr>
          <a:xfrm>
            <a:off x="3511296" y="2112264"/>
            <a:ext cx="438912" cy="438912"/>
          </a:xfrm>
          <a:prstGeom prst="ellipse">
            <a:avLst/>
          </a:prstGeom>
          <a:solidFill>
            <a:srgbClr val="4B91B8"/>
          </a:solidFill>
          <a:ln w="12700">
            <a:solidFill>
              <a:srgbClr val="4B91B8"/>
            </a:solidFill>
            <a:prstDash val="solid"/>
          </a:ln>
        </p:spPr>
        <p:txBody>
          <a:bodyPr/>
          <a:lstStyle/>
          <a:p>
            <a:endParaRPr lang="en-US"/>
          </a:p>
        </p:txBody>
      </p:sp>
      <p:sp>
        <p:nvSpPr>
          <p:cNvPr id="16" name="Text 14"/>
          <p:cNvSpPr/>
          <p:nvPr/>
        </p:nvSpPr>
        <p:spPr>
          <a:xfrm>
            <a:off x="3511296" y="2153412"/>
            <a:ext cx="438912" cy="292608"/>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2</a:t>
            </a:r>
            <a:endParaRPr lang="en-US" sz="1200" dirty="0"/>
          </a:p>
        </p:txBody>
      </p:sp>
      <p:sp>
        <p:nvSpPr>
          <p:cNvPr id="17" name="Text 15"/>
          <p:cNvSpPr/>
          <p:nvPr/>
        </p:nvSpPr>
        <p:spPr>
          <a:xfrm>
            <a:off x="2880360" y="2743200"/>
            <a:ext cx="1719072" cy="310896"/>
          </a:xfrm>
          <a:prstGeom prst="rect">
            <a:avLst/>
          </a:prstGeom>
          <a:noFill/>
          <a:ln/>
        </p:spPr>
        <p:txBody>
          <a:bodyPr wrap="square" lIns="0" tIns="0" rIns="0" bIns="0" rtlCol="0" anchor="ctr">
            <a:normAutofit/>
          </a:bodyPr>
          <a:lstStyle/>
          <a:p>
            <a:pPr marL="0" indent="0" algn="ctr">
              <a:buNone/>
            </a:pPr>
            <a:r>
              <a:rPr lang="en-US" sz="1700" dirty="0">
                <a:solidFill>
                  <a:srgbClr val="352B26"/>
                </a:solidFill>
                <a:latin typeface="Georgia" pitchFamily="34" charset="0"/>
                <a:ea typeface="Georgia" pitchFamily="34" charset="-122"/>
                <a:cs typeface="Georgia" pitchFamily="34" charset="-120"/>
              </a:rPr>
              <a:t>Scenario</a:t>
            </a:r>
            <a:endParaRPr lang="en-US" sz="1700" dirty="0"/>
          </a:p>
        </p:txBody>
      </p:sp>
      <p:sp>
        <p:nvSpPr>
          <p:cNvPr id="18" name="Text 16"/>
          <p:cNvSpPr/>
          <p:nvPr/>
        </p:nvSpPr>
        <p:spPr>
          <a:xfrm>
            <a:off x="2880360" y="3191256"/>
            <a:ext cx="1719072" cy="310896"/>
          </a:xfrm>
          <a:prstGeom prst="rect">
            <a:avLst/>
          </a:prstGeom>
          <a:noFill/>
          <a:ln/>
        </p:spPr>
        <p:txBody>
          <a:bodyPr wrap="square" lIns="0" tIns="0" rIns="0" bIns="0" rtlCol="0" anchor="ctr">
            <a:normAutofit/>
          </a:bodyPr>
          <a:lstStyle/>
          <a:p>
            <a:pPr marL="0" indent="0" algn="ctr">
              <a:buNone/>
            </a:pPr>
            <a:r>
              <a:rPr lang="en-US" sz="1300" dirty="0">
                <a:solidFill>
                  <a:srgbClr val="786B62"/>
                </a:solidFill>
                <a:latin typeface="Aptos" pitchFamily="34" charset="0"/>
                <a:ea typeface="Aptos" pitchFamily="34" charset="-122"/>
                <a:cs typeface="Aptos" pitchFamily="34" charset="-120"/>
              </a:rPr>
              <a:t>isti seed i mapa</a:t>
            </a:r>
            <a:endParaRPr lang="en-US" sz="1300" dirty="0"/>
          </a:p>
        </p:txBody>
      </p:sp>
      <p:sp>
        <p:nvSpPr>
          <p:cNvPr id="19" name="Shape 17"/>
          <p:cNvSpPr/>
          <p:nvPr/>
        </p:nvSpPr>
        <p:spPr>
          <a:xfrm>
            <a:off x="4553712" y="2331720"/>
            <a:ext cx="448056" cy="0"/>
          </a:xfrm>
          <a:prstGeom prst="line">
            <a:avLst/>
          </a:prstGeom>
          <a:noFill/>
          <a:ln w="19050">
            <a:solidFill>
              <a:srgbClr val="DED2C5"/>
            </a:solidFill>
            <a:prstDash val="solid"/>
            <a:tailEnd type="triangle"/>
          </a:ln>
        </p:spPr>
        <p:txBody>
          <a:bodyPr/>
          <a:lstStyle/>
          <a:p>
            <a:endParaRPr lang="en-US"/>
          </a:p>
        </p:txBody>
      </p:sp>
      <p:sp>
        <p:nvSpPr>
          <p:cNvPr id="20" name="Shape 18"/>
          <p:cNvSpPr/>
          <p:nvPr/>
        </p:nvSpPr>
        <p:spPr>
          <a:xfrm>
            <a:off x="5678424" y="2112264"/>
            <a:ext cx="438912" cy="438912"/>
          </a:xfrm>
          <a:prstGeom prst="ellipse">
            <a:avLst/>
          </a:prstGeom>
          <a:solidFill>
            <a:srgbClr val="328C8B"/>
          </a:solidFill>
          <a:ln w="12700">
            <a:solidFill>
              <a:srgbClr val="328C8B"/>
            </a:solidFill>
            <a:prstDash val="solid"/>
          </a:ln>
        </p:spPr>
        <p:txBody>
          <a:bodyPr/>
          <a:lstStyle/>
          <a:p>
            <a:endParaRPr lang="en-US"/>
          </a:p>
        </p:txBody>
      </p:sp>
      <p:sp>
        <p:nvSpPr>
          <p:cNvPr id="21" name="Text 19"/>
          <p:cNvSpPr/>
          <p:nvPr/>
        </p:nvSpPr>
        <p:spPr>
          <a:xfrm>
            <a:off x="5678424" y="2153412"/>
            <a:ext cx="438912" cy="292608"/>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3</a:t>
            </a:r>
            <a:endParaRPr lang="en-US" sz="1200" dirty="0"/>
          </a:p>
        </p:txBody>
      </p:sp>
      <p:sp>
        <p:nvSpPr>
          <p:cNvPr id="22" name="Text 20"/>
          <p:cNvSpPr/>
          <p:nvPr/>
        </p:nvSpPr>
        <p:spPr>
          <a:xfrm>
            <a:off x="5047488" y="2743200"/>
            <a:ext cx="1719072" cy="310896"/>
          </a:xfrm>
          <a:prstGeom prst="rect">
            <a:avLst/>
          </a:prstGeom>
          <a:noFill/>
          <a:ln/>
        </p:spPr>
        <p:txBody>
          <a:bodyPr wrap="square" lIns="0" tIns="0" rIns="0" bIns="0" rtlCol="0" anchor="ctr">
            <a:normAutofit/>
          </a:bodyPr>
          <a:lstStyle/>
          <a:p>
            <a:pPr marL="0" indent="0" algn="ctr">
              <a:buNone/>
            </a:pPr>
            <a:r>
              <a:rPr lang="en-US" sz="1700" dirty="0">
                <a:solidFill>
                  <a:srgbClr val="352B26"/>
                </a:solidFill>
                <a:latin typeface="Georgia" pitchFamily="34" charset="0"/>
                <a:ea typeface="Georgia" pitchFamily="34" charset="-122"/>
                <a:cs typeface="Georgia" pitchFamily="34" charset="-120"/>
              </a:rPr>
              <a:t>Pokretanje</a:t>
            </a:r>
            <a:endParaRPr lang="en-US" sz="1700" dirty="0"/>
          </a:p>
        </p:txBody>
      </p:sp>
      <p:sp>
        <p:nvSpPr>
          <p:cNvPr id="23" name="Text 21"/>
          <p:cNvSpPr/>
          <p:nvPr/>
        </p:nvSpPr>
        <p:spPr>
          <a:xfrm>
            <a:off x="5047488" y="3191256"/>
            <a:ext cx="1719072" cy="310896"/>
          </a:xfrm>
          <a:prstGeom prst="rect">
            <a:avLst/>
          </a:prstGeom>
          <a:noFill/>
          <a:ln/>
        </p:spPr>
        <p:txBody>
          <a:bodyPr wrap="square" lIns="0" tIns="0" rIns="0" bIns="0" rtlCol="0" anchor="ctr">
            <a:normAutofit/>
          </a:bodyPr>
          <a:lstStyle/>
          <a:p>
            <a:pPr marL="0" indent="0" algn="ctr">
              <a:buNone/>
            </a:pPr>
            <a:r>
              <a:rPr lang="en-US" sz="1300" dirty="0">
                <a:solidFill>
                  <a:srgbClr val="786B62"/>
                </a:solidFill>
                <a:latin typeface="Aptos" pitchFamily="34" charset="0"/>
                <a:ea typeface="Aptos" pitchFamily="34" charset="-122"/>
                <a:cs typeface="Aptos" pitchFamily="34" charset="-120"/>
              </a:rPr>
              <a:t>isti uslovi</a:t>
            </a:r>
            <a:endParaRPr lang="en-US" sz="1300" dirty="0"/>
          </a:p>
        </p:txBody>
      </p:sp>
      <p:sp>
        <p:nvSpPr>
          <p:cNvPr id="24" name="Shape 22"/>
          <p:cNvSpPr/>
          <p:nvPr/>
        </p:nvSpPr>
        <p:spPr>
          <a:xfrm>
            <a:off x="6720840" y="2331720"/>
            <a:ext cx="448056" cy="0"/>
          </a:xfrm>
          <a:prstGeom prst="line">
            <a:avLst/>
          </a:prstGeom>
          <a:noFill/>
          <a:ln w="19050">
            <a:solidFill>
              <a:srgbClr val="DED2C5"/>
            </a:solidFill>
            <a:prstDash val="solid"/>
            <a:tailEnd type="triangle"/>
          </a:ln>
        </p:spPr>
        <p:txBody>
          <a:bodyPr/>
          <a:lstStyle/>
          <a:p>
            <a:endParaRPr lang="en-US"/>
          </a:p>
        </p:txBody>
      </p:sp>
      <p:sp>
        <p:nvSpPr>
          <p:cNvPr id="25" name="Shape 23"/>
          <p:cNvSpPr/>
          <p:nvPr/>
        </p:nvSpPr>
        <p:spPr>
          <a:xfrm>
            <a:off x="7845552" y="2112264"/>
            <a:ext cx="438912" cy="438912"/>
          </a:xfrm>
          <a:prstGeom prst="ellipse">
            <a:avLst/>
          </a:prstGeom>
          <a:solidFill>
            <a:srgbClr val="D49A32"/>
          </a:solidFill>
          <a:ln w="12700">
            <a:solidFill>
              <a:srgbClr val="D49A32"/>
            </a:solidFill>
            <a:prstDash val="solid"/>
          </a:ln>
        </p:spPr>
        <p:txBody>
          <a:bodyPr/>
          <a:lstStyle/>
          <a:p>
            <a:endParaRPr lang="en-US"/>
          </a:p>
        </p:txBody>
      </p:sp>
      <p:sp>
        <p:nvSpPr>
          <p:cNvPr id="26" name="Text 24"/>
          <p:cNvSpPr/>
          <p:nvPr/>
        </p:nvSpPr>
        <p:spPr>
          <a:xfrm>
            <a:off x="7845552" y="2153412"/>
            <a:ext cx="438912" cy="292608"/>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4</a:t>
            </a:r>
            <a:endParaRPr lang="en-US" sz="1200" dirty="0"/>
          </a:p>
        </p:txBody>
      </p:sp>
      <p:sp>
        <p:nvSpPr>
          <p:cNvPr id="27" name="Text 25"/>
          <p:cNvSpPr/>
          <p:nvPr/>
        </p:nvSpPr>
        <p:spPr>
          <a:xfrm>
            <a:off x="7214616" y="2743200"/>
            <a:ext cx="1719072" cy="310896"/>
          </a:xfrm>
          <a:prstGeom prst="rect">
            <a:avLst/>
          </a:prstGeom>
          <a:noFill/>
          <a:ln/>
        </p:spPr>
        <p:txBody>
          <a:bodyPr wrap="square" lIns="0" tIns="0" rIns="0" bIns="0" rtlCol="0" anchor="ctr">
            <a:normAutofit/>
          </a:bodyPr>
          <a:lstStyle/>
          <a:p>
            <a:pPr marL="0" indent="0" algn="ctr">
              <a:buNone/>
            </a:pPr>
            <a:r>
              <a:rPr lang="en-US" sz="1700" dirty="0">
                <a:solidFill>
                  <a:srgbClr val="352B26"/>
                </a:solidFill>
                <a:latin typeface="Georgia" pitchFamily="34" charset="0"/>
                <a:ea typeface="Georgia" pitchFamily="34" charset="-122"/>
                <a:cs typeface="Georgia" pitchFamily="34" charset="-120"/>
              </a:rPr>
              <a:t>Sirovi podaci</a:t>
            </a:r>
            <a:endParaRPr lang="en-US" sz="1700" dirty="0"/>
          </a:p>
        </p:txBody>
      </p:sp>
      <p:sp>
        <p:nvSpPr>
          <p:cNvPr id="28" name="Text 26"/>
          <p:cNvSpPr/>
          <p:nvPr/>
        </p:nvSpPr>
        <p:spPr>
          <a:xfrm>
            <a:off x="7214616" y="3191256"/>
            <a:ext cx="1719072" cy="310896"/>
          </a:xfrm>
          <a:prstGeom prst="rect">
            <a:avLst/>
          </a:prstGeom>
          <a:noFill/>
          <a:ln/>
        </p:spPr>
        <p:txBody>
          <a:bodyPr wrap="square" lIns="0" tIns="0" rIns="0" bIns="0" rtlCol="0" anchor="ctr">
            <a:normAutofit/>
          </a:bodyPr>
          <a:lstStyle/>
          <a:p>
            <a:pPr marL="0" indent="0" algn="ctr">
              <a:buNone/>
            </a:pPr>
            <a:r>
              <a:rPr lang="en-US" sz="1300" dirty="0">
                <a:solidFill>
                  <a:srgbClr val="786B62"/>
                </a:solidFill>
                <a:latin typeface="Aptos" pitchFamily="34" charset="0"/>
                <a:ea typeface="Aptos" pitchFamily="34" charset="-122"/>
                <a:cs typeface="Aptos" pitchFamily="34" charset="-120"/>
              </a:rPr>
              <a:t>svaki rezultat</a:t>
            </a:r>
            <a:endParaRPr lang="en-US" sz="1300" dirty="0"/>
          </a:p>
        </p:txBody>
      </p:sp>
      <p:sp>
        <p:nvSpPr>
          <p:cNvPr id="29" name="Shape 27"/>
          <p:cNvSpPr/>
          <p:nvPr/>
        </p:nvSpPr>
        <p:spPr>
          <a:xfrm>
            <a:off x="8887968" y="2331720"/>
            <a:ext cx="448056" cy="0"/>
          </a:xfrm>
          <a:prstGeom prst="line">
            <a:avLst/>
          </a:prstGeom>
          <a:noFill/>
          <a:ln w="19050">
            <a:solidFill>
              <a:srgbClr val="DED2C5"/>
            </a:solidFill>
            <a:prstDash val="solid"/>
            <a:tailEnd type="triangle"/>
          </a:ln>
        </p:spPr>
        <p:txBody>
          <a:bodyPr/>
          <a:lstStyle/>
          <a:p>
            <a:endParaRPr lang="en-US"/>
          </a:p>
        </p:txBody>
      </p:sp>
      <p:sp>
        <p:nvSpPr>
          <p:cNvPr id="30" name="Shape 28"/>
          <p:cNvSpPr/>
          <p:nvPr/>
        </p:nvSpPr>
        <p:spPr>
          <a:xfrm>
            <a:off x="10012680" y="2112264"/>
            <a:ext cx="438912" cy="438912"/>
          </a:xfrm>
          <a:prstGeom prst="ellipse">
            <a:avLst/>
          </a:prstGeom>
          <a:solidFill>
            <a:srgbClr val="8066B5"/>
          </a:solidFill>
          <a:ln w="12700">
            <a:solidFill>
              <a:srgbClr val="8066B5"/>
            </a:solidFill>
            <a:prstDash val="solid"/>
          </a:ln>
        </p:spPr>
        <p:txBody>
          <a:bodyPr/>
          <a:lstStyle/>
          <a:p>
            <a:endParaRPr lang="en-US"/>
          </a:p>
        </p:txBody>
      </p:sp>
      <p:sp>
        <p:nvSpPr>
          <p:cNvPr id="31" name="Text 29"/>
          <p:cNvSpPr/>
          <p:nvPr/>
        </p:nvSpPr>
        <p:spPr>
          <a:xfrm>
            <a:off x="10012680" y="2153412"/>
            <a:ext cx="438912" cy="292608"/>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5</a:t>
            </a:r>
            <a:endParaRPr lang="en-US" sz="1200" dirty="0"/>
          </a:p>
        </p:txBody>
      </p:sp>
      <p:sp>
        <p:nvSpPr>
          <p:cNvPr id="32" name="Text 30"/>
          <p:cNvSpPr/>
          <p:nvPr/>
        </p:nvSpPr>
        <p:spPr>
          <a:xfrm>
            <a:off x="9381744" y="2743200"/>
            <a:ext cx="1719072" cy="310896"/>
          </a:xfrm>
          <a:prstGeom prst="rect">
            <a:avLst/>
          </a:prstGeom>
          <a:noFill/>
          <a:ln/>
        </p:spPr>
        <p:txBody>
          <a:bodyPr wrap="square" lIns="0" tIns="0" rIns="0" bIns="0" rtlCol="0" anchor="ctr">
            <a:normAutofit/>
          </a:bodyPr>
          <a:lstStyle/>
          <a:p>
            <a:pPr marL="0" indent="0" algn="ctr">
              <a:buNone/>
            </a:pPr>
            <a:r>
              <a:rPr lang="en-US" sz="1700" dirty="0">
                <a:solidFill>
                  <a:srgbClr val="352B26"/>
                </a:solidFill>
                <a:latin typeface="Georgia" pitchFamily="34" charset="0"/>
                <a:ea typeface="Georgia" pitchFamily="34" charset="-122"/>
                <a:cs typeface="Georgia" pitchFamily="34" charset="-120"/>
              </a:rPr>
              <a:t>Zaključak</a:t>
            </a:r>
            <a:endParaRPr lang="en-US" sz="1700" dirty="0"/>
          </a:p>
        </p:txBody>
      </p:sp>
      <p:sp>
        <p:nvSpPr>
          <p:cNvPr id="33" name="Text 31"/>
          <p:cNvSpPr/>
          <p:nvPr/>
        </p:nvSpPr>
        <p:spPr>
          <a:xfrm>
            <a:off x="9381744" y="3191256"/>
            <a:ext cx="1719072" cy="310896"/>
          </a:xfrm>
          <a:prstGeom prst="rect">
            <a:avLst/>
          </a:prstGeom>
          <a:noFill/>
          <a:ln/>
        </p:spPr>
        <p:txBody>
          <a:bodyPr wrap="square" lIns="0" tIns="0" rIns="0" bIns="0" rtlCol="0" anchor="ctr">
            <a:normAutofit/>
          </a:bodyPr>
          <a:lstStyle/>
          <a:p>
            <a:pPr marL="0" indent="0" algn="ctr">
              <a:buNone/>
            </a:pPr>
            <a:r>
              <a:rPr lang="en-US" sz="1300" dirty="0">
                <a:solidFill>
                  <a:srgbClr val="786B62"/>
                </a:solidFill>
                <a:latin typeface="Aptos" pitchFamily="34" charset="0"/>
                <a:ea typeface="Aptos" pitchFamily="34" charset="-122"/>
                <a:cs typeface="Aptos" pitchFamily="34" charset="-120"/>
              </a:rPr>
              <a:t>statistička obrada</a:t>
            </a:r>
            <a:endParaRPr lang="en-US" sz="1300" dirty="0"/>
          </a:p>
        </p:txBody>
      </p:sp>
      <p:sp>
        <p:nvSpPr>
          <p:cNvPr id="34" name="Shape 32"/>
          <p:cNvSpPr/>
          <p:nvPr/>
        </p:nvSpPr>
        <p:spPr>
          <a:xfrm>
            <a:off x="749808" y="3941064"/>
            <a:ext cx="10680192" cy="0"/>
          </a:xfrm>
          <a:prstGeom prst="line">
            <a:avLst/>
          </a:prstGeom>
          <a:noFill/>
          <a:ln w="12700">
            <a:solidFill>
              <a:srgbClr val="DED2C5"/>
            </a:solidFill>
            <a:prstDash val="solid"/>
          </a:ln>
        </p:spPr>
        <p:txBody>
          <a:bodyPr/>
          <a:lstStyle/>
          <a:p>
            <a:endParaRPr lang="en-US"/>
          </a:p>
        </p:txBody>
      </p:sp>
      <p:sp>
        <p:nvSpPr>
          <p:cNvPr id="35" name="Shape 33"/>
          <p:cNvSpPr/>
          <p:nvPr/>
        </p:nvSpPr>
        <p:spPr>
          <a:xfrm>
            <a:off x="932688" y="4270248"/>
            <a:ext cx="2633472" cy="1024128"/>
          </a:xfrm>
          <a:prstGeom prst="roundRect">
            <a:avLst/>
          </a:prstGeom>
          <a:solidFill>
            <a:srgbClr val="FFFDFC"/>
          </a:solidFill>
          <a:ln w="12700">
            <a:solidFill>
              <a:srgbClr val="DED2C5"/>
            </a:solidFill>
            <a:prstDash val="solid"/>
          </a:ln>
        </p:spPr>
        <p:txBody>
          <a:bodyPr/>
          <a:lstStyle/>
          <a:p>
            <a:endParaRPr lang="en-US"/>
          </a:p>
        </p:txBody>
      </p:sp>
      <p:sp>
        <p:nvSpPr>
          <p:cNvPr id="36" name="Text 34"/>
          <p:cNvSpPr/>
          <p:nvPr/>
        </p:nvSpPr>
        <p:spPr>
          <a:xfrm>
            <a:off x="932688" y="4379976"/>
            <a:ext cx="2633472" cy="457200"/>
          </a:xfrm>
          <a:prstGeom prst="rect">
            <a:avLst/>
          </a:prstGeom>
          <a:noFill/>
          <a:ln/>
        </p:spPr>
        <p:txBody>
          <a:bodyPr wrap="square" lIns="0" tIns="0" rIns="0" bIns="0" rtlCol="0" anchor="ctr">
            <a:normAutofit/>
          </a:bodyPr>
          <a:lstStyle/>
          <a:p>
            <a:pPr marL="0" indent="0" algn="ctr">
              <a:buNone/>
            </a:pPr>
            <a:r>
              <a:rPr lang="en-US" sz="2900" dirty="0">
                <a:solidFill>
                  <a:srgbClr val="8B5E50"/>
                </a:solidFill>
                <a:latin typeface="Georgia" pitchFamily="34" charset="0"/>
                <a:ea typeface="Georgia" pitchFamily="34" charset="-122"/>
                <a:cs typeface="Georgia" pitchFamily="34" charset="-120"/>
              </a:rPr>
              <a:t>9.444</a:t>
            </a:r>
            <a:endParaRPr lang="en-US" sz="2900" dirty="0"/>
          </a:p>
        </p:txBody>
      </p:sp>
      <p:sp>
        <p:nvSpPr>
          <p:cNvPr id="37" name="Text 35"/>
          <p:cNvSpPr/>
          <p:nvPr/>
        </p:nvSpPr>
        <p:spPr>
          <a:xfrm>
            <a:off x="1069848" y="4846320"/>
            <a:ext cx="2359152" cy="237744"/>
          </a:xfrm>
          <a:prstGeom prst="rect">
            <a:avLst/>
          </a:prstGeom>
          <a:noFill/>
          <a:ln/>
        </p:spPr>
        <p:txBody>
          <a:bodyPr wrap="square" lIns="0" tIns="0" rIns="0" bIns="0" rtlCol="0" anchor="ctr">
            <a:normAutofit/>
          </a:bodyPr>
          <a:lstStyle/>
          <a:p>
            <a:pPr marL="0" indent="0" algn="ctr">
              <a:buNone/>
            </a:pPr>
            <a:r>
              <a:rPr lang="en-US" sz="1250" dirty="0">
                <a:solidFill>
                  <a:srgbClr val="786B62"/>
                </a:solidFill>
                <a:latin typeface="Aptos" pitchFamily="34" charset="0"/>
                <a:ea typeface="Aptos" pitchFamily="34" charset="-122"/>
                <a:cs typeface="Aptos" pitchFamily="34" charset="-120"/>
              </a:rPr>
              <a:t>simulacije algoritama</a:t>
            </a:r>
            <a:endParaRPr lang="en-US" sz="1250" dirty="0"/>
          </a:p>
        </p:txBody>
      </p:sp>
      <p:sp>
        <p:nvSpPr>
          <p:cNvPr id="38" name="Shape 36"/>
          <p:cNvSpPr/>
          <p:nvPr/>
        </p:nvSpPr>
        <p:spPr>
          <a:xfrm>
            <a:off x="4315968" y="4270248"/>
            <a:ext cx="2633472" cy="1024128"/>
          </a:xfrm>
          <a:prstGeom prst="roundRect">
            <a:avLst/>
          </a:prstGeom>
          <a:solidFill>
            <a:srgbClr val="FFFDFC"/>
          </a:solidFill>
          <a:ln w="12700">
            <a:solidFill>
              <a:srgbClr val="DED2C5"/>
            </a:solidFill>
            <a:prstDash val="solid"/>
          </a:ln>
        </p:spPr>
        <p:txBody>
          <a:bodyPr/>
          <a:lstStyle/>
          <a:p>
            <a:endParaRPr lang="en-US"/>
          </a:p>
        </p:txBody>
      </p:sp>
      <p:sp>
        <p:nvSpPr>
          <p:cNvPr id="39" name="Text 37"/>
          <p:cNvSpPr/>
          <p:nvPr/>
        </p:nvSpPr>
        <p:spPr>
          <a:xfrm>
            <a:off x="4315968" y="4379976"/>
            <a:ext cx="2633472" cy="457200"/>
          </a:xfrm>
          <a:prstGeom prst="rect">
            <a:avLst/>
          </a:prstGeom>
          <a:noFill/>
          <a:ln/>
        </p:spPr>
        <p:txBody>
          <a:bodyPr wrap="square" lIns="0" tIns="0" rIns="0" bIns="0" rtlCol="0" anchor="ctr">
            <a:normAutofit/>
          </a:bodyPr>
          <a:lstStyle/>
          <a:p>
            <a:pPr marL="0" indent="0" algn="ctr">
              <a:buNone/>
            </a:pPr>
            <a:r>
              <a:rPr lang="en-US" sz="2900" dirty="0">
                <a:solidFill>
                  <a:srgbClr val="D49A32"/>
                </a:solidFill>
                <a:latin typeface="Georgia" pitchFamily="34" charset="0"/>
                <a:ea typeface="Georgia" pitchFamily="34" charset="-122"/>
                <a:cs typeface="Georgia" pitchFamily="34" charset="-120"/>
              </a:rPr>
              <a:t>11.250</a:t>
            </a:r>
            <a:endParaRPr lang="en-US" sz="2900" dirty="0"/>
          </a:p>
        </p:txBody>
      </p:sp>
      <p:sp>
        <p:nvSpPr>
          <p:cNvPr id="40" name="Text 38"/>
          <p:cNvSpPr/>
          <p:nvPr/>
        </p:nvSpPr>
        <p:spPr>
          <a:xfrm>
            <a:off x="4453128" y="4846320"/>
            <a:ext cx="2359152" cy="237744"/>
          </a:xfrm>
          <a:prstGeom prst="rect">
            <a:avLst/>
          </a:prstGeom>
          <a:noFill/>
          <a:ln/>
        </p:spPr>
        <p:txBody>
          <a:bodyPr wrap="square" lIns="0" tIns="0" rIns="0" bIns="0" rtlCol="0" anchor="ctr">
            <a:normAutofit/>
          </a:bodyPr>
          <a:lstStyle/>
          <a:p>
            <a:pPr marL="0" indent="0" algn="ctr">
              <a:buNone/>
            </a:pPr>
            <a:r>
              <a:rPr lang="en-US" sz="1250" dirty="0">
                <a:solidFill>
                  <a:srgbClr val="786B62"/>
                </a:solidFill>
                <a:latin typeface="Aptos" pitchFamily="34" charset="0"/>
                <a:ea typeface="Aptos" pitchFamily="34" charset="-122"/>
                <a:cs typeface="Aptos" pitchFamily="34" charset="-120"/>
              </a:rPr>
              <a:t>simulacije bodovanja</a:t>
            </a:r>
            <a:endParaRPr lang="en-US" sz="1250" dirty="0"/>
          </a:p>
        </p:txBody>
      </p:sp>
      <p:sp>
        <p:nvSpPr>
          <p:cNvPr id="41" name="Shape 39"/>
          <p:cNvSpPr/>
          <p:nvPr/>
        </p:nvSpPr>
        <p:spPr>
          <a:xfrm>
            <a:off x="7699248" y="4270248"/>
            <a:ext cx="2633472" cy="1024128"/>
          </a:xfrm>
          <a:prstGeom prst="roundRect">
            <a:avLst/>
          </a:prstGeom>
          <a:solidFill>
            <a:srgbClr val="FFFDFC"/>
          </a:solidFill>
          <a:ln w="12700">
            <a:solidFill>
              <a:srgbClr val="DED2C5"/>
            </a:solidFill>
            <a:prstDash val="solid"/>
          </a:ln>
        </p:spPr>
        <p:txBody>
          <a:bodyPr/>
          <a:lstStyle/>
          <a:p>
            <a:endParaRPr lang="en-US"/>
          </a:p>
        </p:txBody>
      </p:sp>
      <p:sp>
        <p:nvSpPr>
          <p:cNvPr id="42" name="Text 40"/>
          <p:cNvSpPr/>
          <p:nvPr/>
        </p:nvSpPr>
        <p:spPr>
          <a:xfrm>
            <a:off x="7699248" y="4379976"/>
            <a:ext cx="2633472" cy="457200"/>
          </a:xfrm>
          <a:prstGeom prst="rect">
            <a:avLst/>
          </a:prstGeom>
          <a:noFill/>
          <a:ln/>
        </p:spPr>
        <p:txBody>
          <a:bodyPr wrap="square" lIns="0" tIns="0" rIns="0" bIns="0" rtlCol="0" anchor="ctr">
            <a:normAutofit/>
          </a:bodyPr>
          <a:lstStyle/>
          <a:p>
            <a:pPr marL="0" indent="0" algn="ctr">
              <a:buNone/>
            </a:pPr>
            <a:r>
              <a:rPr lang="en-US" sz="2900" dirty="0">
                <a:solidFill>
                  <a:srgbClr val="8066B5"/>
                </a:solidFill>
                <a:latin typeface="Georgia" pitchFamily="34" charset="0"/>
                <a:ea typeface="Georgia" pitchFamily="34" charset="-122"/>
                <a:cs typeface="Georgia" pitchFamily="34" charset="-120"/>
              </a:rPr>
              <a:t>430</a:t>
            </a:r>
            <a:endParaRPr lang="en-US" sz="2900" dirty="0"/>
          </a:p>
        </p:txBody>
      </p:sp>
      <p:sp>
        <p:nvSpPr>
          <p:cNvPr id="43" name="Text 41"/>
          <p:cNvSpPr/>
          <p:nvPr/>
        </p:nvSpPr>
        <p:spPr>
          <a:xfrm>
            <a:off x="7836408" y="4846320"/>
            <a:ext cx="2359152" cy="237744"/>
          </a:xfrm>
          <a:prstGeom prst="rect">
            <a:avLst/>
          </a:prstGeom>
          <a:noFill/>
          <a:ln/>
        </p:spPr>
        <p:txBody>
          <a:bodyPr wrap="square" lIns="0" tIns="0" rIns="0" bIns="0" rtlCol="0" anchor="ctr">
            <a:normAutofit/>
          </a:bodyPr>
          <a:lstStyle/>
          <a:p>
            <a:pPr marL="0" indent="0" algn="ctr">
              <a:buNone/>
            </a:pPr>
            <a:r>
              <a:rPr lang="en-US" sz="1250" dirty="0">
                <a:solidFill>
                  <a:srgbClr val="786B62"/>
                </a:solidFill>
                <a:latin typeface="Aptos" pitchFamily="34" charset="0"/>
                <a:ea typeface="Aptos" pitchFamily="34" charset="-122"/>
                <a:cs typeface="Aptos" pitchFamily="34" charset="-120"/>
              </a:rPr>
              <a:t>poziva ka pet AI modela</a:t>
            </a:r>
            <a:endParaRPr lang="en-US" sz="1250" dirty="0"/>
          </a:p>
        </p:txBody>
      </p:sp>
      <p:sp>
        <p:nvSpPr>
          <p:cNvPr id="44" name="Shape 42"/>
          <p:cNvSpPr/>
          <p:nvPr/>
        </p:nvSpPr>
        <p:spPr>
          <a:xfrm>
            <a:off x="1298448" y="5559552"/>
            <a:ext cx="9582912" cy="530352"/>
          </a:xfrm>
          <a:prstGeom prst="roundRect">
            <a:avLst/>
          </a:prstGeom>
          <a:solidFill>
            <a:srgbClr val="EEE5DA"/>
          </a:solidFill>
          <a:ln w="12700">
            <a:solidFill>
              <a:srgbClr val="EEE5DA"/>
            </a:solidFill>
            <a:prstDash val="solid"/>
          </a:ln>
        </p:spPr>
        <p:txBody>
          <a:bodyPr/>
          <a:lstStyle/>
          <a:p>
            <a:endParaRPr lang="en-US"/>
          </a:p>
        </p:txBody>
      </p:sp>
      <p:sp>
        <p:nvSpPr>
          <p:cNvPr id="45" name="Text 43"/>
          <p:cNvSpPr/>
          <p:nvPr/>
        </p:nvSpPr>
        <p:spPr>
          <a:xfrm>
            <a:off x="1572768" y="5696712"/>
            <a:ext cx="9034272" cy="256032"/>
          </a:xfrm>
          <a:prstGeom prst="rect">
            <a:avLst/>
          </a:prstGeom>
          <a:noFill/>
          <a:ln/>
        </p:spPr>
        <p:txBody>
          <a:bodyPr wrap="square" lIns="0" tIns="0" rIns="0" bIns="0" rtlCol="0" anchor="ctr">
            <a:normAutofit/>
          </a:bodyPr>
          <a:lstStyle/>
          <a:p>
            <a:pPr marL="0" indent="0" algn="ctr">
              <a:buNone/>
            </a:pPr>
            <a:r>
              <a:rPr lang="en-US" sz="1400" b="1" dirty="0">
                <a:solidFill>
                  <a:srgbClr val="6E473B"/>
                </a:solidFill>
                <a:latin typeface="Aptos" pitchFamily="34" charset="0"/>
                <a:ea typeface="Aptos" pitchFamily="34" charset="-122"/>
                <a:cs typeface="Aptos" pitchFamily="34" charset="-120"/>
              </a:rPr>
              <a:t>Sirovi podaci  →  prošireni čvorovi · frontijer · cena · suboptimalnost</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3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
          </a:xfrm>
          <a:prstGeom prst="rect">
            <a:avLst/>
          </a:prstGeom>
          <a:solidFill>
            <a:srgbClr val="8B5E50"/>
          </a:solidFill>
          <a:ln w="12700">
            <a:solidFill>
              <a:srgbClr val="8B5E50"/>
            </a:solidFill>
            <a:prstDash val="solid"/>
          </a:ln>
        </p:spPr>
        <p:txBody>
          <a:bodyPr/>
          <a:lstStyle/>
          <a:p>
            <a:endParaRPr lang="en-US"/>
          </a:p>
        </p:txBody>
      </p:sp>
      <p:sp>
        <p:nvSpPr>
          <p:cNvPr id="3" name="Text 1"/>
          <p:cNvSpPr/>
          <p:nvPr/>
        </p:nvSpPr>
        <p:spPr>
          <a:xfrm>
            <a:off x="658368" y="274320"/>
            <a:ext cx="6858000" cy="182880"/>
          </a:xfrm>
          <a:prstGeom prst="rect">
            <a:avLst/>
          </a:prstGeom>
          <a:noFill/>
          <a:ln/>
        </p:spPr>
        <p:txBody>
          <a:bodyPr wrap="square" lIns="0" tIns="0" rIns="0" bIns="0" rtlCol="0" anchor="ctr">
            <a:normAutofit/>
          </a:bodyPr>
          <a:lstStyle/>
          <a:p>
            <a:pPr marL="0" indent="0">
              <a:buNone/>
            </a:pPr>
            <a:r>
              <a:rPr lang="en-US" sz="1000" b="1" kern="0" spc="120" dirty="0">
                <a:solidFill>
                  <a:srgbClr val="8B5E50"/>
                </a:solidFill>
                <a:latin typeface="Aptos" pitchFamily="34" charset="0"/>
                <a:ea typeface="Aptos" pitchFamily="34" charset="-122"/>
                <a:cs typeface="Aptos" pitchFamily="34" charset="-120"/>
              </a:rPr>
              <a:t>METRIKE</a:t>
            </a:r>
            <a:endParaRPr lang="en-US" sz="1000" dirty="0"/>
          </a:p>
        </p:txBody>
      </p:sp>
      <p:sp>
        <p:nvSpPr>
          <p:cNvPr id="4" name="Shape 2"/>
          <p:cNvSpPr/>
          <p:nvPr/>
        </p:nvSpPr>
        <p:spPr>
          <a:xfrm>
            <a:off x="658368" y="6428232"/>
            <a:ext cx="10881360" cy="0"/>
          </a:xfrm>
          <a:prstGeom prst="line">
            <a:avLst/>
          </a:prstGeom>
          <a:noFill/>
          <a:ln w="10160">
            <a:solidFill>
              <a:srgbClr val="DED2C5"/>
            </a:solidFill>
            <a:prstDash val="solid"/>
          </a:ln>
        </p:spPr>
        <p:txBody>
          <a:bodyPr/>
          <a:lstStyle/>
          <a:p>
            <a:endParaRPr lang="en-US"/>
          </a:p>
        </p:txBody>
      </p:sp>
      <p:sp>
        <p:nvSpPr>
          <p:cNvPr id="5" name="Text 3"/>
          <p:cNvSpPr/>
          <p:nvPr/>
        </p:nvSpPr>
        <p:spPr>
          <a:xfrm>
            <a:off x="11045952" y="6492240"/>
            <a:ext cx="493776" cy="146304"/>
          </a:xfrm>
          <a:prstGeom prst="rect">
            <a:avLst/>
          </a:prstGeom>
          <a:noFill/>
          <a:ln/>
        </p:spPr>
        <p:txBody>
          <a:bodyPr wrap="square" lIns="0" tIns="0" rIns="0" bIns="0" rtlCol="0" anchor="ctr">
            <a:normAutofit/>
          </a:bodyPr>
          <a:lstStyle/>
          <a:p>
            <a:pPr marL="0" indent="0" algn="r">
              <a:buNone/>
            </a:pPr>
            <a:r>
              <a:rPr lang="en-US" sz="850" b="1" dirty="0">
                <a:solidFill>
                  <a:srgbClr val="786B62"/>
                </a:solidFill>
                <a:latin typeface="Aptos" pitchFamily="34" charset="0"/>
                <a:ea typeface="Aptos" pitchFamily="34" charset="-122"/>
                <a:cs typeface="Aptos" pitchFamily="34" charset="-120"/>
              </a:rPr>
              <a:t>09</a:t>
            </a:r>
            <a:endParaRPr lang="en-US" sz="850" dirty="0"/>
          </a:p>
        </p:txBody>
      </p:sp>
      <p:sp>
        <p:nvSpPr>
          <p:cNvPr id="6" name="Text 4"/>
          <p:cNvSpPr/>
          <p:nvPr/>
        </p:nvSpPr>
        <p:spPr>
          <a:xfrm>
            <a:off x="658368" y="694944"/>
            <a:ext cx="10789920" cy="658368"/>
          </a:xfrm>
          <a:prstGeom prst="rect">
            <a:avLst/>
          </a:prstGeom>
          <a:noFill/>
          <a:ln/>
        </p:spPr>
        <p:txBody>
          <a:bodyPr wrap="square" lIns="0" tIns="0" rIns="0" bIns="0" rtlCol="0" anchor="t">
            <a:normAutofit/>
          </a:bodyPr>
          <a:lstStyle/>
          <a:p>
            <a:pPr marL="0" indent="0">
              <a:buNone/>
            </a:pPr>
            <a:r>
              <a:rPr lang="en-US" sz="2900" dirty="0">
                <a:solidFill>
                  <a:srgbClr val="352B26"/>
                </a:solidFill>
                <a:latin typeface="Georgia" pitchFamily="34" charset="0"/>
                <a:ea typeface="Georgia" pitchFamily="34" charset="-122"/>
                <a:cs typeface="Georgia" pitchFamily="34" charset="-120"/>
              </a:rPr>
              <a:t>Nijedna metrika nije dovoljna sama.</a:t>
            </a:r>
            <a:endParaRPr lang="en-US" sz="2900" dirty="0"/>
          </a:p>
        </p:txBody>
      </p:sp>
      <p:sp>
        <p:nvSpPr>
          <p:cNvPr id="7" name="Shape 5"/>
          <p:cNvSpPr/>
          <p:nvPr/>
        </p:nvSpPr>
        <p:spPr>
          <a:xfrm>
            <a:off x="749808" y="1901952"/>
            <a:ext cx="5138928" cy="1627632"/>
          </a:xfrm>
          <a:prstGeom prst="roundRect">
            <a:avLst/>
          </a:prstGeom>
          <a:solidFill>
            <a:srgbClr val="FFFDFC"/>
          </a:solidFill>
          <a:ln w="12700">
            <a:solidFill>
              <a:srgbClr val="DED2C5"/>
            </a:solidFill>
            <a:prstDash val="solid"/>
          </a:ln>
        </p:spPr>
        <p:txBody>
          <a:bodyPr/>
          <a:lstStyle/>
          <a:p>
            <a:endParaRPr lang="en-US"/>
          </a:p>
        </p:txBody>
      </p:sp>
      <p:sp>
        <p:nvSpPr>
          <p:cNvPr id="8" name="Shape 6"/>
          <p:cNvSpPr/>
          <p:nvPr/>
        </p:nvSpPr>
        <p:spPr>
          <a:xfrm>
            <a:off x="1024128" y="2240280"/>
            <a:ext cx="1024128" cy="950976"/>
          </a:xfrm>
          <a:prstGeom prst="roundRect">
            <a:avLst/>
          </a:prstGeom>
          <a:solidFill>
            <a:srgbClr val="F3ECE4"/>
          </a:solidFill>
          <a:ln w="12700">
            <a:solidFill>
              <a:srgbClr val="DED2C5"/>
            </a:solidFill>
            <a:prstDash val="solid"/>
          </a:ln>
        </p:spPr>
        <p:txBody>
          <a:bodyPr/>
          <a:lstStyle/>
          <a:p>
            <a:endParaRPr lang="en-US"/>
          </a:p>
        </p:txBody>
      </p:sp>
      <p:sp>
        <p:nvSpPr>
          <p:cNvPr id="9" name="Shape 7"/>
          <p:cNvSpPr/>
          <p:nvPr/>
        </p:nvSpPr>
        <p:spPr>
          <a:xfrm>
            <a:off x="1207008" y="2459736"/>
            <a:ext cx="141732" cy="141732"/>
          </a:xfrm>
          <a:prstGeom prst="rect">
            <a:avLst/>
          </a:prstGeom>
          <a:solidFill>
            <a:srgbClr val="FFFDFC"/>
          </a:solidFill>
          <a:ln w="12700">
            <a:solidFill>
              <a:srgbClr val="DED2C5"/>
            </a:solidFill>
            <a:prstDash val="solid"/>
          </a:ln>
        </p:spPr>
        <p:txBody>
          <a:bodyPr/>
          <a:lstStyle/>
          <a:p>
            <a:endParaRPr lang="en-US"/>
          </a:p>
        </p:txBody>
      </p:sp>
      <p:sp>
        <p:nvSpPr>
          <p:cNvPr id="10" name="Shape 8"/>
          <p:cNvSpPr/>
          <p:nvPr/>
        </p:nvSpPr>
        <p:spPr>
          <a:xfrm>
            <a:off x="1371600" y="2459736"/>
            <a:ext cx="141732" cy="141732"/>
          </a:xfrm>
          <a:prstGeom prst="rect">
            <a:avLst/>
          </a:prstGeom>
          <a:solidFill>
            <a:srgbClr val="4B91B8"/>
          </a:solidFill>
          <a:ln w="12700">
            <a:solidFill>
              <a:srgbClr val="DED2C5"/>
            </a:solidFill>
            <a:prstDash val="solid"/>
          </a:ln>
        </p:spPr>
        <p:txBody>
          <a:bodyPr/>
          <a:lstStyle/>
          <a:p>
            <a:endParaRPr lang="en-US"/>
          </a:p>
        </p:txBody>
      </p:sp>
      <p:sp>
        <p:nvSpPr>
          <p:cNvPr id="11" name="Shape 9"/>
          <p:cNvSpPr/>
          <p:nvPr/>
        </p:nvSpPr>
        <p:spPr>
          <a:xfrm>
            <a:off x="1536192" y="2459736"/>
            <a:ext cx="141732" cy="141732"/>
          </a:xfrm>
          <a:prstGeom prst="rect">
            <a:avLst/>
          </a:prstGeom>
          <a:solidFill>
            <a:srgbClr val="FFFDFC"/>
          </a:solidFill>
          <a:ln w="12700">
            <a:solidFill>
              <a:srgbClr val="DED2C5"/>
            </a:solidFill>
            <a:prstDash val="solid"/>
          </a:ln>
        </p:spPr>
        <p:txBody>
          <a:bodyPr/>
          <a:lstStyle/>
          <a:p>
            <a:endParaRPr lang="en-US"/>
          </a:p>
        </p:txBody>
      </p:sp>
      <p:sp>
        <p:nvSpPr>
          <p:cNvPr id="12" name="Shape 10"/>
          <p:cNvSpPr/>
          <p:nvPr/>
        </p:nvSpPr>
        <p:spPr>
          <a:xfrm>
            <a:off x="1700784" y="2459736"/>
            <a:ext cx="141732" cy="141732"/>
          </a:xfrm>
          <a:prstGeom prst="rect">
            <a:avLst/>
          </a:prstGeom>
          <a:solidFill>
            <a:srgbClr val="FFFDFC"/>
          </a:solidFill>
          <a:ln w="12700">
            <a:solidFill>
              <a:srgbClr val="DED2C5"/>
            </a:solidFill>
            <a:prstDash val="solid"/>
          </a:ln>
        </p:spPr>
        <p:txBody>
          <a:bodyPr/>
          <a:lstStyle/>
          <a:p>
            <a:endParaRPr lang="en-US"/>
          </a:p>
        </p:txBody>
      </p:sp>
      <p:sp>
        <p:nvSpPr>
          <p:cNvPr id="13" name="Shape 11"/>
          <p:cNvSpPr/>
          <p:nvPr/>
        </p:nvSpPr>
        <p:spPr>
          <a:xfrm>
            <a:off x="1207008" y="2624328"/>
            <a:ext cx="141732" cy="141732"/>
          </a:xfrm>
          <a:prstGeom prst="rect">
            <a:avLst/>
          </a:prstGeom>
          <a:solidFill>
            <a:srgbClr val="4B91B8"/>
          </a:solidFill>
          <a:ln w="12700">
            <a:solidFill>
              <a:srgbClr val="DED2C5"/>
            </a:solidFill>
            <a:prstDash val="solid"/>
          </a:ln>
        </p:spPr>
        <p:txBody>
          <a:bodyPr/>
          <a:lstStyle/>
          <a:p>
            <a:endParaRPr lang="en-US"/>
          </a:p>
        </p:txBody>
      </p:sp>
      <p:sp>
        <p:nvSpPr>
          <p:cNvPr id="14" name="Shape 12"/>
          <p:cNvSpPr/>
          <p:nvPr/>
        </p:nvSpPr>
        <p:spPr>
          <a:xfrm>
            <a:off x="1371600" y="2624328"/>
            <a:ext cx="141732" cy="141732"/>
          </a:xfrm>
          <a:prstGeom prst="rect">
            <a:avLst/>
          </a:prstGeom>
          <a:solidFill>
            <a:srgbClr val="8066B5"/>
          </a:solidFill>
          <a:ln w="12700">
            <a:solidFill>
              <a:srgbClr val="DED2C5"/>
            </a:solidFill>
            <a:prstDash val="solid"/>
          </a:ln>
        </p:spPr>
        <p:txBody>
          <a:bodyPr/>
          <a:lstStyle/>
          <a:p>
            <a:endParaRPr lang="en-US"/>
          </a:p>
        </p:txBody>
      </p:sp>
      <p:sp>
        <p:nvSpPr>
          <p:cNvPr id="15" name="Shape 13"/>
          <p:cNvSpPr/>
          <p:nvPr/>
        </p:nvSpPr>
        <p:spPr>
          <a:xfrm>
            <a:off x="1536192" y="2624328"/>
            <a:ext cx="141732" cy="141732"/>
          </a:xfrm>
          <a:prstGeom prst="rect">
            <a:avLst/>
          </a:prstGeom>
          <a:solidFill>
            <a:srgbClr val="4B91B8"/>
          </a:solidFill>
          <a:ln w="12700">
            <a:solidFill>
              <a:srgbClr val="DED2C5"/>
            </a:solidFill>
            <a:prstDash val="solid"/>
          </a:ln>
        </p:spPr>
        <p:txBody>
          <a:bodyPr/>
          <a:lstStyle/>
          <a:p>
            <a:endParaRPr lang="en-US"/>
          </a:p>
        </p:txBody>
      </p:sp>
      <p:sp>
        <p:nvSpPr>
          <p:cNvPr id="16" name="Shape 14"/>
          <p:cNvSpPr/>
          <p:nvPr/>
        </p:nvSpPr>
        <p:spPr>
          <a:xfrm>
            <a:off x="1700784" y="2624328"/>
            <a:ext cx="141732" cy="141732"/>
          </a:xfrm>
          <a:prstGeom prst="rect">
            <a:avLst/>
          </a:prstGeom>
          <a:solidFill>
            <a:srgbClr val="FFFDFC"/>
          </a:solidFill>
          <a:ln w="12700">
            <a:solidFill>
              <a:srgbClr val="DED2C5"/>
            </a:solidFill>
            <a:prstDash val="solid"/>
          </a:ln>
        </p:spPr>
        <p:txBody>
          <a:bodyPr/>
          <a:lstStyle/>
          <a:p>
            <a:endParaRPr lang="en-US"/>
          </a:p>
        </p:txBody>
      </p:sp>
      <p:sp>
        <p:nvSpPr>
          <p:cNvPr id="17" name="Shape 15"/>
          <p:cNvSpPr/>
          <p:nvPr/>
        </p:nvSpPr>
        <p:spPr>
          <a:xfrm>
            <a:off x="1207008" y="2788920"/>
            <a:ext cx="141732" cy="141732"/>
          </a:xfrm>
          <a:prstGeom prst="rect">
            <a:avLst/>
          </a:prstGeom>
          <a:solidFill>
            <a:srgbClr val="FFFDFC"/>
          </a:solidFill>
          <a:ln w="12700">
            <a:solidFill>
              <a:srgbClr val="DED2C5"/>
            </a:solidFill>
            <a:prstDash val="solid"/>
          </a:ln>
        </p:spPr>
        <p:txBody>
          <a:bodyPr/>
          <a:lstStyle/>
          <a:p>
            <a:endParaRPr lang="en-US"/>
          </a:p>
        </p:txBody>
      </p:sp>
      <p:sp>
        <p:nvSpPr>
          <p:cNvPr id="18" name="Shape 16"/>
          <p:cNvSpPr/>
          <p:nvPr/>
        </p:nvSpPr>
        <p:spPr>
          <a:xfrm>
            <a:off x="1371600" y="2788920"/>
            <a:ext cx="141732" cy="141732"/>
          </a:xfrm>
          <a:prstGeom prst="rect">
            <a:avLst/>
          </a:prstGeom>
          <a:solidFill>
            <a:srgbClr val="8066B5"/>
          </a:solidFill>
          <a:ln w="12700">
            <a:solidFill>
              <a:srgbClr val="DED2C5"/>
            </a:solidFill>
            <a:prstDash val="solid"/>
          </a:ln>
        </p:spPr>
        <p:txBody>
          <a:bodyPr/>
          <a:lstStyle/>
          <a:p>
            <a:endParaRPr lang="en-US"/>
          </a:p>
        </p:txBody>
      </p:sp>
      <p:sp>
        <p:nvSpPr>
          <p:cNvPr id="19" name="Shape 17"/>
          <p:cNvSpPr/>
          <p:nvPr/>
        </p:nvSpPr>
        <p:spPr>
          <a:xfrm>
            <a:off x="1536192" y="2788920"/>
            <a:ext cx="141732" cy="141732"/>
          </a:xfrm>
          <a:prstGeom prst="rect">
            <a:avLst/>
          </a:prstGeom>
          <a:solidFill>
            <a:srgbClr val="8066B5"/>
          </a:solidFill>
          <a:ln w="12700">
            <a:solidFill>
              <a:srgbClr val="DED2C5"/>
            </a:solidFill>
            <a:prstDash val="solid"/>
          </a:ln>
        </p:spPr>
        <p:txBody>
          <a:bodyPr/>
          <a:lstStyle/>
          <a:p>
            <a:endParaRPr lang="en-US"/>
          </a:p>
        </p:txBody>
      </p:sp>
      <p:sp>
        <p:nvSpPr>
          <p:cNvPr id="20" name="Shape 18"/>
          <p:cNvSpPr/>
          <p:nvPr/>
        </p:nvSpPr>
        <p:spPr>
          <a:xfrm>
            <a:off x="1700784" y="2788920"/>
            <a:ext cx="141732" cy="141732"/>
          </a:xfrm>
          <a:prstGeom prst="rect">
            <a:avLst/>
          </a:prstGeom>
          <a:solidFill>
            <a:srgbClr val="FFFDFC"/>
          </a:solidFill>
          <a:ln w="12700">
            <a:solidFill>
              <a:srgbClr val="DED2C5"/>
            </a:solidFill>
            <a:prstDash val="solid"/>
          </a:ln>
        </p:spPr>
        <p:txBody>
          <a:bodyPr/>
          <a:lstStyle/>
          <a:p>
            <a:endParaRPr lang="en-US"/>
          </a:p>
        </p:txBody>
      </p:sp>
      <p:sp>
        <p:nvSpPr>
          <p:cNvPr id="21" name="Text 19"/>
          <p:cNvSpPr/>
          <p:nvPr/>
        </p:nvSpPr>
        <p:spPr>
          <a:xfrm>
            <a:off x="2304288" y="2194560"/>
            <a:ext cx="3200400" cy="310896"/>
          </a:xfrm>
          <a:prstGeom prst="rect">
            <a:avLst/>
          </a:prstGeom>
          <a:noFill/>
          <a:ln/>
        </p:spPr>
        <p:txBody>
          <a:bodyPr wrap="square" lIns="0" tIns="0" rIns="0" bIns="0" rtlCol="0" anchor="ctr">
            <a:normAutofit/>
          </a:bodyPr>
          <a:lstStyle/>
          <a:p>
            <a:pPr marL="0" indent="0">
              <a:buNone/>
            </a:pPr>
            <a:r>
              <a:rPr lang="en-US" sz="1900" dirty="0">
                <a:solidFill>
                  <a:srgbClr val="352B26"/>
                </a:solidFill>
                <a:latin typeface="Georgia" pitchFamily="34" charset="0"/>
                <a:ea typeface="Georgia" pitchFamily="34" charset="-122"/>
                <a:cs typeface="Georgia" pitchFamily="34" charset="-120"/>
              </a:rPr>
              <a:t>Prošireni čvorovi</a:t>
            </a:r>
            <a:endParaRPr lang="en-US" sz="1900" dirty="0"/>
          </a:p>
        </p:txBody>
      </p:sp>
      <p:sp>
        <p:nvSpPr>
          <p:cNvPr id="22" name="Text 20"/>
          <p:cNvSpPr/>
          <p:nvPr/>
        </p:nvSpPr>
        <p:spPr>
          <a:xfrm>
            <a:off x="2304288" y="2670048"/>
            <a:ext cx="3200400" cy="530352"/>
          </a:xfrm>
          <a:prstGeom prst="rect">
            <a:avLst/>
          </a:prstGeom>
          <a:noFill/>
          <a:ln/>
        </p:spPr>
        <p:txBody>
          <a:bodyPr wrap="square" lIns="0" tIns="0" rIns="0" bIns="0" rtlCol="0" anchor="t">
            <a:normAutofit/>
          </a:bodyPr>
          <a:lstStyle/>
          <a:p>
            <a:pPr marL="0" indent="0">
              <a:buNone/>
            </a:pPr>
            <a:r>
              <a:rPr lang="en-US" sz="1400" dirty="0">
                <a:solidFill>
                  <a:srgbClr val="786B62"/>
                </a:solidFill>
                <a:latin typeface="Aptos" pitchFamily="34" charset="0"/>
                <a:ea typeface="Aptos" pitchFamily="34" charset="-122"/>
                <a:cs typeface="Aptos" pitchFamily="34" charset="-120"/>
              </a:rPr>
              <a:t>količina istraženog prostora</a:t>
            </a:r>
            <a:endParaRPr lang="en-US" sz="1400" dirty="0"/>
          </a:p>
        </p:txBody>
      </p:sp>
      <p:sp>
        <p:nvSpPr>
          <p:cNvPr id="23" name="Shape 21"/>
          <p:cNvSpPr/>
          <p:nvPr/>
        </p:nvSpPr>
        <p:spPr>
          <a:xfrm>
            <a:off x="6144768" y="1901952"/>
            <a:ext cx="5138928" cy="1627632"/>
          </a:xfrm>
          <a:prstGeom prst="roundRect">
            <a:avLst/>
          </a:prstGeom>
          <a:solidFill>
            <a:srgbClr val="FFFDFC"/>
          </a:solidFill>
          <a:ln w="12700">
            <a:solidFill>
              <a:srgbClr val="DED2C5"/>
            </a:solidFill>
            <a:prstDash val="solid"/>
          </a:ln>
        </p:spPr>
        <p:txBody>
          <a:bodyPr/>
          <a:lstStyle/>
          <a:p>
            <a:endParaRPr lang="en-US"/>
          </a:p>
        </p:txBody>
      </p:sp>
      <p:sp>
        <p:nvSpPr>
          <p:cNvPr id="24" name="Shape 22"/>
          <p:cNvSpPr/>
          <p:nvPr/>
        </p:nvSpPr>
        <p:spPr>
          <a:xfrm>
            <a:off x="6419088" y="2240280"/>
            <a:ext cx="1024128" cy="950976"/>
          </a:xfrm>
          <a:prstGeom prst="roundRect">
            <a:avLst/>
          </a:prstGeom>
          <a:solidFill>
            <a:srgbClr val="F3ECE4"/>
          </a:solidFill>
          <a:ln w="12700">
            <a:solidFill>
              <a:srgbClr val="DED2C5"/>
            </a:solidFill>
            <a:prstDash val="solid"/>
          </a:ln>
        </p:spPr>
        <p:txBody>
          <a:bodyPr/>
          <a:lstStyle/>
          <a:p>
            <a:endParaRPr lang="en-US"/>
          </a:p>
        </p:txBody>
      </p:sp>
      <p:sp>
        <p:nvSpPr>
          <p:cNvPr id="25" name="Text 23"/>
          <p:cNvSpPr/>
          <p:nvPr/>
        </p:nvSpPr>
        <p:spPr>
          <a:xfrm>
            <a:off x="6565392" y="2350008"/>
            <a:ext cx="731520" cy="164592"/>
          </a:xfrm>
          <a:prstGeom prst="rect">
            <a:avLst/>
          </a:prstGeom>
          <a:noFill/>
          <a:ln/>
        </p:spPr>
        <p:txBody>
          <a:bodyPr wrap="square" lIns="0" tIns="0" rIns="0" bIns="0" rtlCol="0" anchor="ctr">
            <a:normAutofit/>
          </a:bodyPr>
          <a:lstStyle/>
          <a:p>
            <a:pPr marL="0" indent="0" algn="ctr">
              <a:buNone/>
            </a:pPr>
            <a:r>
              <a:rPr lang="en-US" sz="750" b="1" kern="0" spc="80" dirty="0">
                <a:solidFill>
                  <a:srgbClr val="8066B5"/>
                </a:solidFill>
                <a:latin typeface="Aptos" pitchFamily="34" charset="0"/>
                <a:ea typeface="Aptos" pitchFamily="34" charset="-122"/>
                <a:cs typeface="Aptos" pitchFamily="34" charset="-120"/>
              </a:rPr>
              <a:t>OPEN</a:t>
            </a:r>
            <a:endParaRPr lang="en-US" sz="750" dirty="0"/>
          </a:p>
        </p:txBody>
      </p:sp>
      <p:sp>
        <p:nvSpPr>
          <p:cNvPr id="26" name="Shape 24"/>
          <p:cNvSpPr/>
          <p:nvPr/>
        </p:nvSpPr>
        <p:spPr>
          <a:xfrm>
            <a:off x="6583680" y="2651760"/>
            <a:ext cx="128016" cy="128016"/>
          </a:xfrm>
          <a:prstGeom prst="ellipse">
            <a:avLst/>
          </a:prstGeom>
          <a:solidFill>
            <a:srgbClr val="8066B5"/>
          </a:solidFill>
          <a:ln w="12700">
            <a:solidFill>
              <a:srgbClr val="8066B5"/>
            </a:solidFill>
            <a:prstDash val="solid"/>
          </a:ln>
        </p:spPr>
        <p:txBody>
          <a:bodyPr/>
          <a:lstStyle/>
          <a:p>
            <a:endParaRPr lang="en-US"/>
          </a:p>
        </p:txBody>
      </p:sp>
      <p:sp>
        <p:nvSpPr>
          <p:cNvPr id="27" name="Shape 25"/>
          <p:cNvSpPr/>
          <p:nvPr/>
        </p:nvSpPr>
        <p:spPr>
          <a:xfrm>
            <a:off x="6766560" y="2651760"/>
            <a:ext cx="128016" cy="128016"/>
          </a:xfrm>
          <a:prstGeom prst="ellipse">
            <a:avLst/>
          </a:prstGeom>
          <a:solidFill>
            <a:srgbClr val="8066B5"/>
          </a:solidFill>
          <a:ln w="12700">
            <a:solidFill>
              <a:srgbClr val="8066B5"/>
            </a:solidFill>
            <a:prstDash val="solid"/>
          </a:ln>
        </p:spPr>
        <p:txBody>
          <a:bodyPr/>
          <a:lstStyle/>
          <a:p>
            <a:endParaRPr lang="en-US"/>
          </a:p>
        </p:txBody>
      </p:sp>
      <p:sp>
        <p:nvSpPr>
          <p:cNvPr id="28" name="Shape 26"/>
          <p:cNvSpPr/>
          <p:nvPr/>
        </p:nvSpPr>
        <p:spPr>
          <a:xfrm>
            <a:off x="6949440" y="2651760"/>
            <a:ext cx="128016" cy="128016"/>
          </a:xfrm>
          <a:prstGeom prst="ellipse">
            <a:avLst/>
          </a:prstGeom>
          <a:solidFill>
            <a:srgbClr val="8066B5"/>
          </a:solidFill>
          <a:ln w="12700">
            <a:solidFill>
              <a:srgbClr val="8066B5"/>
            </a:solidFill>
            <a:prstDash val="solid"/>
          </a:ln>
        </p:spPr>
        <p:txBody>
          <a:bodyPr/>
          <a:lstStyle/>
          <a:p>
            <a:endParaRPr lang="en-US"/>
          </a:p>
        </p:txBody>
      </p:sp>
      <p:sp>
        <p:nvSpPr>
          <p:cNvPr id="29" name="Shape 27"/>
          <p:cNvSpPr/>
          <p:nvPr/>
        </p:nvSpPr>
        <p:spPr>
          <a:xfrm>
            <a:off x="7132320" y="2651760"/>
            <a:ext cx="128016" cy="128016"/>
          </a:xfrm>
          <a:prstGeom prst="ellipse">
            <a:avLst/>
          </a:prstGeom>
          <a:solidFill>
            <a:srgbClr val="FFFDFC"/>
          </a:solidFill>
          <a:ln w="12700">
            <a:solidFill>
              <a:srgbClr val="8066B5"/>
            </a:solidFill>
            <a:prstDash val="solid"/>
          </a:ln>
        </p:spPr>
        <p:txBody>
          <a:bodyPr/>
          <a:lstStyle/>
          <a:p>
            <a:endParaRPr lang="en-US"/>
          </a:p>
        </p:txBody>
      </p:sp>
      <p:sp>
        <p:nvSpPr>
          <p:cNvPr id="30" name="Shape 28"/>
          <p:cNvSpPr/>
          <p:nvPr/>
        </p:nvSpPr>
        <p:spPr>
          <a:xfrm>
            <a:off x="6601968" y="2953512"/>
            <a:ext cx="640080" cy="0"/>
          </a:xfrm>
          <a:prstGeom prst="line">
            <a:avLst/>
          </a:prstGeom>
          <a:noFill/>
          <a:ln w="25400">
            <a:solidFill>
              <a:srgbClr val="8066B5"/>
            </a:solidFill>
            <a:prstDash val="solid"/>
          </a:ln>
        </p:spPr>
        <p:txBody>
          <a:bodyPr/>
          <a:lstStyle/>
          <a:p>
            <a:endParaRPr lang="en-US"/>
          </a:p>
        </p:txBody>
      </p:sp>
      <p:sp>
        <p:nvSpPr>
          <p:cNvPr id="31" name="Text 29"/>
          <p:cNvSpPr/>
          <p:nvPr/>
        </p:nvSpPr>
        <p:spPr>
          <a:xfrm>
            <a:off x="7699248" y="2194560"/>
            <a:ext cx="3200400" cy="310896"/>
          </a:xfrm>
          <a:prstGeom prst="rect">
            <a:avLst/>
          </a:prstGeom>
          <a:noFill/>
          <a:ln/>
        </p:spPr>
        <p:txBody>
          <a:bodyPr wrap="square" lIns="0" tIns="0" rIns="0" bIns="0" rtlCol="0" anchor="ctr">
            <a:normAutofit/>
          </a:bodyPr>
          <a:lstStyle/>
          <a:p>
            <a:pPr marL="0" indent="0">
              <a:buNone/>
            </a:pPr>
            <a:r>
              <a:rPr lang="en-US" sz="1900" dirty="0">
                <a:solidFill>
                  <a:srgbClr val="352B26"/>
                </a:solidFill>
                <a:latin typeface="Georgia" pitchFamily="34" charset="0"/>
                <a:ea typeface="Georgia" pitchFamily="34" charset="-122"/>
                <a:cs typeface="Georgia" pitchFamily="34" charset="-120"/>
              </a:rPr>
              <a:t>Maksimalni frontijer</a:t>
            </a:r>
            <a:endParaRPr lang="en-US" sz="1900" dirty="0"/>
          </a:p>
        </p:txBody>
      </p:sp>
      <p:sp>
        <p:nvSpPr>
          <p:cNvPr id="32" name="Text 30"/>
          <p:cNvSpPr/>
          <p:nvPr/>
        </p:nvSpPr>
        <p:spPr>
          <a:xfrm>
            <a:off x="7699248" y="2670048"/>
            <a:ext cx="3200400" cy="530352"/>
          </a:xfrm>
          <a:prstGeom prst="rect">
            <a:avLst/>
          </a:prstGeom>
          <a:noFill/>
          <a:ln/>
        </p:spPr>
        <p:txBody>
          <a:bodyPr wrap="square" lIns="0" tIns="0" rIns="0" bIns="0" rtlCol="0" anchor="t">
            <a:normAutofit/>
          </a:bodyPr>
          <a:lstStyle/>
          <a:p>
            <a:pPr marL="0" indent="0">
              <a:buNone/>
            </a:pPr>
            <a:r>
              <a:rPr lang="en-US" sz="1400" dirty="0">
                <a:solidFill>
                  <a:srgbClr val="786B62"/>
                </a:solidFill>
                <a:latin typeface="Aptos" pitchFamily="34" charset="0"/>
                <a:ea typeface="Aptos" pitchFamily="34" charset="-122"/>
                <a:cs typeface="Aptos" pitchFamily="34" charset="-120"/>
              </a:rPr>
              <a:t>vršna veličina skupa čekanja</a:t>
            </a:r>
            <a:endParaRPr lang="en-US" sz="1400" dirty="0"/>
          </a:p>
        </p:txBody>
      </p:sp>
      <p:sp>
        <p:nvSpPr>
          <p:cNvPr id="33" name="Shape 31"/>
          <p:cNvSpPr/>
          <p:nvPr/>
        </p:nvSpPr>
        <p:spPr>
          <a:xfrm>
            <a:off x="749808" y="3959352"/>
            <a:ext cx="5138928" cy="1627632"/>
          </a:xfrm>
          <a:prstGeom prst="roundRect">
            <a:avLst/>
          </a:prstGeom>
          <a:solidFill>
            <a:srgbClr val="FFFDFC"/>
          </a:solidFill>
          <a:ln w="12700">
            <a:solidFill>
              <a:srgbClr val="DED2C5"/>
            </a:solidFill>
            <a:prstDash val="solid"/>
          </a:ln>
        </p:spPr>
        <p:txBody>
          <a:bodyPr/>
          <a:lstStyle/>
          <a:p>
            <a:endParaRPr lang="en-US"/>
          </a:p>
        </p:txBody>
      </p:sp>
      <p:sp>
        <p:nvSpPr>
          <p:cNvPr id="34" name="Shape 32"/>
          <p:cNvSpPr/>
          <p:nvPr/>
        </p:nvSpPr>
        <p:spPr>
          <a:xfrm>
            <a:off x="1024128" y="4297680"/>
            <a:ext cx="1024128" cy="950976"/>
          </a:xfrm>
          <a:prstGeom prst="roundRect">
            <a:avLst/>
          </a:prstGeom>
          <a:solidFill>
            <a:srgbClr val="F3ECE4"/>
          </a:solidFill>
          <a:ln w="12700">
            <a:solidFill>
              <a:srgbClr val="DED2C5"/>
            </a:solidFill>
            <a:prstDash val="solid"/>
          </a:ln>
        </p:spPr>
        <p:txBody>
          <a:bodyPr/>
          <a:lstStyle/>
          <a:p>
            <a:endParaRPr lang="en-US"/>
          </a:p>
        </p:txBody>
      </p:sp>
      <p:sp>
        <p:nvSpPr>
          <p:cNvPr id="35" name="Shape 33"/>
          <p:cNvSpPr/>
          <p:nvPr/>
        </p:nvSpPr>
        <p:spPr>
          <a:xfrm>
            <a:off x="1143000" y="4636008"/>
            <a:ext cx="228600" cy="256032"/>
          </a:xfrm>
          <a:prstGeom prst="roundRect">
            <a:avLst/>
          </a:prstGeom>
          <a:solidFill>
            <a:srgbClr val="FFFDFC"/>
          </a:solidFill>
          <a:ln w="12700">
            <a:solidFill>
              <a:srgbClr val="D49A32"/>
            </a:solidFill>
            <a:prstDash val="solid"/>
          </a:ln>
        </p:spPr>
        <p:txBody>
          <a:bodyPr/>
          <a:lstStyle/>
          <a:p>
            <a:endParaRPr lang="en-US"/>
          </a:p>
        </p:txBody>
      </p:sp>
      <p:sp>
        <p:nvSpPr>
          <p:cNvPr id="36" name="Text 34"/>
          <p:cNvSpPr/>
          <p:nvPr/>
        </p:nvSpPr>
        <p:spPr>
          <a:xfrm>
            <a:off x="1143000" y="4672584"/>
            <a:ext cx="228600" cy="164592"/>
          </a:xfrm>
          <a:prstGeom prst="rect">
            <a:avLst/>
          </a:prstGeom>
          <a:noFill/>
          <a:ln/>
        </p:spPr>
        <p:txBody>
          <a:bodyPr wrap="square" lIns="0" tIns="0" rIns="0" bIns="0" rtlCol="0" anchor="ctr">
            <a:normAutofit/>
          </a:bodyPr>
          <a:lstStyle/>
          <a:p>
            <a:pPr marL="0" indent="0" algn="ctr">
              <a:buNone/>
            </a:pPr>
            <a:r>
              <a:rPr lang="en-US" sz="900" b="1" dirty="0">
                <a:solidFill>
                  <a:srgbClr val="D49A32"/>
                </a:solidFill>
                <a:latin typeface="Aptos" pitchFamily="34" charset="0"/>
                <a:ea typeface="Aptos" pitchFamily="34" charset="-122"/>
                <a:cs typeface="Aptos" pitchFamily="34" charset="-120"/>
              </a:rPr>
              <a:t>1</a:t>
            </a:r>
            <a:endParaRPr lang="en-US" sz="900" dirty="0"/>
          </a:p>
        </p:txBody>
      </p:sp>
      <p:sp>
        <p:nvSpPr>
          <p:cNvPr id="37" name="Shape 35"/>
          <p:cNvSpPr/>
          <p:nvPr/>
        </p:nvSpPr>
        <p:spPr>
          <a:xfrm>
            <a:off x="1426464" y="4636008"/>
            <a:ext cx="228600" cy="256032"/>
          </a:xfrm>
          <a:prstGeom prst="roundRect">
            <a:avLst/>
          </a:prstGeom>
          <a:solidFill>
            <a:srgbClr val="D49A32">
              <a:alpha val="22000"/>
            </a:srgbClr>
          </a:solidFill>
          <a:ln w="12700">
            <a:solidFill>
              <a:srgbClr val="D49A32"/>
            </a:solidFill>
            <a:prstDash val="solid"/>
          </a:ln>
        </p:spPr>
        <p:txBody>
          <a:bodyPr/>
          <a:lstStyle/>
          <a:p>
            <a:endParaRPr lang="en-US"/>
          </a:p>
        </p:txBody>
      </p:sp>
      <p:sp>
        <p:nvSpPr>
          <p:cNvPr id="38" name="Text 36"/>
          <p:cNvSpPr/>
          <p:nvPr/>
        </p:nvSpPr>
        <p:spPr>
          <a:xfrm>
            <a:off x="1426464" y="4672584"/>
            <a:ext cx="228600" cy="164592"/>
          </a:xfrm>
          <a:prstGeom prst="rect">
            <a:avLst/>
          </a:prstGeom>
          <a:noFill/>
          <a:ln/>
        </p:spPr>
        <p:txBody>
          <a:bodyPr wrap="square" lIns="0" tIns="0" rIns="0" bIns="0" rtlCol="0" anchor="ctr">
            <a:normAutofit/>
          </a:bodyPr>
          <a:lstStyle/>
          <a:p>
            <a:pPr marL="0" indent="0" algn="ctr">
              <a:buNone/>
            </a:pPr>
            <a:r>
              <a:rPr lang="en-US" sz="900" b="1" dirty="0">
                <a:solidFill>
                  <a:srgbClr val="D49A32"/>
                </a:solidFill>
                <a:latin typeface="Aptos" pitchFamily="34" charset="0"/>
                <a:ea typeface="Aptos" pitchFamily="34" charset="-122"/>
                <a:cs typeface="Aptos" pitchFamily="34" charset="-120"/>
              </a:rPr>
              <a:t>4</a:t>
            </a:r>
            <a:endParaRPr lang="en-US" sz="900" dirty="0"/>
          </a:p>
        </p:txBody>
      </p:sp>
      <p:sp>
        <p:nvSpPr>
          <p:cNvPr id="39" name="Shape 37"/>
          <p:cNvSpPr/>
          <p:nvPr/>
        </p:nvSpPr>
        <p:spPr>
          <a:xfrm>
            <a:off x="1709928" y="4636008"/>
            <a:ext cx="228600" cy="256032"/>
          </a:xfrm>
          <a:prstGeom prst="roundRect">
            <a:avLst/>
          </a:prstGeom>
          <a:solidFill>
            <a:srgbClr val="FFFDFC"/>
          </a:solidFill>
          <a:ln w="12700">
            <a:solidFill>
              <a:srgbClr val="D49A32"/>
            </a:solidFill>
            <a:prstDash val="solid"/>
          </a:ln>
        </p:spPr>
        <p:txBody>
          <a:bodyPr/>
          <a:lstStyle/>
          <a:p>
            <a:endParaRPr lang="en-US"/>
          </a:p>
        </p:txBody>
      </p:sp>
      <p:sp>
        <p:nvSpPr>
          <p:cNvPr id="40" name="Text 38"/>
          <p:cNvSpPr/>
          <p:nvPr/>
        </p:nvSpPr>
        <p:spPr>
          <a:xfrm>
            <a:off x="1709928" y="4672584"/>
            <a:ext cx="228600" cy="164592"/>
          </a:xfrm>
          <a:prstGeom prst="rect">
            <a:avLst/>
          </a:prstGeom>
          <a:noFill/>
          <a:ln/>
        </p:spPr>
        <p:txBody>
          <a:bodyPr wrap="square" lIns="0" tIns="0" rIns="0" bIns="0" rtlCol="0" anchor="ctr">
            <a:normAutofit/>
          </a:bodyPr>
          <a:lstStyle/>
          <a:p>
            <a:pPr marL="0" indent="0" algn="ctr">
              <a:buNone/>
            </a:pPr>
            <a:r>
              <a:rPr lang="en-US" sz="900" b="1" dirty="0">
                <a:solidFill>
                  <a:srgbClr val="D49A32"/>
                </a:solidFill>
                <a:latin typeface="Aptos" pitchFamily="34" charset="0"/>
                <a:ea typeface="Aptos" pitchFamily="34" charset="-122"/>
                <a:cs typeface="Aptos" pitchFamily="34" charset="-120"/>
              </a:rPr>
              <a:t>2</a:t>
            </a:r>
            <a:endParaRPr lang="en-US" sz="900" dirty="0"/>
          </a:p>
        </p:txBody>
      </p:sp>
      <p:sp>
        <p:nvSpPr>
          <p:cNvPr id="41" name="Text 39"/>
          <p:cNvSpPr/>
          <p:nvPr/>
        </p:nvSpPr>
        <p:spPr>
          <a:xfrm>
            <a:off x="1207008" y="4956048"/>
            <a:ext cx="658368" cy="164592"/>
          </a:xfrm>
          <a:prstGeom prst="rect">
            <a:avLst/>
          </a:prstGeom>
          <a:noFill/>
          <a:ln/>
        </p:spPr>
        <p:txBody>
          <a:bodyPr wrap="square" lIns="0" tIns="0" rIns="0" bIns="0" rtlCol="0" anchor="ctr">
            <a:normAutofit/>
          </a:bodyPr>
          <a:lstStyle/>
          <a:p>
            <a:pPr marL="0" indent="0" algn="ctr">
              <a:buNone/>
            </a:pPr>
            <a:r>
              <a:rPr lang="en-US" sz="900" b="1" dirty="0">
                <a:solidFill>
                  <a:srgbClr val="D49A32"/>
                </a:solidFill>
                <a:latin typeface="Aptos" pitchFamily="34" charset="0"/>
                <a:ea typeface="Aptos" pitchFamily="34" charset="-122"/>
                <a:cs typeface="Aptos" pitchFamily="34" charset="-120"/>
              </a:rPr>
              <a:t>Σ = 7</a:t>
            </a:r>
            <a:endParaRPr lang="en-US" sz="900" dirty="0"/>
          </a:p>
        </p:txBody>
      </p:sp>
      <p:sp>
        <p:nvSpPr>
          <p:cNvPr id="42" name="Text 40"/>
          <p:cNvSpPr/>
          <p:nvPr/>
        </p:nvSpPr>
        <p:spPr>
          <a:xfrm>
            <a:off x="2304288" y="4251960"/>
            <a:ext cx="3200400" cy="310896"/>
          </a:xfrm>
          <a:prstGeom prst="rect">
            <a:avLst/>
          </a:prstGeom>
          <a:noFill/>
          <a:ln/>
        </p:spPr>
        <p:txBody>
          <a:bodyPr wrap="square" lIns="0" tIns="0" rIns="0" bIns="0" rtlCol="0" anchor="ctr">
            <a:normAutofit/>
          </a:bodyPr>
          <a:lstStyle/>
          <a:p>
            <a:pPr marL="0" indent="0">
              <a:buNone/>
            </a:pPr>
            <a:r>
              <a:rPr lang="en-US" sz="1900" dirty="0">
                <a:solidFill>
                  <a:srgbClr val="352B26"/>
                </a:solidFill>
                <a:latin typeface="Georgia" pitchFamily="34" charset="0"/>
                <a:ea typeface="Georgia" pitchFamily="34" charset="-122"/>
                <a:cs typeface="Georgia" pitchFamily="34" charset="-120"/>
              </a:rPr>
              <a:t>Stvarna cena puta</a:t>
            </a:r>
            <a:endParaRPr lang="en-US" sz="1900" dirty="0"/>
          </a:p>
        </p:txBody>
      </p:sp>
      <p:sp>
        <p:nvSpPr>
          <p:cNvPr id="43" name="Text 41"/>
          <p:cNvSpPr/>
          <p:nvPr/>
        </p:nvSpPr>
        <p:spPr>
          <a:xfrm>
            <a:off x="2304288" y="4727448"/>
            <a:ext cx="3200400" cy="530352"/>
          </a:xfrm>
          <a:prstGeom prst="rect">
            <a:avLst/>
          </a:prstGeom>
          <a:noFill/>
          <a:ln/>
        </p:spPr>
        <p:txBody>
          <a:bodyPr wrap="square" lIns="0" tIns="0" rIns="0" bIns="0" rtlCol="0" anchor="t">
            <a:normAutofit/>
          </a:bodyPr>
          <a:lstStyle/>
          <a:p>
            <a:pPr marL="0" indent="0">
              <a:buNone/>
            </a:pPr>
            <a:r>
              <a:rPr lang="en-US" sz="1400" dirty="0">
                <a:solidFill>
                  <a:srgbClr val="786B62"/>
                </a:solidFill>
                <a:latin typeface="Aptos" pitchFamily="34" charset="0"/>
                <a:ea typeface="Aptos" pitchFamily="34" charset="-122"/>
                <a:cs typeface="Aptos" pitchFamily="34" charset="-120"/>
              </a:rPr>
              <a:t>zbir troškova izabrane putanje</a:t>
            </a:r>
            <a:endParaRPr lang="en-US" sz="1400" dirty="0"/>
          </a:p>
        </p:txBody>
      </p:sp>
      <p:sp>
        <p:nvSpPr>
          <p:cNvPr id="44" name="Shape 42"/>
          <p:cNvSpPr/>
          <p:nvPr/>
        </p:nvSpPr>
        <p:spPr>
          <a:xfrm>
            <a:off x="6144768" y="3959352"/>
            <a:ext cx="5138928" cy="1627632"/>
          </a:xfrm>
          <a:prstGeom prst="roundRect">
            <a:avLst/>
          </a:prstGeom>
          <a:solidFill>
            <a:srgbClr val="FFFDFC"/>
          </a:solidFill>
          <a:ln w="12700">
            <a:solidFill>
              <a:srgbClr val="DED2C5"/>
            </a:solidFill>
            <a:prstDash val="solid"/>
          </a:ln>
        </p:spPr>
        <p:txBody>
          <a:bodyPr/>
          <a:lstStyle/>
          <a:p>
            <a:endParaRPr lang="en-US"/>
          </a:p>
        </p:txBody>
      </p:sp>
      <p:sp>
        <p:nvSpPr>
          <p:cNvPr id="45" name="Shape 43"/>
          <p:cNvSpPr/>
          <p:nvPr/>
        </p:nvSpPr>
        <p:spPr>
          <a:xfrm>
            <a:off x="6419088" y="4297680"/>
            <a:ext cx="1024128" cy="950976"/>
          </a:xfrm>
          <a:prstGeom prst="roundRect">
            <a:avLst/>
          </a:prstGeom>
          <a:solidFill>
            <a:srgbClr val="F3ECE4"/>
          </a:solidFill>
          <a:ln w="12700">
            <a:solidFill>
              <a:srgbClr val="DED2C5"/>
            </a:solidFill>
            <a:prstDash val="solid"/>
          </a:ln>
        </p:spPr>
        <p:txBody>
          <a:bodyPr/>
          <a:lstStyle/>
          <a:p>
            <a:endParaRPr lang="en-US"/>
          </a:p>
        </p:txBody>
      </p:sp>
      <p:sp>
        <p:nvSpPr>
          <p:cNvPr id="46" name="Text 44"/>
          <p:cNvSpPr/>
          <p:nvPr/>
        </p:nvSpPr>
        <p:spPr>
          <a:xfrm>
            <a:off x="6528816" y="4507992"/>
            <a:ext cx="246888" cy="146304"/>
          </a:xfrm>
          <a:prstGeom prst="rect">
            <a:avLst/>
          </a:prstGeom>
          <a:noFill/>
          <a:ln/>
        </p:spPr>
        <p:txBody>
          <a:bodyPr wrap="square" lIns="0" tIns="0" rIns="0" bIns="0" rtlCol="0" anchor="ctr">
            <a:normAutofit/>
          </a:bodyPr>
          <a:lstStyle/>
          <a:p>
            <a:pPr marL="0" indent="0">
              <a:buNone/>
            </a:pPr>
            <a:r>
              <a:rPr lang="en-US" sz="750" b="1" dirty="0">
                <a:solidFill>
                  <a:srgbClr val="786B62"/>
                </a:solidFill>
                <a:latin typeface="Aptos" pitchFamily="34" charset="0"/>
                <a:ea typeface="Aptos" pitchFamily="34" charset="-122"/>
                <a:cs typeface="Aptos" pitchFamily="34" charset="-120"/>
              </a:rPr>
              <a:t>REF</a:t>
            </a:r>
            <a:endParaRPr lang="en-US" sz="750" dirty="0"/>
          </a:p>
        </p:txBody>
      </p:sp>
      <p:sp>
        <p:nvSpPr>
          <p:cNvPr id="47" name="Shape 45"/>
          <p:cNvSpPr/>
          <p:nvPr/>
        </p:nvSpPr>
        <p:spPr>
          <a:xfrm>
            <a:off x="6803136" y="4526280"/>
            <a:ext cx="438912" cy="73152"/>
          </a:xfrm>
          <a:prstGeom prst="rect">
            <a:avLst/>
          </a:prstGeom>
          <a:solidFill>
            <a:srgbClr val="328C8B"/>
          </a:solidFill>
          <a:ln w="12700">
            <a:solidFill>
              <a:srgbClr val="328C8B"/>
            </a:solidFill>
            <a:prstDash val="solid"/>
          </a:ln>
        </p:spPr>
        <p:txBody>
          <a:bodyPr/>
          <a:lstStyle/>
          <a:p>
            <a:endParaRPr lang="en-US"/>
          </a:p>
        </p:txBody>
      </p:sp>
      <p:sp>
        <p:nvSpPr>
          <p:cNvPr id="48" name="Text 46"/>
          <p:cNvSpPr/>
          <p:nvPr/>
        </p:nvSpPr>
        <p:spPr>
          <a:xfrm>
            <a:off x="6528816" y="4809744"/>
            <a:ext cx="246888" cy="146304"/>
          </a:xfrm>
          <a:prstGeom prst="rect">
            <a:avLst/>
          </a:prstGeom>
          <a:noFill/>
          <a:ln/>
        </p:spPr>
        <p:txBody>
          <a:bodyPr wrap="square" lIns="0" tIns="0" rIns="0" bIns="0" rtlCol="0" anchor="ctr">
            <a:normAutofit/>
          </a:bodyPr>
          <a:lstStyle/>
          <a:p>
            <a:pPr marL="0" indent="0">
              <a:buNone/>
            </a:pPr>
            <a:r>
              <a:rPr lang="en-US" sz="750" b="1" dirty="0">
                <a:solidFill>
                  <a:srgbClr val="786B62"/>
                </a:solidFill>
                <a:latin typeface="Aptos" pitchFamily="34" charset="0"/>
                <a:ea typeface="Aptos" pitchFamily="34" charset="-122"/>
                <a:cs typeface="Aptos" pitchFamily="34" charset="-120"/>
              </a:rPr>
              <a:t>PUT</a:t>
            </a:r>
            <a:endParaRPr lang="en-US" sz="750" dirty="0"/>
          </a:p>
        </p:txBody>
      </p:sp>
      <p:sp>
        <p:nvSpPr>
          <p:cNvPr id="49" name="Shape 47"/>
          <p:cNvSpPr/>
          <p:nvPr/>
        </p:nvSpPr>
        <p:spPr>
          <a:xfrm>
            <a:off x="6803136" y="4828032"/>
            <a:ext cx="576072" cy="73152"/>
          </a:xfrm>
          <a:prstGeom prst="rect">
            <a:avLst/>
          </a:prstGeom>
          <a:solidFill>
            <a:srgbClr val="328C8B"/>
          </a:solidFill>
          <a:ln w="12700">
            <a:solidFill>
              <a:srgbClr val="328C8B"/>
            </a:solidFill>
            <a:prstDash val="solid"/>
          </a:ln>
        </p:spPr>
        <p:txBody>
          <a:bodyPr/>
          <a:lstStyle/>
          <a:p>
            <a:endParaRPr lang="en-US"/>
          </a:p>
        </p:txBody>
      </p:sp>
      <p:sp>
        <p:nvSpPr>
          <p:cNvPr id="50" name="Text 48"/>
          <p:cNvSpPr/>
          <p:nvPr/>
        </p:nvSpPr>
        <p:spPr>
          <a:xfrm>
            <a:off x="7077456" y="4965192"/>
            <a:ext cx="256032" cy="164592"/>
          </a:xfrm>
          <a:prstGeom prst="rect">
            <a:avLst/>
          </a:prstGeom>
          <a:noFill/>
          <a:ln/>
        </p:spPr>
        <p:txBody>
          <a:bodyPr wrap="square" lIns="0" tIns="0" rIns="0" bIns="0" rtlCol="0" anchor="ctr">
            <a:normAutofit/>
          </a:bodyPr>
          <a:lstStyle/>
          <a:p>
            <a:pPr marL="0" indent="0" algn="r">
              <a:buNone/>
            </a:pPr>
            <a:r>
              <a:rPr lang="en-US" sz="900" b="1" dirty="0">
                <a:solidFill>
                  <a:srgbClr val="328C8B"/>
                </a:solidFill>
                <a:latin typeface="Aptos" pitchFamily="34" charset="0"/>
                <a:ea typeface="Aptos" pitchFamily="34" charset="-122"/>
                <a:cs typeface="Aptos" pitchFamily="34" charset="-120"/>
              </a:rPr>
              <a:t>+%</a:t>
            </a:r>
            <a:endParaRPr lang="en-US" sz="900" dirty="0"/>
          </a:p>
        </p:txBody>
      </p:sp>
      <p:sp>
        <p:nvSpPr>
          <p:cNvPr id="51" name="Text 49"/>
          <p:cNvSpPr/>
          <p:nvPr/>
        </p:nvSpPr>
        <p:spPr>
          <a:xfrm>
            <a:off x="7699248" y="4251960"/>
            <a:ext cx="3200400" cy="310896"/>
          </a:xfrm>
          <a:prstGeom prst="rect">
            <a:avLst/>
          </a:prstGeom>
          <a:noFill/>
          <a:ln/>
        </p:spPr>
        <p:txBody>
          <a:bodyPr wrap="square" lIns="0" tIns="0" rIns="0" bIns="0" rtlCol="0" anchor="ctr">
            <a:normAutofit/>
          </a:bodyPr>
          <a:lstStyle/>
          <a:p>
            <a:pPr marL="0" indent="0">
              <a:buNone/>
            </a:pPr>
            <a:r>
              <a:rPr lang="en-US" sz="1900" dirty="0">
                <a:solidFill>
                  <a:srgbClr val="352B26"/>
                </a:solidFill>
                <a:latin typeface="Georgia" pitchFamily="34" charset="0"/>
                <a:ea typeface="Georgia" pitchFamily="34" charset="-122"/>
                <a:cs typeface="Georgia" pitchFamily="34" charset="-120"/>
              </a:rPr>
              <a:t>Suboptimalnost</a:t>
            </a:r>
            <a:endParaRPr lang="en-US" sz="1900" dirty="0"/>
          </a:p>
        </p:txBody>
      </p:sp>
      <p:sp>
        <p:nvSpPr>
          <p:cNvPr id="52" name="Text 50"/>
          <p:cNvSpPr/>
          <p:nvPr/>
        </p:nvSpPr>
        <p:spPr>
          <a:xfrm>
            <a:off x="7699248" y="4727448"/>
            <a:ext cx="3200400" cy="530352"/>
          </a:xfrm>
          <a:prstGeom prst="rect">
            <a:avLst/>
          </a:prstGeom>
          <a:noFill/>
          <a:ln/>
        </p:spPr>
        <p:txBody>
          <a:bodyPr wrap="square" lIns="0" tIns="0" rIns="0" bIns="0" rtlCol="0" anchor="t">
            <a:normAutofit/>
          </a:bodyPr>
          <a:lstStyle/>
          <a:p>
            <a:pPr marL="0" indent="0">
              <a:buNone/>
            </a:pPr>
            <a:r>
              <a:rPr lang="en-US" sz="1400" dirty="0">
                <a:solidFill>
                  <a:srgbClr val="786B62"/>
                </a:solidFill>
                <a:latin typeface="Aptos" pitchFamily="34" charset="0"/>
                <a:ea typeface="Aptos" pitchFamily="34" charset="-122"/>
                <a:cs typeface="Aptos" pitchFamily="34" charset="-120"/>
              </a:rPr>
              <a:t>odstupanje od referentne cene</a:t>
            </a:r>
            <a:endParaRPr lang="en-US" sz="1400" dirty="0"/>
          </a:p>
        </p:txBody>
      </p:sp>
      <p:sp>
        <p:nvSpPr>
          <p:cNvPr id="53" name="Text 51"/>
          <p:cNvSpPr/>
          <p:nvPr/>
        </p:nvSpPr>
        <p:spPr>
          <a:xfrm>
            <a:off x="2039112" y="5852160"/>
            <a:ext cx="8138160" cy="292608"/>
          </a:xfrm>
          <a:prstGeom prst="rect">
            <a:avLst/>
          </a:prstGeom>
          <a:noFill/>
          <a:ln/>
        </p:spPr>
        <p:txBody>
          <a:bodyPr wrap="square" lIns="0" tIns="0" rIns="0" bIns="0" rtlCol="0" anchor="ctr">
            <a:normAutofit/>
          </a:bodyPr>
          <a:lstStyle/>
          <a:p>
            <a:pPr marL="0" indent="0" algn="ctr">
              <a:buNone/>
            </a:pPr>
            <a:r>
              <a:rPr lang="en-US" sz="1400" b="1" dirty="0">
                <a:solidFill>
                  <a:srgbClr val="6E473B"/>
                </a:solidFill>
                <a:latin typeface="Aptos" pitchFamily="34" charset="0"/>
                <a:ea typeface="Aptos" pitchFamily="34" charset="-122"/>
                <a:cs typeface="Aptos" pitchFamily="34" charset="-120"/>
              </a:rPr>
              <a:t>Vreme izvršavanja je dopunska mera jer zavisi od hardvera i okruženja.</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3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
          </a:xfrm>
          <a:prstGeom prst="rect">
            <a:avLst/>
          </a:prstGeom>
          <a:solidFill>
            <a:srgbClr val="8B5E50"/>
          </a:solidFill>
          <a:ln w="12700">
            <a:solidFill>
              <a:srgbClr val="8B5E50"/>
            </a:solidFill>
            <a:prstDash val="solid"/>
          </a:ln>
        </p:spPr>
        <p:txBody>
          <a:bodyPr/>
          <a:lstStyle/>
          <a:p>
            <a:endParaRPr lang="en-US"/>
          </a:p>
        </p:txBody>
      </p:sp>
      <p:sp>
        <p:nvSpPr>
          <p:cNvPr id="3" name="Text 1"/>
          <p:cNvSpPr/>
          <p:nvPr/>
        </p:nvSpPr>
        <p:spPr>
          <a:xfrm>
            <a:off x="658368" y="274320"/>
            <a:ext cx="6858000" cy="182880"/>
          </a:xfrm>
          <a:prstGeom prst="rect">
            <a:avLst/>
          </a:prstGeom>
          <a:noFill/>
          <a:ln/>
        </p:spPr>
        <p:txBody>
          <a:bodyPr wrap="square" lIns="0" tIns="0" rIns="0" bIns="0" rtlCol="0" anchor="ctr">
            <a:normAutofit/>
          </a:bodyPr>
          <a:lstStyle/>
          <a:p>
            <a:pPr marL="0" indent="0">
              <a:buNone/>
            </a:pPr>
            <a:r>
              <a:rPr lang="en-US" sz="1000" b="1" kern="0" spc="120" dirty="0">
                <a:solidFill>
                  <a:srgbClr val="8B5E50"/>
                </a:solidFill>
                <a:latin typeface="Aptos" pitchFamily="34" charset="0"/>
                <a:ea typeface="Aptos" pitchFamily="34" charset="-122"/>
                <a:cs typeface="Aptos" pitchFamily="34" charset="-120"/>
              </a:rPr>
              <a:t>GLAVNI REZULTAT</a:t>
            </a:r>
            <a:endParaRPr lang="en-US" sz="1000" dirty="0"/>
          </a:p>
        </p:txBody>
      </p:sp>
      <p:sp>
        <p:nvSpPr>
          <p:cNvPr id="4" name="Shape 2"/>
          <p:cNvSpPr/>
          <p:nvPr/>
        </p:nvSpPr>
        <p:spPr>
          <a:xfrm>
            <a:off x="658368" y="6428232"/>
            <a:ext cx="10881360" cy="0"/>
          </a:xfrm>
          <a:prstGeom prst="line">
            <a:avLst/>
          </a:prstGeom>
          <a:noFill/>
          <a:ln w="10160">
            <a:solidFill>
              <a:srgbClr val="DED2C5"/>
            </a:solidFill>
            <a:prstDash val="solid"/>
          </a:ln>
        </p:spPr>
        <p:txBody>
          <a:bodyPr/>
          <a:lstStyle/>
          <a:p>
            <a:endParaRPr lang="en-US"/>
          </a:p>
        </p:txBody>
      </p:sp>
      <p:sp>
        <p:nvSpPr>
          <p:cNvPr id="5" name="Text 3"/>
          <p:cNvSpPr/>
          <p:nvPr/>
        </p:nvSpPr>
        <p:spPr>
          <a:xfrm>
            <a:off x="11045952" y="6492240"/>
            <a:ext cx="493776" cy="146304"/>
          </a:xfrm>
          <a:prstGeom prst="rect">
            <a:avLst/>
          </a:prstGeom>
          <a:noFill/>
          <a:ln/>
        </p:spPr>
        <p:txBody>
          <a:bodyPr wrap="square" lIns="0" tIns="0" rIns="0" bIns="0" rtlCol="0" anchor="ctr">
            <a:normAutofit/>
          </a:bodyPr>
          <a:lstStyle/>
          <a:p>
            <a:pPr marL="0" indent="0" algn="r">
              <a:buNone/>
            </a:pPr>
            <a:r>
              <a:rPr lang="en-US" sz="850" b="1" dirty="0">
                <a:solidFill>
                  <a:srgbClr val="786B62"/>
                </a:solidFill>
                <a:latin typeface="Aptos" pitchFamily="34" charset="0"/>
                <a:ea typeface="Aptos" pitchFamily="34" charset="-122"/>
                <a:cs typeface="Aptos" pitchFamily="34" charset="-120"/>
              </a:rPr>
              <a:t>10</a:t>
            </a:r>
            <a:endParaRPr lang="en-US" sz="850" dirty="0"/>
          </a:p>
        </p:txBody>
      </p:sp>
      <p:sp>
        <p:nvSpPr>
          <p:cNvPr id="6" name="Text 4"/>
          <p:cNvSpPr/>
          <p:nvPr/>
        </p:nvSpPr>
        <p:spPr>
          <a:xfrm>
            <a:off x="658368" y="694944"/>
            <a:ext cx="10789920" cy="658368"/>
          </a:xfrm>
          <a:prstGeom prst="rect">
            <a:avLst/>
          </a:prstGeom>
          <a:noFill/>
          <a:ln/>
        </p:spPr>
        <p:txBody>
          <a:bodyPr wrap="square" lIns="0" tIns="0" rIns="0" bIns="0" rtlCol="0" anchor="t">
            <a:normAutofit/>
          </a:bodyPr>
          <a:lstStyle/>
          <a:p>
            <a:pPr marL="0" indent="0">
              <a:buNone/>
            </a:pPr>
            <a:r>
              <a:rPr lang="en-US" sz="2800" dirty="0">
                <a:solidFill>
                  <a:srgbClr val="352B26"/>
                </a:solidFill>
                <a:latin typeface="Georgia" pitchFamily="34" charset="0"/>
                <a:ea typeface="Georgia" pitchFamily="34" charset="-122"/>
                <a:cs typeface="Georgia" pitchFamily="34" charset="-120"/>
              </a:rPr>
              <a:t>A* zadržava kvalitet uz znatno manje istraživanja.</a:t>
            </a:r>
            <a:endParaRPr lang="en-US" sz="2800" dirty="0"/>
          </a:p>
        </p:txBody>
      </p:sp>
      <p:sp>
        <p:nvSpPr>
          <p:cNvPr id="7" name="Text 5"/>
          <p:cNvSpPr/>
          <p:nvPr/>
        </p:nvSpPr>
        <p:spPr>
          <a:xfrm>
            <a:off x="676656" y="1344168"/>
            <a:ext cx="8961120" cy="347472"/>
          </a:xfrm>
          <a:prstGeom prst="rect">
            <a:avLst/>
          </a:prstGeom>
          <a:noFill/>
          <a:ln/>
        </p:spPr>
        <p:txBody>
          <a:bodyPr wrap="square" lIns="0" tIns="0" rIns="0" bIns="0" rtlCol="0" anchor="ctr">
            <a:normAutofit/>
          </a:bodyPr>
          <a:lstStyle/>
          <a:p>
            <a:pPr marL="0" indent="0">
              <a:buNone/>
            </a:pPr>
            <a:r>
              <a:rPr lang="en-US" sz="1700" dirty="0">
                <a:solidFill>
                  <a:srgbClr val="786B62"/>
                </a:solidFill>
                <a:latin typeface="Aptos" pitchFamily="34" charset="0"/>
                <a:ea typeface="Aptos" pitchFamily="34" charset="-122"/>
                <a:cs typeface="Aptos" pitchFamily="34" charset="-120"/>
              </a:rPr>
              <a:t>Oba algoritma pronalaze isti najjeftiniji put.</a:t>
            </a:r>
            <a:endParaRPr lang="en-US" sz="1700" dirty="0"/>
          </a:p>
        </p:txBody>
      </p:sp>
      <p:sp>
        <p:nvSpPr>
          <p:cNvPr id="8" name="Text 6"/>
          <p:cNvSpPr/>
          <p:nvPr/>
        </p:nvSpPr>
        <p:spPr>
          <a:xfrm>
            <a:off x="749808" y="2286000"/>
            <a:ext cx="1097280" cy="329184"/>
          </a:xfrm>
          <a:prstGeom prst="rect">
            <a:avLst/>
          </a:prstGeom>
          <a:noFill/>
          <a:ln/>
        </p:spPr>
        <p:txBody>
          <a:bodyPr wrap="square" lIns="0" tIns="0" rIns="0" bIns="0" rtlCol="0" anchor="ctr">
            <a:normAutofit/>
          </a:bodyPr>
          <a:lstStyle/>
          <a:p>
            <a:pPr marL="0" indent="0" algn="r">
              <a:buNone/>
            </a:pPr>
            <a:r>
              <a:rPr lang="en-US" sz="1600" b="1" dirty="0">
                <a:solidFill>
                  <a:srgbClr val="352B26"/>
                </a:solidFill>
                <a:latin typeface="Aptos" pitchFamily="34" charset="0"/>
                <a:ea typeface="Aptos" pitchFamily="34" charset="-122"/>
                <a:cs typeface="Aptos" pitchFamily="34" charset="-120"/>
              </a:rPr>
              <a:t>Dijkstra</a:t>
            </a:r>
            <a:endParaRPr lang="en-US" sz="1600" dirty="0"/>
          </a:p>
        </p:txBody>
      </p:sp>
      <p:sp>
        <p:nvSpPr>
          <p:cNvPr id="9" name="Shape 7"/>
          <p:cNvSpPr/>
          <p:nvPr/>
        </p:nvSpPr>
        <p:spPr>
          <a:xfrm>
            <a:off x="2148840" y="2148840"/>
            <a:ext cx="5760720" cy="658368"/>
          </a:xfrm>
          <a:prstGeom prst="roundRect">
            <a:avLst/>
          </a:prstGeom>
          <a:solidFill>
            <a:srgbClr val="EEE5DA"/>
          </a:solidFill>
          <a:ln w="12700">
            <a:solidFill>
              <a:srgbClr val="EEE5DA"/>
            </a:solidFill>
            <a:prstDash val="solid"/>
          </a:ln>
        </p:spPr>
        <p:txBody>
          <a:bodyPr/>
          <a:lstStyle/>
          <a:p>
            <a:endParaRPr lang="en-US"/>
          </a:p>
        </p:txBody>
      </p:sp>
      <p:sp>
        <p:nvSpPr>
          <p:cNvPr id="10" name="Shape 8"/>
          <p:cNvSpPr/>
          <p:nvPr/>
        </p:nvSpPr>
        <p:spPr>
          <a:xfrm>
            <a:off x="2148840" y="2148840"/>
            <a:ext cx="5760720" cy="658368"/>
          </a:xfrm>
          <a:prstGeom prst="roundRect">
            <a:avLst/>
          </a:prstGeom>
          <a:solidFill>
            <a:srgbClr val="8B5E50"/>
          </a:solidFill>
          <a:ln w="12700">
            <a:solidFill>
              <a:srgbClr val="8B5E50"/>
            </a:solidFill>
            <a:prstDash val="solid"/>
          </a:ln>
        </p:spPr>
        <p:txBody>
          <a:bodyPr/>
          <a:lstStyle/>
          <a:p>
            <a:endParaRPr lang="en-US"/>
          </a:p>
        </p:txBody>
      </p:sp>
      <p:sp>
        <p:nvSpPr>
          <p:cNvPr id="11" name="Text 9"/>
          <p:cNvSpPr/>
          <p:nvPr/>
        </p:nvSpPr>
        <p:spPr>
          <a:xfrm>
            <a:off x="8147304" y="2240280"/>
            <a:ext cx="658368" cy="384048"/>
          </a:xfrm>
          <a:prstGeom prst="rect">
            <a:avLst/>
          </a:prstGeom>
          <a:noFill/>
          <a:ln/>
        </p:spPr>
        <p:txBody>
          <a:bodyPr wrap="square" lIns="0" tIns="0" rIns="0" bIns="0" rtlCol="0" anchor="ctr">
            <a:normAutofit/>
          </a:bodyPr>
          <a:lstStyle/>
          <a:p>
            <a:pPr marL="0" indent="0" algn="r">
              <a:buNone/>
            </a:pPr>
            <a:r>
              <a:rPr lang="en-US" sz="2300" dirty="0">
                <a:solidFill>
                  <a:srgbClr val="6E473B"/>
                </a:solidFill>
                <a:latin typeface="Georgia" pitchFamily="34" charset="0"/>
                <a:ea typeface="Georgia" pitchFamily="34" charset="-122"/>
                <a:cs typeface="Georgia" pitchFamily="34" charset="-120"/>
              </a:rPr>
              <a:t>584</a:t>
            </a:r>
            <a:endParaRPr lang="en-US" sz="2300" dirty="0"/>
          </a:p>
        </p:txBody>
      </p:sp>
      <p:sp>
        <p:nvSpPr>
          <p:cNvPr id="12" name="Text 10"/>
          <p:cNvSpPr/>
          <p:nvPr/>
        </p:nvSpPr>
        <p:spPr>
          <a:xfrm>
            <a:off x="749808" y="3547872"/>
            <a:ext cx="1097280" cy="329184"/>
          </a:xfrm>
          <a:prstGeom prst="rect">
            <a:avLst/>
          </a:prstGeom>
          <a:noFill/>
          <a:ln/>
        </p:spPr>
        <p:txBody>
          <a:bodyPr wrap="square" lIns="0" tIns="0" rIns="0" bIns="0" rtlCol="0" anchor="ctr">
            <a:normAutofit/>
          </a:bodyPr>
          <a:lstStyle/>
          <a:p>
            <a:pPr marL="0" indent="0" algn="r">
              <a:buNone/>
            </a:pPr>
            <a:r>
              <a:rPr lang="en-US" sz="1600" b="1" dirty="0">
                <a:solidFill>
                  <a:srgbClr val="352B26"/>
                </a:solidFill>
                <a:latin typeface="Aptos" pitchFamily="34" charset="0"/>
                <a:ea typeface="Aptos" pitchFamily="34" charset="-122"/>
                <a:cs typeface="Aptos" pitchFamily="34" charset="-120"/>
              </a:rPr>
              <a:t>A*</a:t>
            </a:r>
            <a:endParaRPr lang="en-US" sz="1600" dirty="0"/>
          </a:p>
        </p:txBody>
      </p:sp>
      <p:sp>
        <p:nvSpPr>
          <p:cNvPr id="13" name="Shape 11"/>
          <p:cNvSpPr/>
          <p:nvPr/>
        </p:nvSpPr>
        <p:spPr>
          <a:xfrm>
            <a:off x="2148840" y="3410712"/>
            <a:ext cx="5760720" cy="658368"/>
          </a:xfrm>
          <a:prstGeom prst="roundRect">
            <a:avLst/>
          </a:prstGeom>
          <a:solidFill>
            <a:srgbClr val="EEE5DA"/>
          </a:solidFill>
          <a:ln w="12700">
            <a:solidFill>
              <a:srgbClr val="EEE5DA"/>
            </a:solidFill>
            <a:prstDash val="solid"/>
          </a:ln>
        </p:spPr>
        <p:txBody>
          <a:bodyPr/>
          <a:lstStyle/>
          <a:p>
            <a:endParaRPr lang="en-US"/>
          </a:p>
        </p:txBody>
      </p:sp>
      <p:sp>
        <p:nvSpPr>
          <p:cNvPr id="14" name="Shape 12"/>
          <p:cNvSpPr/>
          <p:nvPr/>
        </p:nvSpPr>
        <p:spPr>
          <a:xfrm>
            <a:off x="2148840" y="3410712"/>
            <a:ext cx="2160270" cy="658368"/>
          </a:xfrm>
          <a:prstGeom prst="roundRect">
            <a:avLst/>
          </a:prstGeom>
          <a:solidFill>
            <a:srgbClr val="328C8B"/>
          </a:solidFill>
          <a:ln w="12700">
            <a:solidFill>
              <a:srgbClr val="328C8B"/>
            </a:solidFill>
            <a:prstDash val="solid"/>
          </a:ln>
        </p:spPr>
        <p:txBody>
          <a:bodyPr/>
          <a:lstStyle/>
          <a:p>
            <a:endParaRPr lang="en-US"/>
          </a:p>
        </p:txBody>
      </p:sp>
      <p:sp>
        <p:nvSpPr>
          <p:cNvPr id="15" name="Text 13"/>
          <p:cNvSpPr/>
          <p:nvPr/>
        </p:nvSpPr>
        <p:spPr>
          <a:xfrm>
            <a:off x="8147304" y="3502152"/>
            <a:ext cx="658368" cy="384048"/>
          </a:xfrm>
          <a:prstGeom prst="rect">
            <a:avLst/>
          </a:prstGeom>
          <a:noFill/>
          <a:ln/>
        </p:spPr>
        <p:txBody>
          <a:bodyPr wrap="square" lIns="0" tIns="0" rIns="0" bIns="0" rtlCol="0" anchor="ctr">
            <a:normAutofit/>
          </a:bodyPr>
          <a:lstStyle/>
          <a:p>
            <a:pPr marL="0" indent="0" algn="r">
              <a:buNone/>
            </a:pPr>
            <a:r>
              <a:rPr lang="en-US" sz="2300" dirty="0">
                <a:solidFill>
                  <a:srgbClr val="328C8B"/>
                </a:solidFill>
                <a:latin typeface="Georgia" pitchFamily="34" charset="0"/>
                <a:ea typeface="Georgia" pitchFamily="34" charset="-122"/>
                <a:cs typeface="Georgia" pitchFamily="34" charset="-120"/>
              </a:rPr>
              <a:t>219</a:t>
            </a:r>
            <a:endParaRPr lang="en-US" sz="2300" dirty="0"/>
          </a:p>
        </p:txBody>
      </p:sp>
      <p:sp>
        <p:nvSpPr>
          <p:cNvPr id="16" name="Text 14"/>
          <p:cNvSpPr/>
          <p:nvPr/>
        </p:nvSpPr>
        <p:spPr>
          <a:xfrm>
            <a:off x="2148840" y="4343400"/>
            <a:ext cx="5760720" cy="256032"/>
          </a:xfrm>
          <a:prstGeom prst="rect">
            <a:avLst/>
          </a:prstGeom>
          <a:noFill/>
          <a:ln/>
        </p:spPr>
        <p:txBody>
          <a:bodyPr wrap="square" lIns="0" tIns="0" rIns="0" bIns="0" rtlCol="0" anchor="ctr">
            <a:normAutofit/>
          </a:bodyPr>
          <a:lstStyle/>
          <a:p>
            <a:pPr marL="0" indent="0" algn="ctr">
              <a:buNone/>
            </a:pPr>
            <a:r>
              <a:rPr lang="en-US" sz="1250" dirty="0">
                <a:solidFill>
                  <a:srgbClr val="786B62"/>
                </a:solidFill>
                <a:latin typeface="Aptos" pitchFamily="34" charset="0"/>
                <a:ea typeface="Aptos" pitchFamily="34" charset="-122"/>
                <a:cs typeface="Aptos" pitchFamily="34" charset="-120"/>
              </a:rPr>
              <a:t>prosečan broj proširenih čvorova</a:t>
            </a:r>
            <a:endParaRPr lang="en-US" sz="1250" dirty="0"/>
          </a:p>
        </p:txBody>
      </p:sp>
      <p:sp>
        <p:nvSpPr>
          <p:cNvPr id="17" name="Shape 15"/>
          <p:cNvSpPr/>
          <p:nvPr/>
        </p:nvSpPr>
        <p:spPr>
          <a:xfrm>
            <a:off x="9061704" y="1920240"/>
            <a:ext cx="0" cy="2971800"/>
          </a:xfrm>
          <a:prstGeom prst="line">
            <a:avLst/>
          </a:prstGeom>
          <a:noFill/>
          <a:ln w="12700">
            <a:solidFill>
              <a:srgbClr val="DED2C5"/>
            </a:solidFill>
            <a:prstDash val="solid"/>
          </a:ln>
        </p:spPr>
        <p:txBody>
          <a:bodyPr/>
          <a:lstStyle/>
          <a:p>
            <a:endParaRPr lang="en-US"/>
          </a:p>
        </p:txBody>
      </p:sp>
      <p:sp>
        <p:nvSpPr>
          <p:cNvPr id="18" name="Text 16"/>
          <p:cNvSpPr/>
          <p:nvPr/>
        </p:nvSpPr>
        <p:spPr>
          <a:xfrm>
            <a:off x="9354312" y="2039112"/>
            <a:ext cx="1828800" cy="758952"/>
          </a:xfrm>
          <a:prstGeom prst="rect">
            <a:avLst/>
          </a:prstGeom>
          <a:noFill/>
          <a:ln/>
        </p:spPr>
        <p:txBody>
          <a:bodyPr wrap="square" lIns="0" tIns="0" rIns="0" bIns="0" rtlCol="0" anchor="ctr">
            <a:normAutofit/>
          </a:bodyPr>
          <a:lstStyle/>
          <a:p>
            <a:pPr marL="0" indent="0" algn="ctr">
              <a:buNone/>
            </a:pPr>
            <a:r>
              <a:rPr lang="en-US" sz="4300" dirty="0">
                <a:solidFill>
                  <a:srgbClr val="D85B4A"/>
                </a:solidFill>
                <a:latin typeface="Georgia" pitchFamily="34" charset="0"/>
                <a:ea typeface="Georgia" pitchFamily="34" charset="-122"/>
                <a:cs typeface="Georgia" pitchFamily="34" charset="-120"/>
              </a:rPr>
              <a:t>62,5%</a:t>
            </a:r>
            <a:endParaRPr lang="en-US" sz="4300" dirty="0"/>
          </a:p>
        </p:txBody>
      </p:sp>
      <p:sp>
        <p:nvSpPr>
          <p:cNvPr id="19" name="Text 17"/>
          <p:cNvSpPr/>
          <p:nvPr/>
        </p:nvSpPr>
        <p:spPr>
          <a:xfrm>
            <a:off x="9326880" y="2834640"/>
            <a:ext cx="1892808" cy="310896"/>
          </a:xfrm>
          <a:prstGeom prst="rect">
            <a:avLst/>
          </a:prstGeom>
          <a:noFill/>
          <a:ln/>
        </p:spPr>
        <p:txBody>
          <a:bodyPr wrap="square" lIns="0" tIns="0" rIns="0" bIns="0" rtlCol="0" anchor="ctr">
            <a:normAutofit/>
          </a:bodyPr>
          <a:lstStyle/>
          <a:p>
            <a:pPr marL="0" indent="0" algn="ctr">
              <a:buNone/>
            </a:pPr>
            <a:r>
              <a:rPr lang="en-US" sz="1650" b="1" dirty="0">
                <a:solidFill>
                  <a:srgbClr val="352B26"/>
                </a:solidFill>
                <a:latin typeface="Aptos" pitchFamily="34" charset="0"/>
                <a:ea typeface="Aptos" pitchFamily="34" charset="-122"/>
                <a:cs typeface="Aptos" pitchFamily="34" charset="-120"/>
              </a:rPr>
              <a:t>manje istraživanja</a:t>
            </a:r>
            <a:endParaRPr lang="en-US" sz="1650" dirty="0"/>
          </a:p>
        </p:txBody>
      </p:sp>
      <p:sp>
        <p:nvSpPr>
          <p:cNvPr id="20" name="Shape 18"/>
          <p:cNvSpPr/>
          <p:nvPr/>
        </p:nvSpPr>
        <p:spPr>
          <a:xfrm>
            <a:off x="9372600" y="3493008"/>
            <a:ext cx="1792224" cy="484632"/>
          </a:xfrm>
          <a:prstGeom prst="roundRect">
            <a:avLst/>
          </a:prstGeom>
          <a:solidFill>
            <a:srgbClr val="328C8B">
              <a:alpha val="14000"/>
            </a:srgbClr>
          </a:solidFill>
          <a:ln w="12700">
            <a:solidFill>
              <a:srgbClr val="328C8B"/>
            </a:solidFill>
            <a:prstDash val="solid"/>
          </a:ln>
        </p:spPr>
        <p:txBody>
          <a:bodyPr/>
          <a:lstStyle/>
          <a:p>
            <a:endParaRPr lang="en-US"/>
          </a:p>
        </p:txBody>
      </p:sp>
      <p:sp>
        <p:nvSpPr>
          <p:cNvPr id="21" name="Text 19"/>
          <p:cNvSpPr/>
          <p:nvPr/>
        </p:nvSpPr>
        <p:spPr>
          <a:xfrm>
            <a:off x="9436608" y="3602736"/>
            <a:ext cx="1664208" cy="246888"/>
          </a:xfrm>
          <a:prstGeom prst="rect">
            <a:avLst/>
          </a:prstGeom>
          <a:noFill/>
          <a:ln/>
        </p:spPr>
        <p:txBody>
          <a:bodyPr wrap="square" lIns="0" tIns="0" rIns="0" bIns="0" rtlCol="0" anchor="ctr">
            <a:normAutofit/>
          </a:bodyPr>
          <a:lstStyle/>
          <a:p>
            <a:pPr marL="0" indent="0" algn="ctr">
              <a:buNone/>
            </a:pPr>
            <a:r>
              <a:rPr lang="en-US" sz="1200" b="1" dirty="0">
                <a:solidFill>
                  <a:srgbClr val="328C8B"/>
                </a:solidFill>
                <a:latin typeface="Aptos" pitchFamily="34" charset="0"/>
                <a:ea typeface="Aptos" pitchFamily="34" charset="-122"/>
                <a:cs typeface="Aptos" pitchFamily="34" charset="-120"/>
              </a:rPr>
              <a:t>0% suboptimalnosti</a:t>
            </a:r>
            <a:endParaRPr lang="en-US" sz="1200" dirty="0"/>
          </a:p>
        </p:txBody>
      </p:sp>
      <p:sp>
        <p:nvSpPr>
          <p:cNvPr id="22" name="Text 20"/>
          <p:cNvSpPr/>
          <p:nvPr/>
        </p:nvSpPr>
        <p:spPr>
          <a:xfrm>
            <a:off x="9272016" y="4361688"/>
            <a:ext cx="2048256" cy="594360"/>
          </a:xfrm>
          <a:prstGeom prst="rect">
            <a:avLst/>
          </a:prstGeom>
          <a:noFill/>
          <a:ln/>
        </p:spPr>
        <p:txBody>
          <a:bodyPr wrap="square" lIns="0" tIns="0" rIns="0" bIns="0" rtlCol="0" anchor="t">
            <a:normAutofit/>
          </a:bodyPr>
          <a:lstStyle/>
          <a:p>
            <a:pPr marL="0" indent="0" algn="ctr">
              <a:buNone/>
            </a:pPr>
            <a:r>
              <a:rPr lang="en-US" sz="1650" dirty="0">
                <a:solidFill>
                  <a:srgbClr val="6E473B"/>
                </a:solidFill>
                <a:latin typeface="Georgia" pitchFamily="34" charset="0"/>
                <a:ea typeface="Georgia" pitchFamily="34" charset="-122"/>
                <a:cs typeface="Georgia" pitchFamily="34" charset="-120"/>
              </a:rPr>
              <a:t>Heuristika usmerava potragu, ali ne menja cilj.</a:t>
            </a:r>
            <a:endParaRPr lang="en-US" sz="16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3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
          </a:xfrm>
          <a:prstGeom prst="rect">
            <a:avLst/>
          </a:prstGeom>
          <a:solidFill>
            <a:srgbClr val="8B5E50"/>
          </a:solidFill>
          <a:ln w="12700">
            <a:solidFill>
              <a:srgbClr val="8B5E50"/>
            </a:solidFill>
            <a:prstDash val="solid"/>
          </a:ln>
        </p:spPr>
        <p:txBody>
          <a:bodyPr/>
          <a:lstStyle/>
          <a:p>
            <a:endParaRPr lang="en-US"/>
          </a:p>
        </p:txBody>
      </p:sp>
      <p:sp>
        <p:nvSpPr>
          <p:cNvPr id="3" name="Text 1"/>
          <p:cNvSpPr/>
          <p:nvPr/>
        </p:nvSpPr>
        <p:spPr>
          <a:xfrm>
            <a:off x="658368" y="274320"/>
            <a:ext cx="6858000" cy="182880"/>
          </a:xfrm>
          <a:prstGeom prst="rect">
            <a:avLst/>
          </a:prstGeom>
          <a:noFill/>
          <a:ln/>
        </p:spPr>
        <p:txBody>
          <a:bodyPr wrap="square" lIns="0" tIns="0" rIns="0" bIns="0" rtlCol="0" anchor="ctr">
            <a:normAutofit/>
          </a:bodyPr>
          <a:lstStyle/>
          <a:p>
            <a:pPr marL="0" indent="0">
              <a:buNone/>
            </a:pPr>
            <a:r>
              <a:rPr lang="en-US" sz="1000" b="1" kern="0" spc="120" dirty="0">
                <a:solidFill>
                  <a:srgbClr val="8B5E50"/>
                </a:solidFill>
                <a:latin typeface="Aptos" pitchFamily="34" charset="0"/>
                <a:ea typeface="Aptos" pitchFamily="34" charset="-122"/>
                <a:cs typeface="Aptos" pitchFamily="34" charset="-120"/>
              </a:rPr>
              <a:t>DRUGI REZULTAT</a:t>
            </a:r>
            <a:endParaRPr lang="en-US" sz="1000" dirty="0"/>
          </a:p>
        </p:txBody>
      </p:sp>
      <p:sp>
        <p:nvSpPr>
          <p:cNvPr id="4" name="Shape 2"/>
          <p:cNvSpPr/>
          <p:nvPr/>
        </p:nvSpPr>
        <p:spPr>
          <a:xfrm>
            <a:off x="658368" y="6428232"/>
            <a:ext cx="10881360" cy="0"/>
          </a:xfrm>
          <a:prstGeom prst="line">
            <a:avLst/>
          </a:prstGeom>
          <a:noFill/>
          <a:ln w="10160">
            <a:solidFill>
              <a:srgbClr val="DED2C5"/>
            </a:solidFill>
            <a:prstDash val="solid"/>
          </a:ln>
        </p:spPr>
        <p:txBody>
          <a:bodyPr/>
          <a:lstStyle/>
          <a:p>
            <a:endParaRPr lang="en-US"/>
          </a:p>
        </p:txBody>
      </p:sp>
      <p:sp>
        <p:nvSpPr>
          <p:cNvPr id="5" name="Text 3"/>
          <p:cNvSpPr/>
          <p:nvPr/>
        </p:nvSpPr>
        <p:spPr>
          <a:xfrm>
            <a:off x="11045952" y="6492240"/>
            <a:ext cx="493776" cy="146304"/>
          </a:xfrm>
          <a:prstGeom prst="rect">
            <a:avLst/>
          </a:prstGeom>
          <a:noFill/>
          <a:ln/>
        </p:spPr>
        <p:txBody>
          <a:bodyPr wrap="square" lIns="0" tIns="0" rIns="0" bIns="0" rtlCol="0" anchor="ctr">
            <a:normAutofit/>
          </a:bodyPr>
          <a:lstStyle/>
          <a:p>
            <a:pPr marL="0" indent="0" algn="r">
              <a:buNone/>
            </a:pPr>
            <a:r>
              <a:rPr lang="en-US" sz="850" b="1" dirty="0">
                <a:solidFill>
                  <a:srgbClr val="786B62"/>
                </a:solidFill>
                <a:latin typeface="Aptos" pitchFamily="34" charset="0"/>
                <a:ea typeface="Aptos" pitchFamily="34" charset="-122"/>
                <a:cs typeface="Aptos" pitchFamily="34" charset="-120"/>
              </a:rPr>
              <a:t>11</a:t>
            </a:r>
            <a:endParaRPr lang="en-US" sz="850" dirty="0"/>
          </a:p>
        </p:txBody>
      </p:sp>
      <p:sp>
        <p:nvSpPr>
          <p:cNvPr id="6" name="Text 4"/>
          <p:cNvSpPr/>
          <p:nvPr/>
        </p:nvSpPr>
        <p:spPr>
          <a:xfrm>
            <a:off x="658368" y="694944"/>
            <a:ext cx="10789920" cy="658368"/>
          </a:xfrm>
          <a:prstGeom prst="rect">
            <a:avLst/>
          </a:prstGeom>
          <a:noFill/>
          <a:ln/>
        </p:spPr>
        <p:txBody>
          <a:bodyPr wrap="square" lIns="0" tIns="0" rIns="0" bIns="0" rtlCol="0" anchor="t">
            <a:normAutofit/>
          </a:bodyPr>
          <a:lstStyle/>
          <a:p>
            <a:pPr marL="0" indent="0">
              <a:buNone/>
            </a:pPr>
            <a:r>
              <a:rPr lang="en-US" sz="2800" dirty="0">
                <a:solidFill>
                  <a:srgbClr val="352B26"/>
                </a:solidFill>
                <a:latin typeface="Georgia" pitchFamily="34" charset="0"/>
                <a:ea typeface="Georgia" pitchFamily="34" charset="-122"/>
                <a:cs typeface="Georgia" pitchFamily="34" charset="-120"/>
              </a:rPr>
              <a:t>Swarm smanjuje rad uz malu suboptimalnost.</a:t>
            </a:r>
            <a:endParaRPr lang="en-US" sz="2800" dirty="0"/>
          </a:p>
        </p:txBody>
      </p:sp>
      <p:sp>
        <p:nvSpPr>
          <p:cNvPr id="7" name="Text 5"/>
          <p:cNvSpPr/>
          <p:nvPr/>
        </p:nvSpPr>
        <p:spPr>
          <a:xfrm>
            <a:off x="676656" y="1344168"/>
            <a:ext cx="9509760" cy="347472"/>
          </a:xfrm>
          <a:prstGeom prst="rect">
            <a:avLst/>
          </a:prstGeom>
          <a:noFill/>
          <a:ln/>
        </p:spPr>
        <p:txBody>
          <a:bodyPr wrap="square" lIns="0" tIns="0" rIns="0" bIns="0" rtlCol="0" anchor="ctr">
            <a:normAutofit/>
          </a:bodyPr>
          <a:lstStyle/>
          <a:p>
            <a:pPr marL="0" indent="0">
              <a:buNone/>
            </a:pPr>
            <a:r>
              <a:rPr lang="en-US" sz="1650" dirty="0">
                <a:solidFill>
                  <a:srgbClr val="786B62"/>
                </a:solidFill>
                <a:latin typeface="Aptos" pitchFamily="34" charset="0"/>
                <a:ea typeface="Aptos" pitchFamily="34" charset="-122"/>
                <a:cs typeface="Aptos" pitchFamily="34" charset="-120"/>
              </a:rPr>
              <a:t>Zbirni eksperiment pokazuje merljiv kompromis brzine i kvaliteta.</a:t>
            </a:r>
            <a:endParaRPr lang="en-US" sz="1650" dirty="0"/>
          </a:p>
        </p:txBody>
      </p:sp>
      <p:sp>
        <p:nvSpPr>
          <p:cNvPr id="8" name="Shape 6"/>
          <p:cNvSpPr/>
          <p:nvPr/>
        </p:nvSpPr>
        <p:spPr>
          <a:xfrm>
            <a:off x="749808" y="1883664"/>
            <a:ext cx="5184648" cy="3429000"/>
          </a:xfrm>
          <a:prstGeom prst="roundRect">
            <a:avLst/>
          </a:prstGeom>
          <a:solidFill>
            <a:srgbClr val="FFFDFC"/>
          </a:solidFill>
          <a:ln w="12700">
            <a:solidFill>
              <a:srgbClr val="DED2C5"/>
            </a:solidFill>
            <a:prstDash val="solid"/>
          </a:ln>
        </p:spPr>
        <p:txBody>
          <a:bodyPr/>
          <a:lstStyle/>
          <a:p>
            <a:endParaRPr lang="en-US"/>
          </a:p>
        </p:txBody>
      </p:sp>
      <p:sp>
        <p:nvSpPr>
          <p:cNvPr id="9" name="Text 7"/>
          <p:cNvSpPr/>
          <p:nvPr/>
        </p:nvSpPr>
        <p:spPr>
          <a:xfrm>
            <a:off x="1060704" y="2185416"/>
            <a:ext cx="4562856" cy="219456"/>
          </a:xfrm>
          <a:prstGeom prst="rect">
            <a:avLst/>
          </a:prstGeom>
          <a:noFill/>
          <a:ln/>
        </p:spPr>
        <p:txBody>
          <a:bodyPr wrap="square" lIns="0" tIns="0" rIns="0" bIns="0" rtlCol="0" anchor="ctr">
            <a:normAutofit/>
          </a:bodyPr>
          <a:lstStyle/>
          <a:p>
            <a:pPr marL="0" indent="0">
              <a:buNone/>
            </a:pPr>
            <a:r>
              <a:rPr lang="en-US" sz="1050" b="1" kern="0" spc="80" dirty="0">
                <a:solidFill>
                  <a:srgbClr val="8B5E50"/>
                </a:solidFill>
                <a:latin typeface="Aptos" pitchFamily="34" charset="0"/>
                <a:ea typeface="Aptos" pitchFamily="34" charset="-122"/>
                <a:cs typeface="Aptos" pitchFamily="34" charset="-120"/>
              </a:rPr>
              <a:t>KOLIČINA ISTRAŽIVANJA</a:t>
            </a:r>
            <a:endParaRPr lang="en-US" sz="1050" dirty="0"/>
          </a:p>
        </p:txBody>
      </p:sp>
      <p:sp>
        <p:nvSpPr>
          <p:cNvPr id="10" name="Text 8"/>
          <p:cNvSpPr/>
          <p:nvPr/>
        </p:nvSpPr>
        <p:spPr>
          <a:xfrm>
            <a:off x="1069848" y="2852928"/>
            <a:ext cx="658368" cy="256032"/>
          </a:xfrm>
          <a:prstGeom prst="rect">
            <a:avLst/>
          </a:prstGeom>
          <a:noFill/>
          <a:ln/>
        </p:spPr>
        <p:txBody>
          <a:bodyPr wrap="square" lIns="0" tIns="0" rIns="0" bIns="0" rtlCol="0" anchor="ctr">
            <a:normAutofit/>
          </a:bodyPr>
          <a:lstStyle/>
          <a:p>
            <a:pPr marL="0" indent="0">
              <a:buNone/>
            </a:pPr>
            <a:r>
              <a:rPr lang="en-US" sz="1400" b="1" dirty="0">
                <a:solidFill>
                  <a:srgbClr val="352B26"/>
                </a:solidFill>
                <a:latin typeface="Aptos" pitchFamily="34" charset="0"/>
                <a:ea typeface="Aptos" pitchFamily="34" charset="-122"/>
                <a:cs typeface="Aptos" pitchFamily="34" charset="-120"/>
              </a:rPr>
              <a:t>A*</a:t>
            </a:r>
            <a:endParaRPr lang="en-US" sz="1400" dirty="0"/>
          </a:p>
        </p:txBody>
      </p:sp>
      <p:sp>
        <p:nvSpPr>
          <p:cNvPr id="11" name="Shape 9"/>
          <p:cNvSpPr/>
          <p:nvPr/>
        </p:nvSpPr>
        <p:spPr>
          <a:xfrm>
            <a:off x="1847088" y="2779776"/>
            <a:ext cx="3063240" cy="438912"/>
          </a:xfrm>
          <a:prstGeom prst="roundRect">
            <a:avLst/>
          </a:prstGeom>
          <a:solidFill>
            <a:srgbClr val="EEE5DA"/>
          </a:solidFill>
          <a:ln w="12700">
            <a:solidFill>
              <a:srgbClr val="EEE5DA"/>
            </a:solidFill>
            <a:prstDash val="solid"/>
          </a:ln>
        </p:spPr>
        <p:txBody>
          <a:bodyPr/>
          <a:lstStyle/>
          <a:p>
            <a:endParaRPr lang="en-US"/>
          </a:p>
        </p:txBody>
      </p:sp>
      <p:sp>
        <p:nvSpPr>
          <p:cNvPr id="12" name="Shape 10"/>
          <p:cNvSpPr/>
          <p:nvPr/>
        </p:nvSpPr>
        <p:spPr>
          <a:xfrm>
            <a:off x="1847088" y="2779776"/>
            <a:ext cx="3063240" cy="438912"/>
          </a:xfrm>
          <a:prstGeom prst="roundRect">
            <a:avLst/>
          </a:prstGeom>
          <a:solidFill>
            <a:srgbClr val="328C8B"/>
          </a:solidFill>
          <a:ln w="12700">
            <a:solidFill>
              <a:srgbClr val="328C8B"/>
            </a:solidFill>
            <a:prstDash val="solid"/>
          </a:ln>
        </p:spPr>
        <p:txBody>
          <a:bodyPr/>
          <a:lstStyle/>
          <a:p>
            <a:endParaRPr lang="en-US"/>
          </a:p>
        </p:txBody>
      </p:sp>
      <p:sp>
        <p:nvSpPr>
          <p:cNvPr id="13" name="Text 11"/>
          <p:cNvSpPr/>
          <p:nvPr/>
        </p:nvSpPr>
        <p:spPr>
          <a:xfrm>
            <a:off x="5010912" y="2816352"/>
            <a:ext cx="512064" cy="292608"/>
          </a:xfrm>
          <a:prstGeom prst="rect">
            <a:avLst/>
          </a:prstGeom>
          <a:noFill/>
          <a:ln/>
        </p:spPr>
        <p:txBody>
          <a:bodyPr wrap="square" lIns="0" tIns="0" rIns="0" bIns="0" rtlCol="0" anchor="ctr">
            <a:normAutofit/>
          </a:bodyPr>
          <a:lstStyle/>
          <a:p>
            <a:pPr marL="0" indent="0" algn="r">
              <a:buNone/>
            </a:pPr>
            <a:r>
              <a:rPr lang="en-US" sz="1900" dirty="0">
                <a:solidFill>
                  <a:srgbClr val="328C8B"/>
                </a:solidFill>
                <a:latin typeface="Georgia" pitchFamily="34" charset="0"/>
                <a:ea typeface="Georgia" pitchFamily="34" charset="-122"/>
                <a:cs typeface="Georgia" pitchFamily="34" charset="-120"/>
              </a:rPr>
              <a:t>219</a:t>
            </a:r>
            <a:endParaRPr lang="en-US" sz="1900" dirty="0"/>
          </a:p>
        </p:txBody>
      </p:sp>
      <p:sp>
        <p:nvSpPr>
          <p:cNvPr id="14" name="Text 12"/>
          <p:cNvSpPr/>
          <p:nvPr/>
        </p:nvSpPr>
        <p:spPr>
          <a:xfrm>
            <a:off x="1069848" y="3730752"/>
            <a:ext cx="658368" cy="256032"/>
          </a:xfrm>
          <a:prstGeom prst="rect">
            <a:avLst/>
          </a:prstGeom>
          <a:noFill/>
          <a:ln/>
        </p:spPr>
        <p:txBody>
          <a:bodyPr wrap="square" lIns="0" tIns="0" rIns="0" bIns="0" rtlCol="0" anchor="ctr">
            <a:normAutofit/>
          </a:bodyPr>
          <a:lstStyle/>
          <a:p>
            <a:pPr marL="0" indent="0">
              <a:buNone/>
            </a:pPr>
            <a:r>
              <a:rPr lang="en-US" sz="1400" b="1" dirty="0">
                <a:solidFill>
                  <a:srgbClr val="352B26"/>
                </a:solidFill>
                <a:latin typeface="Aptos" pitchFamily="34" charset="0"/>
                <a:ea typeface="Aptos" pitchFamily="34" charset="-122"/>
                <a:cs typeface="Aptos" pitchFamily="34" charset="-120"/>
              </a:rPr>
              <a:t>Swarm</a:t>
            </a:r>
            <a:endParaRPr lang="en-US" sz="1400" dirty="0"/>
          </a:p>
        </p:txBody>
      </p:sp>
      <p:sp>
        <p:nvSpPr>
          <p:cNvPr id="15" name="Shape 13"/>
          <p:cNvSpPr/>
          <p:nvPr/>
        </p:nvSpPr>
        <p:spPr>
          <a:xfrm>
            <a:off x="1847088" y="3657600"/>
            <a:ext cx="3063240" cy="438912"/>
          </a:xfrm>
          <a:prstGeom prst="roundRect">
            <a:avLst/>
          </a:prstGeom>
          <a:solidFill>
            <a:srgbClr val="EEE5DA"/>
          </a:solidFill>
          <a:ln w="12700">
            <a:solidFill>
              <a:srgbClr val="EEE5DA"/>
            </a:solidFill>
            <a:prstDash val="solid"/>
          </a:ln>
        </p:spPr>
        <p:txBody>
          <a:bodyPr/>
          <a:lstStyle/>
          <a:p>
            <a:endParaRPr lang="en-US"/>
          </a:p>
        </p:txBody>
      </p:sp>
      <p:sp>
        <p:nvSpPr>
          <p:cNvPr id="16" name="Shape 14"/>
          <p:cNvSpPr/>
          <p:nvPr/>
        </p:nvSpPr>
        <p:spPr>
          <a:xfrm>
            <a:off x="1847088" y="3657600"/>
            <a:ext cx="1728216" cy="438912"/>
          </a:xfrm>
          <a:prstGeom prst="roundRect">
            <a:avLst/>
          </a:prstGeom>
          <a:solidFill>
            <a:srgbClr val="8066B5"/>
          </a:solidFill>
          <a:ln w="12700">
            <a:solidFill>
              <a:srgbClr val="8066B5"/>
            </a:solidFill>
            <a:prstDash val="solid"/>
          </a:ln>
        </p:spPr>
        <p:txBody>
          <a:bodyPr/>
          <a:lstStyle/>
          <a:p>
            <a:endParaRPr lang="en-US"/>
          </a:p>
        </p:txBody>
      </p:sp>
      <p:sp>
        <p:nvSpPr>
          <p:cNvPr id="17" name="Text 15"/>
          <p:cNvSpPr/>
          <p:nvPr/>
        </p:nvSpPr>
        <p:spPr>
          <a:xfrm>
            <a:off x="4901184" y="3694176"/>
            <a:ext cx="621792" cy="292608"/>
          </a:xfrm>
          <a:prstGeom prst="rect">
            <a:avLst/>
          </a:prstGeom>
          <a:noFill/>
          <a:ln/>
        </p:spPr>
        <p:txBody>
          <a:bodyPr wrap="square" lIns="0" tIns="0" rIns="0" bIns="0" rtlCol="0" anchor="ctr">
            <a:normAutofit/>
          </a:bodyPr>
          <a:lstStyle/>
          <a:p>
            <a:pPr marL="0" indent="0" algn="r">
              <a:buNone/>
            </a:pPr>
            <a:r>
              <a:rPr lang="en-US" sz="1900" dirty="0">
                <a:solidFill>
                  <a:srgbClr val="8066B5"/>
                </a:solidFill>
                <a:latin typeface="Georgia" pitchFamily="34" charset="0"/>
                <a:ea typeface="Georgia" pitchFamily="34" charset="-122"/>
                <a:cs typeface="Georgia" pitchFamily="34" charset="-120"/>
              </a:rPr>
              <a:t>123,5</a:t>
            </a:r>
            <a:endParaRPr lang="en-US" sz="1900" dirty="0"/>
          </a:p>
        </p:txBody>
      </p:sp>
      <p:sp>
        <p:nvSpPr>
          <p:cNvPr id="18" name="Text 16"/>
          <p:cNvSpPr/>
          <p:nvPr/>
        </p:nvSpPr>
        <p:spPr>
          <a:xfrm>
            <a:off x="1097280" y="4617720"/>
            <a:ext cx="4480560" cy="347472"/>
          </a:xfrm>
          <a:prstGeom prst="rect">
            <a:avLst/>
          </a:prstGeom>
          <a:noFill/>
          <a:ln/>
        </p:spPr>
        <p:txBody>
          <a:bodyPr wrap="square" lIns="0" tIns="0" rIns="0" bIns="0" rtlCol="0" anchor="ctr">
            <a:normAutofit/>
          </a:bodyPr>
          <a:lstStyle/>
          <a:p>
            <a:pPr marL="0" indent="0" algn="ctr">
              <a:buNone/>
            </a:pPr>
            <a:r>
              <a:rPr lang="en-US" sz="2000" dirty="0">
                <a:solidFill>
                  <a:srgbClr val="8066B5"/>
                </a:solidFill>
                <a:latin typeface="Georgia" pitchFamily="34" charset="0"/>
                <a:ea typeface="Georgia" pitchFamily="34" charset="-122"/>
                <a:cs typeface="Georgia" pitchFamily="34" charset="-120"/>
              </a:rPr>
              <a:t>43,5% manje proširenih čvorova</a:t>
            </a:r>
            <a:endParaRPr lang="en-US" sz="2000" dirty="0"/>
          </a:p>
        </p:txBody>
      </p:sp>
      <p:sp>
        <p:nvSpPr>
          <p:cNvPr id="19" name="Shape 17"/>
          <p:cNvSpPr/>
          <p:nvPr/>
        </p:nvSpPr>
        <p:spPr>
          <a:xfrm>
            <a:off x="6236208" y="1883664"/>
            <a:ext cx="5038344" cy="3429000"/>
          </a:xfrm>
          <a:prstGeom prst="roundRect">
            <a:avLst/>
          </a:prstGeom>
          <a:solidFill>
            <a:srgbClr val="FFFDFC"/>
          </a:solidFill>
          <a:ln w="12700">
            <a:solidFill>
              <a:srgbClr val="DED2C5"/>
            </a:solidFill>
            <a:prstDash val="solid"/>
          </a:ln>
        </p:spPr>
        <p:txBody>
          <a:bodyPr/>
          <a:lstStyle/>
          <a:p>
            <a:endParaRPr lang="en-US"/>
          </a:p>
        </p:txBody>
      </p:sp>
      <p:sp>
        <p:nvSpPr>
          <p:cNvPr id="20" name="Text 18"/>
          <p:cNvSpPr/>
          <p:nvPr/>
        </p:nvSpPr>
        <p:spPr>
          <a:xfrm>
            <a:off x="6547104" y="2185416"/>
            <a:ext cx="4416552" cy="219456"/>
          </a:xfrm>
          <a:prstGeom prst="rect">
            <a:avLst/>
          </a:prstGeom>
          <a:noFill/>
          <a:ln/>
        </p:spPr>
        <p:txBody>
          <a:bodyPr wrap="square" lIns="0" tIns="0" rIns="0" bIns="0" rtlCol="0" anchor="ctr">
            <a:normAutofit/>
          </a:bodyPr>
          <a:lstStyle/>
          <a:p>
            <a:pPr marL="0" indent="0">
              <a:buNone/>
            </a:pPr>
            <a:r>
              <a:rPr lang="en-US" sz="1050" b="1" kern="0" spc="80" dirty="0">
                <a:solidFill>
                  <a:srgbClr val="8B5E50"/>
                </a:solidFill>
                <a:latin typeface="Aptos" pitchFamily="34" charset="0"/>
                <a:ea typeface="Aptos" pitchFamily="34" charset="-122"/>
                <a:cs typeface="Aptos" pitchFamily="34" charset="-120"/>
              </a:rPr>
              <a:t>ODSTUPANJE OD OPTIMUMA</a:t>
            </a:r>
            <a:endParaRPr lang="en-US" sz="1050" dirty="0"/>
          </a:p>
        </p:txBody>
      </p:sp>
      <p:sp>
        <p:nvSpPr>
          <p:cNvPr id="21" name="Shape 19"/>
          <p:cNvSpPr/>
          <p:nvPr/>
        </p:nvSpPr>
        <p:spPr>
          <a:xfrm>
            <a:off x="6812280" y="3246120"/>
            <a:ext cx="3566160" cy="0"/>
          </a:xfrm>
          <a:prstGeom prst="line">
            <a:avLst/>
          </a:prstGeom>
          <a:noFill/>
          <a:ln w="63500">
            <a:solidFill>
              <a:srgbClr val="DED2C5"/>
            </a:solidFill>
            <a:prstDash val="solid"/>
          </a:ln>
        </p:spPr>
        <p:txBody>
          <a:bodyPr/>
          <a:lstStyle/>
          <a:p>
            <a:endParaRPr lang="en-US"/>
          </a:p>
        </p:txBody>
      </p:sp>
      <p:sp>
        <p:nvSpPr>
          <p:cNvPr id="22" name="Shape 20"/>
          <p:cNvSpPr/>
          <p:nvPr/>
        </p:nvSpPr>
        <p:spPr>
          <a:xfrm>
            <a:off x="7315200" y="2953512"/>
            <a:ext cx="585216" cy="585216"/>
          </a:xfrm>
          <a:prstGeom prst="ellipse">
            <a:avLst/>
          </a:prstGeom>
          <a:solidFill>
            <a:srgbClr val="328C8B"/>
          </a:solidFill>
          <a:ln w="12700">
            <a:solidFill>
              <a:srgbClr val="328C8B"/>
            </a:solidFill>
            <a:prstDash val="solid"/>
          </a:ln>
        </p:spPr>
        <p:txBody>
          <a:bodyPr/>
          <a:lstStyle/>
          <a:p>
            <a:endParaRPr lang="en-US"/>
          </a:p>
        </p:txBody>
      </p:sp>
      <p:sp>
        <p:nvSpPr>
          <p:cNvPr id="23" name="Text 21"/>
          <p:cNvSpPr/>
          <p:nvPr/>
        </p:nvSpPr>
        <p:spPr>
          <a:xfrm>
            <a:off x="7077456" y="3090672"/>
            <a:ext cx="1060704" cy="274320"/>
          </a:xfrm>
          <a:prstGeom prst="rect">
            <a:avLst/>
          </a:prstGeom>
          <a:noFill/>
          <a:ln/>
        </p:spPr>
        <p:txBody>
          <a:bodyPr wrap="square" lIns="0" tIns="0" rIns="0" bIns="0" rtlCol="0" anchor="ctr">
            <a:normAutofit/>
          </a:bodyPr>
          <a:lstStyle/>
          <a:p>
            <a:pPr marL="0" indent="0" algn="ctr">
              <a:buNone/>
            </a:pPr>
            <a:r>
              <a:rPr lang="en-US" sz="1700" b="1" dirty="0">
                <a:solidFill>
                  <a:srgbClr val="FFFFFF"/>
                </a:solidFill>
                <a:latin typeface="Georgia" pitchFamily="34" charset="0"/>
                <a:ea typeface="Georgia" pitchFamily="34" charset="-122"/>
                <a:cs typeface="Georgia" pitchFamily="34" charset="-120"/>
              </a:rPr>
              <a:t>0%</a:t>
            </a:r>
            <a:endParaRPr lang="en-US" sz="1700" dirty="0"/>
          </a:p>
        </p:txBody>
      </p:sp>
      <p:sp>
        <p:nvSpPr>
          <p:cNvPr id="24" name="Shape 22"/>
          <p:cNvSpPr/>
          <p:nvPr/>
        </p:nvSpPr>
        <p:spPr>
          <a:xfrm>
            <a:off x="9326880" y="2953512"/>
            <a:ext cx="585216" cy="585216"/>
          </a:xfrm>
          <a:prstGeom prst="ellipse">
            <a:avLst/>
          </a:prstGeom>
          <a:solidFill>
            <a:srgbClr val="8066B5"/>
          </a:solidFill>
          <a:ln w="12700">
            <a:solidFill>
              <a:srgbClr val="8066B5"/>
            </a:solidFill>
            <a:prstDash val="solid"/>
          </a:ln>
        </p:spPr>
        <p:txBody>
          <a:bodyPr/>
          <a:lstStyle/>
          <a:p>
            <a:endParaRPr lang="en-US"/>
          </a:p>
        </p:txBody>
      </p:sp>
      <p:sp>
        <p:nvSpPr>
          <p:cNvPr id="25" name="Text 23"/>
          <p:cNvSpPr/>
          <p:nvPr/>
        </p:nvSpPr>
        <p:spPr>
          <a:xfrm>
            <a:off x="9089136" y="3090672"/>
            <a:ext cx="1060704" cy="274320"/>
          </a:xfrm>
          <a:prstGeom prst="rect">
            <a:avLst/>
          </a:prstGeom>
          <a:noFill/>
          <a:ln/>
        </p:spPr>
        <p:txBody>
          <a:bodyPr wrap="square" lIns="0" tIns="0" rIns="0" bIns="0" rtlCol="0" anchor="ctr">
            <a:normAutofit/>
          </a:bodyPr>
          <a:lstStyle/>
          <a:p>
            <a:pPr marL="0" indent="0" algn="ctr">
              <a:buNone/>
            </a:pPr>
            <a:r>
              <a:rPr lang="en-US" sz="1550" b="1" dirty="0">
                <a:solidFill>
                  <a:srgbClr val="FFFFFF"/>
                </a:solidFill>
                <a:latin typeface="Georgia" pitchFamily="34" charset="0"/>
                <a:ea typeface="Georgia" pitchFamily="34" charset="-122"/>
                <a:cs typeface="Georgia" pitchFamily="34" charset="-120"/>
              </a:rPr>
              <a:t>2,97%</a:t>
            </a:r>
            <a:endParaRPr lang="en-US" sz="1550" dirty="0"/>
          </a:p>
        </p:txBody>
      </p:sp>
      <p:sp>
        <p:nvSpPr>
          <p:cNvPr id="26" name="Text 24"/>
          <p:cNvSpPr/>
          <p:nvPr/>
        </p:nvSpPr>
        <p:spPr>
          <a:xfrm>
            <a:off x="7077456" y="3675888"/>
            <a:ext cx="1060704" cy="219456"/>
          </a:xfrm>
          <a:prstGeom prst="rect">
            <a:avLst/>
          </a:prstGeom>
          <a:noFill/>
          <a:ln/>
        </p:spPr>
        <p:txBody>
          <a:bodyPr wrap="square" lIns="0" tIns="0" rIns="0" bIns="0" rtlCol="0" anchor="ctr">
            <a:normAutofit/>
          </a:bodyPr>
          <a:lstStyle/>
          <a:p>
            <a:pPr marL="0" indent="0" algn="ctr">
              <a:buNone/>
            </a:pPr>
            <a:r>
              <a:rPr lang="en-US" sz="1250" b="1" dirty="0">
                <a:solidFill>
                  <a:srgbClr val="328C8B"/>
                </a:solidFill>
                <a:latin typeface="Aptos" pitchFamily="34" charset="0"/>
                <a:ea typeface="Aptos" pitchFamily="34" charset="-122"/>
                <a:cs typeface="Aptos" pitchFamily="34" charset="-120"/>
              </a:rPr>
              <a:t>A*</a:t>
            </a:r>
            <a:endParaRPr lang="en-US" sz="1250" dirty="0"/>
          </a:p>
        </p:txBody>
      </p:sp>
      <p:sp>
        <p:nvSpPr>
          <p:cNvPr id="27" name="Text 25"/>
          <p:cNvSpPr/>
          <p:nvPr/>
        </p:nvSpPr>
        <p:spPr>
          <a:xfrm>
            <a:off x="9089136" y="3675888"/>
            <a:ext cx="1060704" cy="219456"/>
          </a:xfrm>
          <a:prstGeom prst="rect">
            <a:avLst/>
          </a:prstGeom>
          <a:noFill/>
          <a:ln/>
        </p:spPr>
        <p:txBody>
          <a:bodyPr wrap="square" lIns="0" tIns="0" rIns="0" bIns="0" rtlCol="0" anchor="ctr">
            <a:normAutofit/>
          </a:bodyPr>
          <a:lstStyle/>
          <a:p>
            <a:pPr marL="0" indent="0" algn="ctr">
              <a:buNone/>
            </a:pPr>
            <a:r>
              <a:rPr lang="en-US" sz="1250" b="1" dirty="0">
                <a:solidFill>
                  <a:srgbClr val="8066B5"/>
                </a:solidFill>
                <a:latin typeface="Aptos" pitchFamily="34" charset="0"/>
                <a:ea typeface="Aptos" pitchFamily="34" charset="-122"/>
                <a:cs typeface="Aptos" pitchFamily="34" charset="-120"/>
              </a:rPr>
              <a:t>Swarm</a:t>
            </a:r>
            <a:endParaRPr lang="en-US" sz="1250" dirty="0"/>
          </a:p>
        </p:txBody>
      </p:sp>
      <p:sp>
        <p:nvSpPr>
          <p:cNvPr id="28" name="Text 26"/>
          <p:cNvSpPr/>
          <p:nvPr/>
        </p:nvSpPr>
        <p:spPr>
          <a:xfrm>
            <a:off x="6565392" y="4617720"/>
            <a:ext cx="4379976" cy="347472"/>
          </a:xfrm>
          <a:prstGeom prst="rect">
            <a:avLst/>
          </a:prstGeom>
          <a:noFill/>
          <a:ln/>
        </p:spPr>
        <p:txBody>
          <a:bodyPr wrap="square" lIns="0" tIns="0" rIns="0" bIns="0" rtlCol="0" anchor="ctr">
            <a:normAutofit/>
          </a:bodyPr>
          <a:lstStyle/>
          <a:p>
            <a:pPr marL="0" indent="0" algn="ctr">
              <a:buNone/>
            </a:pPr>
            <a:r>
              <a:rPr lang="en-US" sz="2000" dirty="0">
                <a:solidFill>
                  <a:srgbClr val="6E473B"/>
                </a:solidFill>
                <a:latin typeface="Georgia" pitchFamily="34" charset="0"/>
                <a:ea typeface="Georgia" pitchFamily="34" charset="-122"/>
                <a:cs typeface="Georgia" pitchFamily="34" charset="-120"/>
              </a:rPr>
              <a:t>malo odstupanje za veliku uštedu</a:t>
            </a:r>
            <a:endParaRPr lang="en-US" sz="2000" dirty="0"/>
          </a:p>
        </p:txBody>
      </p:sp>
      <p:sp>
        <p:nvSpPr>
          <p:cNvPr id="29" name="Shape 27"/>
          <p:cNvSpPr/>
          <p:nvPr/>
        </p:nvSpPr>
        <p:spPr>
          <a:xfrm>
            <a:off x="2057400" y="5596128"/>
            <a:ext cx="8074152" cy="502920"/>
          </a:xfrm>
          <a:prstGeom prst="roundRect">
            <a:avLst/>
          </a:prstGeom>
          <a:solidFill>
            <a:srgbClr val="EEE5DA"/>
          </a:solidFill>
          <a:ln w="12700">
            <a:solidFill>
              <a:srgbClr val="EEE5DA"/>
            </a:solidFill>
            <a:prstDash val="solid"/>
          </a:ln>
        </p:spPr>
        <p:txBody>
          <a:bodyPr/>
          <a:lstStyle/>
          <a:p>
            <a:endParaRPr lang="en-US"/>
          </a:p>
        </p:txBody>
      </p:sp>
      <p:sp>
        <p:nvSpPr>
          <p:cNvPr id="30" name="Text 28"/>
          <p:cNvSpPr/>
          <p:nvPr/>
        </p:nvSpPr>
        <p:spPr>
          <a:xfrm>
            <a:off x="2322576" y="5724144"/>
            <a:ext cx="7543800" cy="246888"/>
          </a:xfrm>
          <a:prstGeom prst="rect">
            <a:avLst/>
          </a:prstGeom>
          <a:noFill/>
          <a:ln/>
        </p:spPr>
        <p:txBody>
          <a:bodyPr wrap="square" lIns="0" tIns="0" rIns="0" bIns="0" rtlCol="0" anchor="ctr">
            <a:normAutofit/>
          </a:bodyPr>
          <a:lstStyle/>
          <a:p>
            <a:pPr marL="0" indent="0" algn="ctr">
              <a:buNone/>
            </a:pPr>
            <a:r>
              <a:rPr lang="en-US" sz="1400" b="1" dirty="0">
                <a:solidFill>
                  <a:srgbClr val="6E473B"/>
                </a:solidFill>
                <a:latin typeface="Aptos" pitchFamily="34" charset="0"/>
                <a:ea typeface="Aptos" pitchFamily="34" charset="-122"/>
                <a:cs typeface="Aptos" pitchFamily="34" charset="-120"/>
              </a:rPr>
              <a:t>Težina heuristike pomera odnos između brzine i optimalnosti.</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3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
          </a:xfrm>
          <a:prstGeom prst="rect">
            <a:avLst/>
          </a:prstGeom>
          <a:solidFill>
            <a:srgbClr val="8B5E50"/>
          </a:solidFill>
          <a:ln w="12700">
            <a:solidFill>
              <a:srgbClr val="8B5E50"/>
            </a:solidFill>
            <a:prstDash val="solid"/>
          </a:ln>
        </p:spPr>
        <p:txBody>
          <a:bodyPr/>
          <a:lstStyle/>
          <a:p>
            <a:endParaRPr lang="en-US"/>
          </a:p>
        </p:txBody>
      </p:sp>
      <p:sp>
        <p:nvSpPr>
          <p:cNvPr id="3" name="Text 1"/>
          <p:cNvSpPr/>
          <p:nvPr/>
        </p:nvSpPr>
        <p:spPr>
          <a:xfrm>
            <a:off x="658368" y="274320"/>
            <a:ext cx="6858000" cy="182880"/>
          </a:xfrm>
          <a:prstGeom prst="rect">
            <a:avLst/>
          </a:prstGeom>
          <a:noFill/>
          <a:ln/>
        </p:spPr>
        <p:txBody>
          <a:bodyPr wrap="square" lIns="0" tIns="0" rIns="0" bIns="0" rtlCol="0" anchor="ctr">
            <a:normAutofit/>
          </a:bodyPr>
          <a:lstStyle/>
          <a:p>
            <a:pPr marL="0" indent="0">
              <a:buNone/>
            </a:pPr>
            <a:r>
              <a:rPr lang="en-US" sz="1000" b="1" kern="0" spc="120" dirty="0">
                <a:solidFill>
                  <a:srgbClr val="8B5E50"/>
                </a:solidFill>
                <a:latin typeface="Aptos" pitchFamily="34" charset="0"/>
                <a:ea typeface="Aptos" pitchFamily="34" charset="-122"/>
                <a:cs typeface="Aptos" pitchFamily="34" charset="-120"/>
              </a:rPr>
              <a:t>ZANIMLJIVI NALAZI</a:t>
            </a:r>
            <a:endParaRPr lang="en-US" sz="1000" dirty="0"/>
          </a:p>
        </p:txBody>
      </p:sp>
      <p:sp>
        <p:nvSpPr>
          <p:cNvPr id="4" name="Shape 2"/>
          <p:cNvSpPr/>
          <p:nvPr/>
        </p:nvSpPr>
        <p:spPr>
          <a:xfrm>
            <a:off x="658368" y="6428232"/>
            <a:ext cx="10881360" cy="0"/>
          </a:xfrm>
          <a:prstGeom prst="line">
            <a:avLst/>
          </a:prstGeom>
          <a:noFill/>
          <a:ln w="10160">
            <a:solidFill>
              <a:srgbClr val="DED2C5"/>
            </a:solidFill>
            <a:prstDash val="solid"/>
          </a:ln>
        </p:spPr>
        <p:txBody>
          <a:bodyPr/>
          <a:lstStyle/>
          <a:p>
            <a:endParaRPr lang="en-US"/>
          </a:p>
        </p:txBody>
      </p:sp>
      <p:sp>
        <p:nvSpPr>
          <p:cNvPr id="5" name="Text 3"/>
          <p:cNvSpPr/>
          <p:nvPr/>
        </p:nvSpPr>
        <p:spPr>
          <a:xfrm>
            <a:off x="11045952" y="6492240"/>
            <a:ext cx="493776" cy="146304"/>
          </a:xfrm>
          <a:prstGeom prst="rect">
            <a:avLst/>
          </a:prstGeom>
          <a:noFill/>
          <a:ln/>
        </p:spPr>
        <p:txBody>
          <a:bodyPr wrap="square" lIns="0" tIns="0" rIns="0" bIns="0" rtlCol="0" anchor="ctr">
            <a:normAutofit/>
          </a:bodyPr>
          <a:lstStyle/>
          <a:p>
            <a:pPr marL="0" indent="0" algn="r">
              <a:buNone/>
            </a:pPr>
            <a:r>
              <a:rPr lang="en-US" sz="850" b="1" dirty="0">
                <a:solidFill>
                  <a:srgbClr val="786B62"/>
                </a:solidFill>
                <a:latin typeface="Aptos" pitchFamily="34" charset="0"/>
                <a:ea typeface="Aptos" pitchFamily="34" charset="-122"/>
                <a:cs typeface="Aptos" pitchFamily="34" charset="-120"/>
              </a:rPr>
              <a:t>12</a:t>
            </a:r>
            <a:endParaRPr lang="en-US" sz="850" dirty="0"/>
          </a:p>
        </p:txBody>
      </p:sp>
      <p:sp>
        <p:nvSpPr>
          <p:cNvPr id="6" name="Text 4"/>
          <p:cNvSpPr/>
          <p:nvPr/>
        </p:nvSpPr>
        <p:spPr>
          <a:xfrm>
            <a:off x="658368" y="694944"/>
            <a:ext cx="10789920" cy="658368"/>
          </a:xfrm>
          <a:prstGeom prst="rect">
            <a:avLst/>
          </a:prstGeom>
          <a:noFill/>
          <a:ln/>
        </p:spPr>
        <p:txBody>
          <a:bodyPr wrap="square" lIns="0" tIns="0" rIns="0" bIns="0" rtlCol="0" anchor="t">
            <a:normAutofit/>
          </a:bodyPr>
          <a:lstStyle/>
          <a:p>
            <a:pPr marL="0" indent="0">
              <a:buNone/>
            </a:pPr>
            <a:r>
              <a:rPr lang="en-US" sz="2800" dirty="0">
                <a:solidFill>
                  <a:srgbClr val="352B26"/>
                </a:solidFill>
                <a:latin typeface="Georgia" pitchFamily="34" charset="0"/>
                <a:ea typeface="Georgia" pitchFamily="34" charset="-122"/>
                <a:cs typeface="Georgia" pitchFamily="34" charset="-120"/>
              </a:rPr>
              <a:t>Osam algoritama, osam različitih kompromisa.</a:t>
            </a:r>
            <a:endParaRPr lang="en-US" sz="2800" dirty="0"/>
          </a:p>
        </p:txBody>
      </p:sp>
      <p:sp>
        <p:nvSpPr>
          <p:cNvPr id="7" name="Text 5"/>
          <p:cNvSpPr/>
          <p:nvPr/>
        </p:nvSpPr>
        <p:spPr>
          <a:xfrm>
            <a:off x="676656" y="1344168"/>
            <a:ext cx="10149840" cy="329184"/>
          </a:xfrm>
          <a:prstGeom prst="rect">
            <a:avLst/>
          </a:prstGeom>
          <a:noFill/>
          <a:ln/>
        </p:spPr>
        <p:txBody>
          <a:bodyPr wrap="square" lIns="0" tIns="0" rIns="0" bIns="0" rtlCol="0" anchor="ctr">
            <a:normAutofit/>
          </a:bodyPr>
          <a:lstStyle/>
          <a:p>
            <a:pPr marL="0" indent="0">
              <a:buNone/>
            </a:pPr>
            <a:r>
              <a:rPr lang="en-US" sz="1600" dirty="0">
                <a:solidFill>
                  <a:srgbClr val="786B62"/>
                </a:solidFill>
                <a:latin typeface="Aptos" pitchFamily="34" charset="0"/>
                <a:ea typeface="Aptos" pitchFamily="34" charset="-122"/>
                <a:cs typeface="Aptos" pitchFamily="34" charset="-120"/>
              </a:rPr>
              <a:t>Isti problem se istražuje različitim redosledom i sa različitim garancijama.</a:t>
            </a:r>
            <a:endParaRPr lang="en-US" sz="1600" dirty="0"/>
          </a:p>
        </p:txBody>
      </p:sp>
      <p:sp>
        <p:nvSpPr>
          <p:cNvPr id="8" name="Shape 6"/>
          <p:cNvSpPr/>
          <p:nvPr/>
        </p:nvSpPr>
        <p:spPr>
          <a:xfrm>
            <a:off x="658368" y="1847088"/>
            <a:ext cx="2523744" cy="1572768"/>
          </a:xfrm>
          <a:prstGeom prst="roundRect">
            <a:avLst/>
          </a:prstGeom>
          <a:solidFill>
            <a:srgbClr val="FFFDFC"/>
          </a:solidFill>
          <a:ln w="12700">
            <a:solidFill>
              <a:srgbClr val="DED2C5"/>
            </a:solidFill>
            <a:prstDash val="solid"/>
          </a:ln>
          <a:effectLst>
            <a:outerShdw blurRad="13970" dist="50800" dir="2700000" algn="bl" rotWithShape="0">
              <a:srgbClr val="B9AA9B">
                <a:alpha val="8000"/>
              </a:srgbClr>
            </a:outerShdw>
          </a:effectLst>
        </p:spPr>
        <p:txBody>
          <a:bodyPr/>
          <a:lstStyle/>
          <a:p>
            <a:endParaRPr lang="en-US"/>
          </a:p>
        </p:txBody>
      </p:sp>
      <p:sp>
        <p:nvSpPr>
          <p:cNvPr id="9" name="Shape 7"/>
          <p:cNvSpPr/>
          <p:nvPr/>
        </p:nvSpPr>
        <p:spPr>
          <a:xfrm>
            <a:off x="886968" y="2130552"/>
            <a:ext cx="566928" cy="566928"/>
          </a:xfrm>
          <a:prstGeom prst="ellipse">
            <a:avLst/>
          </a:prstGeom>
          <a:solidFill>
            <a:srgbClr val="4B91B8">
              <a:alpha val="16000"/>
            </a:srgbClr>
          </a:solidFill>
          <a:ln w="15240">
            <a:solidFill>
              <a:srgbClr val="4B91B8"/>
            </a:solidFill>
            <a:prstDash val="solid"/>
          </a:ln>
        </p:spPr>
        <p:txBody>
          <a:bodyPr/>
          <a:lstStyle/>
          <a:p>
            <a:endParaRPr lang="en-US"/>
          </a:p>
        </p:txBody>
      </p:sp>
      <p:sp>
        <p:nvSpPr>
          <p:cNvPr id="10" name="Text 8"/>
          <p:cNvSpPr/>
          <p:nvPr/>
        </p:nvSpPr>
        <p:spPr>
          <a:xfrm>
            <a:off x="886968" y="2258568"/>
            <a:ext cx="566928" cy="237744"/>
          </a:xfrm>
          <a:prstGeom prst="rect">
            <a:avLst/>
          </a:prstGeom>
          <a:noFill/>
          <a:ln/>
        </p:spPr>
        <p:txBody>
          <a:bodyPr wrap="square" lIns="0" tIns="0" rIns="0" bIns="0" rtlCol="0" anchor="ctr">
            <a:normAutofit/>
          </a:bodyPr>
          <a:lstStyle/>
          <a:p>
            <a:pPr marL="0" indent="0" algn="ctr">
              <a:buNone/>
            </a:pPr>
            <a:r>
              <a:rPr lang="en-US" sz="950" b="1" dirty="0">
                <a:solidFill>
                  <a:srgbClr val="4B91B8"/>
                </a:solidFill>
                <a:latin typeface="Georgia" pitchFamily="34" charset="0"/>
                <a:ea typeface="Georgia" pitchFamily="34" charset="-122"/>
                <a:cs typeface="Georgia" pitchFamily="34" charset="-120"/>
              </a:rPr>
              <a:t>FIFO</a:t>
            </a:r>
            <a:endParaRPr lang="en-US" sz="950" dirty="0"/>
          </a:p>
        </p:txBody>
      </p:sp>
      <p:sp>
        <p:nvSpPr>
          <p:cNvPr id="11" name="Text 9"/>
          <p:cNvSpPr/>
          <p:nvPr/>
        </p:nvSpPr>
        <p:spPr>
          <a:xfrm>
            <a:off x="1618488" y="2130552"/>
            <a:ext cx="1325880" cy="274320"/>
          </a:xfrm>
          <a:prstGeom prst="rect">
            <a:avLst/>
          </a:prstGeom>
          <a:noFill/>
          <a:ln/>
        </p:spPr>
        <p:txBody>
          <a:bodyPr wrap="square" lIns="0" tIns="0" rIns="0" bIns="0" rtlCol="0" anchor="ctr">
            <a:normAutofit/>
          </a:bodyPr>
          <a:lstStyle/>
          <a:p>
            <a:pPr marL="0" indent="0">
              <a:buNone/>
            </a:pPr>
            <a:r>
              <a:rPr lang="en-US" sz="1350" b="1" dirty="0">
                <a:solidFill>
                  <a:srgbClr val="4B91B8"/>
                </a:solidFill>
                <a:latin typeface="Aptos" pitchFamily="34" charset="0"/>
                <a:ea typeface="Aptos" pitchFamily="34" charset="-122"/>
                <a:cs typeface="Aptos" pitchFamily="34" charset="-120"/>
              </a:rPr>
              <a:t>BFS</a:t>
            </a:r>
            <a:endParaRPr lang="en-US" sz="1350" dirty="0"/>
          </a:p>
        </p:txBody>
      </p:sp>
      <p:sp>
        <p:nvSpPr>
          <p:cNvPr id="12" name="Shape 10"/>
          <p:cNvSpPr/>
          <p:nvPr/>
        </p:nvSpPr>
        <p:spPr>
          <a:xfrm>
            <a:off x="1618488" y="2560320"/>
            <a:ext cx="1271016" cy="0"/>
          </a:xfrm>
          <a:prstGeom prst="line">
            <a:avLst/>
          </a:prstGeom>
          <a:noFill/>
          <a:ln w="12700">
            <a:solidFill>
              <a:srgbClr val="DED2C5"/>
            </a:solidFill>
            <a:prstDash val="solid"/>
          </a:ln>
        </p:spPr>
        <p:txBody>
          <a:bodyPr/>
          <a:lstStyle/>
          <a:p>
            <a:endParaRPr lang="en-US"/>
          </a:p>
        </p:txBody>
      </p:sp>
      <p:sp>
        <p:nvSpPr>
          <p:cNvPr id="13" name="Text 11"/>
          <p:cNvSpPr/>
          <p:nvPr/>
        </p:nvSpPr>
        <p:spPr>
          <a:xfrm>
            <a:off x="886968" y="2779776"/>
            <a:ext cx="2066544" cy="384048"/>
          </a:xfrm>
          <a:prstGeom prst="rect">
            <a:avLst/>
          </a:prstGeom>
          <a:noFill/>
          <a:ln/>
        </p:spPr>
        <p:txBody>
          <a:bodyPr wrap="square" lIns="0" tIns="0" rIns="0" bIns="0" rtlCol="0" anchor="ctr">
            <a:normAutofit/>
          </a:bodyPr>
          <a:lstStyle/>
          <a:p>
            <a:pPr marL="0" indent="0" algn="ctr">
              <a:buNone/>
            </a:pPr>
            <a:r>
              <a:rPr lang="en-US" sz="1350" dirty="0">
                <a:solidFill>
                  <a:srgbClr val="352B26"/>
                </a:solidFill>
                <a:latin typeface="Georgia" pitchFamily="34" charset="0"/>
                <a:ea typeface="Georgia" pitchFamily="34" charset="-122"/>
                <a:cs typeface="Georgia" pitchFamily="34" charset="-120"/>
              </a:rPr>
              <a:t>najkraći po koracima</a:t>
            </a:r>
            <a:endParaRPr lang="en-US" sz="1350" dirty="0"/>
          </a:p>
        </p:txBody>
      </p:sp>
      <p:sp>
        <p:nvSpPr>
          <p:cNvPr id="14" name="Shape 12"/>
          <p:cNvSpPr/>
          <p:nvPr/>
        </p:nvSpPr>
        <p:spPr>
          <a:xfrm>
            <a:off x="3474720" y="1847088"/>
            <a:ext cx="2523744" cy="1572768"/>
          </a:xfrm>
          <a:prstGeom prst="roundRect">
            <a:avLst/>
          </a:prstGeom>
          <a:solidFill>
            <a:srgbClr val="FFFDFC"/>
          </a:solidFill>
          <a:ln w="12700">
            <a:solidFill>
              <a:srgbClr val="DED2C5"/>
            </a:solidFill>
            <a:prstDash val="solid"/>
          </a:ln>
          <a:effectLst>
            <a:outerShdw blurRad="13970" dist="50800" dir="2700000" algn="bl" rotWithShape="0">
              <a:srgbClr val="B9AA9B">
                <a:alpha val="8000"/>
              </a:srgbClr>
            </a:outerShdw>
          </a:effectLst>
        </p:spPr>
        <p:txBody>
          <a:bodyPr/>
          <a:lstStyle/>
          <a:p>
            <a:endParaRPr lang="en-US"/>
          </a:p>
        </p:txBody>
      </p:sp>
      <p:sp>
        <p:nvSpPr>
          <p:cNvPr id="15" name="Shape 13"/>
          <p:cNvSpPr/>
          <p:nvPr/>
        </p:nvSpPr>
        <p:spPr>
          <a:xfrm>
            <a:off x="3703320" y="2130552"/>
            <a:ext cx="566928" cy="566928"/>
          </a:xfrm>
          <a:prstGeom prst="ellipse">
            <a:avLst/>
          </a:prstGeom>
          <a:solidFill>
            <a:srgbClr val="8066B5">
              <a:alpha val="16000"/>
            </a:srgbClr>
          </a:solidFill>
          <a:ln w="15240">
            <a:solidFill>
              <a:srgbClr val="8066B5"/>
            </a:solidFill>
            <a:prstDash val="solid"/>
          </a:ln>
        </p:spPr>
        <p:txBody>
          <a:bodyPr/>
          <a:lstStyle/>
          <a:p>
            <a:endParaRPr lang="en-US"/>
          </a:p>
        </p:txBody>
      </p:sp>
      <p:sp>
        <p:nvSpPr>
          <p:cNvPr id="16" name="Text 14"/>
          <p:cNvSpPr/>
          <p:nvPr/>
        </p:nvSpPr>
        <p:spPr>
          <a:xfrm>
            <a:off x="3703320" y="2258568"/>
            <a:ext cx="566928" cy="237744"/>
          </a:xfrm>
          <a:prstGeom prst="rect">
            <a:avLst/>
          </a:prstGeom>
          <a:noFill/>
          <a:ln/>
        </p:spPr>
        <p:txBody>
          <a:bodyPr wrap="square" lIns="0" tIns="0" rIns="0" bIns="0" rtlCol="0" anchor="ctr">
            <a:normAutofit/>
          </a:bodyPr>
          <a:lstStyle/>
          <a:p>
            <a:pPr marL="0" indent="0" algn="ctr">
              <a:buNone/>
            </a:pPr>
            <a:r>
              <a:rPr lang="en-US" sz="950" b="1" dirty="0">
                <a:solidFill>
                  <a:srgbClr val="8066B5"/>
                </a:solidFill>
                <a:latin typeface="Georgia" pitchFamily="34" charset="0"/>
                <a:ea typeface="Georgia" pitchFamily="34" charset="-122"/>
                <a:cs typeface="Georgia" pitchFamily="34" charset="-120"/>
              </a:rPr>
              <a:t>LIFO</a:t>
            </a:r>
            <a:endParaRPr lang="en-US" sz="950" dirty="0"/>
          </a:p>
        </p:txBody>
      </p:sp>
      <p:sp>
        <p:nvSpPr>
          <p:cNvPr id="17" name="Text 15"/>
          <p:cNvSpPr/>
          <p:nvPr/>
        </p:nvSpPr>
        <p:spPr>
          <a:xfrm>
            <a:off x="4434840" y="2130552"/>
            <a:ext cx="1325880" cy="274320"/>
          </a:xfrm>
          <a:prstGeom prst="rect">
            <a:avLst/>
          </a:prstGeom>
          <a:noFill/>
          <a:ln/>
        </p:spPr>
        <p:txBody>
          <a:bodyPr wrap="square" lIns="0" tIns="0" rIns="0" bIns="0" rtlCol="0" anchor="ctr">
            <a:normAutofit/>
          </a:bodyPr>
          <a:lstStyle/>
          <a:p>
            <a:pPr marL="0" indent="0">
              <a:buNone/>
            </a:pPr>
            <a:r>
              <a:rPr lang="en-US" sz="1350" b="1" dirty="0">
                <a:solidFill>
                  <a:srgbClr val="8066B5"/>
                </a:solidFill>
                <a:latin typeface="Aptos" pitchFamily="34" charset="0"/>
                <a:ea typeface="Aptos" pitchFamily="34" charset="-122"/>
                <a:cs typeface="Aptos" pitchFamily="34" charset="-120"/>
              </a:rPr>
              <a:t>DFS</a:t>
            </a:r>
            <a:endParaRPr lang="en-US" sz="1350" dirty="0"/>
          </a:p>
        </p:txBody>
      </p:sp>
      <p:sp>
        <p:nvSpPr>
          <p:cNvPr id="18" name="Shape 16"/>
          <p:cNvSpPr/>
          <p:nvPr/>
        </p:nvSpPr>
        <p:spPr>
          <a:xfrm>
            <a:off x="4434840" y="2560320"/>
            <a:ext cx="1271016" cy="0"/>
          </a:xfrm>
          <a:prstGeom prst="line">
            <a:avLst/>
          </a:prstGeom>
          <a:noFill/>
          <a:ln w="12700">
            <a:solidFill>
              <a:srgbClr val="DED2C5"/>
            </a:solidFill>
            <a:prstDash val="solid"/>
          </a:ln>
        </p:spPr>
        <p:txBody>
          <a:bodyPr/>
          <a:lstStyle/>
          <a:p>
            <a:endParaRPr lang="en-US"/>
          </a:p>
        </p:txBody>
      </p:sp>
      <p:sp>
        <p:nvSpPr>
          <p:cNvPr id="19" name="Text 17"/>
          <p:cNvSpPr/>
          <p:nvPr/>
        </p:nvSpPr>
        <p:spPr>
          <a:xfrm>
            <a:off x="3703320" y="2779776"/>
            <a:ext cx="2066544" cy="384048"/>
          </a:xfrm>
          <a:prstGeom prst="rect">
            <a:avLst/>
          </a:prstGeom>
          <a:noFill/>
          <a:ln/>
        </p:spPr>
        <p:txBody>
          <a:bodyPr wrap="square" lIns="0" tIns="0" rIns="0" bIns="0" rtlCol="0" anchor="ctr">
            <a:normAutofit/>
          </a:bodyPr>
          <a:lstStyle/>
          <a:p>
            <a:pPr marL="0" indent="0" algn="ctr">
              <a:buNone/>
            </a:pPr>
            <a:r>
              <a:rPr lang="en-US" sz="1350" dirty="0">
                <a:solidFill>
                  <a:srgbClr val="352B26"/>
                </a:solidFill>
                <a:latin typeface="Georgia" pitchFamily="34" charset="0"/>
                <a:ea typeface="Georgia" pitchFamily="34" charset="-122"/>
                <a:cs typeface="Georgia" pitchFamily="34" charset="-120"/>
              </a:rPr>
              <a:t>dubina bez optimalnosti</a:t>
            </a:r>
            <a:endParaRPr lang="en-US" sz="1350" dirty="0"/>
          </a:p>
        </p:txBody>
      </p:sp>
      <p:sp>
        <p:nvSpPr>
          <p:cNvPr id="20" name="Shape 18"/>
          <p:cNvSpPr/>
          <p:nvPr/>
        </p:nvSpPr>
        <p:spPr>
          <a:xfrm>
            <a:off x="6291072" y="1847088"/>
            <a:ext cx="2523744" cy="1572768"/>
          </a:xfrm>
          <a:prstGeom prst="roundRect">
            <a:avLst/>
          </a:prstGeom>
          <a:solidFill>
            <a:srgbClr val="FFFDFC"/>
          </a:solidFill>
          <a:ln w="12700">
            <a:solidFill>
              <a:srgbClr val="DED2C5"/>
            </a:solidFill>
            <a:prstDash val="solid"/>
          </a:ln>
          <a:effectLst>
            <a:outerShdw blurRad="13970" dist="50800" dir="2700000" algn="bl" rotWithShape="0">
              <a:srgbClr val="B9AA9B">
                <a:alpha val="8000"/>
              </a:srgbClr>
            </a:outerShdw>
          </a:effectLst>
        </p:spPr>
        <p:txBody>
          <a:bodyPr/>
          <a:lstStyle/>
          <a:p>
            <a:endParaRPr lang="en-US"/>
          </a:p>
        </p:txBody>
      </p:sp>
      <p:sp>
        <p:nvSpPr>
          <p:cNvPr id="21" name="Shape 19"/>
          <p:cNvSpPr/>
          <p:nvPr/>
        </p:nvSpPr>
        <p:spPr>
          <a:xfrm>
            <a:off x="6519672" y="2130552"/>
            <a:ext cx="566928" cy="566928"/>
          </a:xfrm>
          <a:prstGeom prst="ellipse">
            <a:avLst/>
          </a:prstGeom>
          <a:solidFill>
            <a:srgbClr val="8B5E50">
              <a:alpha val="16000"/>
            </a:srgbClr>
          </a:solidFill>
          <a:ln w="15240">
            <a:solidFill>
              <a:srgbClr val="8B5E50"/>
            </a:solidFill>
            <a:prstDash val="solid"/>
          </a:ln>
        </p:spPr>
        <p:txBody>
          <a:bodyPr/>
          <a:lstStyle/>
          <a:p>
            <a:endParaRPr lang="en-US"/>
          </a:p>
        </p:txBody>
      </p:sp>
      <p:sp>
        <p:nvSpPr>
          <p:cNvPr id="22" name="Text 20"/>
          <p:cNvSpPr/>
          <p:nvPr/>
        </p:nvSpPr>
        <p:spPr>
          <a:xfrm>
            <a:off x="6519672" y="2258568"/>
            <a:ext cx="566928" cy="237744"/>
          </a:xfrm>
          <a:prstGeom prst="rect">
            <a:avLst/>
          </a:prstGeom>
          <a:noFill/>
          <a:ln/>
        </p:spPr>
        <p:txBody>
          <a:bodyPr wrap="square" lIns="0" tIns="0" rIns="0" bIns="0" rtlCol="0" anchor="ctr">
            <a:normAutofit/>
          </a:bodyPr>
          <a:lstStyle/>
          <a:p>
            <a:pPr marL="0" indent="0" algn="ctr">
              <a:buNone/>
            </a:pPr>
            <a:r>
              <a:rPr lang="en-US" sz="1250" b="1" dirty="0">
                <a:solidFill>
                  <a:srgbClr val="8B5E50"/>
                </a:solidFill>
                <a:latin typeface="Georgia" pitchFamily="34" charset="0"/>
                <a:ea typeface="Georgia" pitchFamily="34" charset="-122"/>
                <a:cs typeface="Georgia" pitchFamily="34" charset="-120"/>
              </a:rPr>
              <a:t>g</a:t>
            </a:r>
            <a:endParaRPr lang="en-US" sz="1250" dirty="0"/>
          </a:p>
        </p:txBody>
      </p:sp>
      <p:sp>
        <p:nvSpPr>
          <p:cNvPr id="23" name="Text 21"/>
          <p:cNvSpPr/>
          <p:nvPr/>
        </p:nvSpPr>
        <p:spPr>
          <a:xfrm>
            <a:off x="7251192" y="2130552"/>
            <a:ext cx="1325880" cy="274320"/>
          </a:xfrm>
          <a:prstGeom prst="rect">
            <a:avLst/>
          </a:prstGeom>
          <a:noFill/>
          <a:ln/>
        </p:spPr>
        <p:txBody>
          <a:bodyPr wrap="square" lIns="0" tIns="0" rIns="0" bIns="0" rtlCol="0" anchor="ctr">
            <a:normAutofit/>
          </a:bodyPr>
          <a:lstStyle/>
          <a:p>
            <a:pPr marL="0" indent="0">
              <a:buNone/>
            </a:pPr>
            <a:r>
              <a:rPr lang="en-US" sz="1350" b="1" dirty="0">
                <a:solidFill>
                  <a:srgbClr val="8B5E50"/>
                </a:solidFill>
                <a:latin typeface="Aptos" pitchFamily="34" charset="0"/>
                <a:ea typeface="Aptos" pitchFamily="34" charset="-122"/>
                <a:cs typeface="Aptos" pitchFamily="34" charset="-120"/>
              </a:rPr>
              <a:t>Dijkstra</a:t>
            </a:r>
            <a:endParaRPr lang="en-US" sz="1350" dirty="0"/>
          </a:p>
        </p:txBody>
      </p:sp>
      <p:sp>
        <p:nvSpPr>
          <p:cNvPr id="24" name="Shape 22"/>
          <p:cNvSpPr/>
          <p:nvPr/>
        </p:nvSpPr>
        <p:spPr>
          <a:xfrm>
            <a:off x="7251192" y="2560320"/>
            <a:ext cx="1271016" cy="0"/>
          </a:xfrm>
          <a:prstGeom prst="line">
            <a:avLst/>
          </a:prstGeom>
          <a:noFill/>
          <a:ln w="12700">
            <a:solidFill>
              <a:srgbClr val="DED2C5"/>
            </a:solidFill>
            <a:prstDash val="solid"/>
          </a:ln>
        </p:spPr>
        <p:txBody>
          <a:bodyPr/>
          <a:lstStyle/>
          <a:p>
            <a:endParaRPr lang="en-US"/>
          </a:p>
        </p:txBody>
      </p:sp>
      <p:sp>
        <p:nvSpPr>
          <p:cNvPr id="25" name="Text 23"/>
          <p:cNvSpPr/>
          <p:nvPr/>
        </p:nvSpPr>
        <p:spPr>
          <a:xfrm>
            <a:off x="6519672" y="2779776"/>
            <a:ext cx="2066544" cy="384048"/>
          </a:xfrm>
          <a:prstGeom prst="rect">
            <a:avLst/>
          </a:prstGeom>
          <a:noFill/>
          <a:ln/>
        </p:spPr>
        <p:txBody>
          <a:bodyPr wrap="square" lIns="0" tIns="0" rIns="0" bIns="0" rtlCol="0" anchor="ctr">
            <a:normAutofit/>
          </a:bodyPr>
          <a:lstStyle/>
          <a:p>
            <a:pPr marL="0" indent="0" algn="ctr">
              <a:buNone/>
            </a:pPr>
            <a:r>
              <a:rPr lang="en-US" sz="1350" dirty="0">
                <a:solidFill>
                  <a:srgbClr val="352B26"/>
                </a:solidFill>
                <a:latin typeface="Georgia" pitchFamily="34" charset="0"/>
                <a:ea typeface="Georgia" pitchFamily="34" charset="-122"/>
                <a:cs typeface="Georgia" pitchFamily="34" charset="-120"/>
              </a:rPr>
              <a:t>referentna najniža cena</a:t>
            </a:r>
            <a:endParaRPr lang="en-US" sz="1350" dirty="0"/>
          </a:p>
        </p:txBody>
      </p:sp>
      <p:sp>
        <p:nvSpPr>
          <p:cNvPr id="26" name="Shape 24"/>
          <p:cNvSpPr/>
          <p:nvPr/>
        </p:nvSpPr>
        <p:spPr>
          <a:xfrm>
            <a:off x="9107424" y="1847088"/>
            <a:ext cx="2523744" cy="1572768"/>
          </a:xfrm>
          <a:prstGeom prst="roundRect">
            <a:avLst/>
          </a:prstGeom>
          <a:solidFill>
            <a:srgbClr val="FFFDFC"/>
          </a:solidFill>
          <a:ln w="12700">
            <a:solidFill>
              <a:srgbClr val="DED2C5"/>
            </a:solidFill>
            <a:prstDash val="solid"/>
          </a:ln>
          <a:effectLst>
            <a:outerShdw blurRad="13970" dist="50800" dir="2700000" algn="bl" rotWithShape="0">
              <a:srgbClr val="B9AA9B">
                <a:alpha val="8000"/>
              </a:srgbClr>
            </a:outerShdw>
          </a:effectLst>
        </p:spPr>
        <p:txBody>
          <a:bodyPr/>
          <a:lstStyle/>
          <a:p>
            <a:endParaRPr lang="en-US"/>
          </a:p>
        </p:txBody>
      </p:sp>
      <p:sp>
        <p:nvSpPr>
          <p:cNvPr id="27" name="Shape 25"/>
          <p:cNvSpPr/>
          <p:nvPr/>
        </p:nvSpPr>
        <p:spPr>
          <a:xfrm>
            <a:off x="9336024" y="2130552"/>
            <a:ext cx="566928" cy="566928"/>
          </a:xfrm>
          <a:prstGeom prst="ellipse">
            <a:avLst/>
          </a:prstGeom>
          <a:solidFill>
            <a:srgbClr val="328C8B">
              <a:alpha val="16000"/>
            </a:srgbClr>
          </a:solidFill>
          <a:ln w="15240">
            <a:solidFill>
              <a:srgbClr val="328C8B"/>
            </a:solidFill>
            <a:prstDash val="solid"/>
          </a:ln>
        </p:spPr>
        <p:txBody>
          <a:bodyPr/>
          <a:lstStyle/>
          <a:p>
            <a:endParaRPr lang="en-US"/>
          </a:p>
        </p:txBody>
      </p:sp>
      <p:sp>
        <p:nvSpPr>
          <p:cNvPr id="28" name="Text 26"/>
          <p:cNvSpPr/>
          <p:nvPr/>
        </p:nvSpPr>
        <p:spPr>
          <a:xfrm>
            <a:off x="9336024" y="2258568"/>
            <a:ext cx="566928" cy="237744"/>
          </a:xfrm>
          <a:prstGeom prst="rect">
            <a:avLst/>
          </a:prstGeom>
          <a:noFill/>
          <a:ln/>
        </p:spPr>
        <p:txBody>
          <a:bodyPr wrap="square" lIns="0" tIns="0" rIns="0" bIns="0" rtlCol="0" anchor="ctr">
            <a:normAutofit/>
          </a:bodyPr>
          <a:lstStyle/>
          <a:p>
            <a:pPr marL="0" indent="0" algn="ctr">
              <a:buNone/>
            </a:pPr>
            <a:r>
              <a:rPr lang="en-US" sz="1250" b="1" dirty="0">
                <a:solidFill>
                  <a:srgbClr val="328C8B"/>
                </a:solidFill>
                <a:latin typeface="Georgia" pitchFamily="34" charset="0"/>
                <a:ea typeface="Georgia" pitchFamily="34" charset="-122"/>
                <a:cs typeface="Georgia" pitchFamily="34" charset="-120"/>
              </a:rPr>
              <a:t>g+h</a:t>
            </a:r>
            <a:endParaRPr lang="en-US" sz="1250" dirty="0"/>
          </a:p>
        </p:txBody>
      </p:sp>
      <p:sp>
        <p:nvSpPr>
          <p:cNvPr id="29" name="Text 27"/>
          <p:cNvSpPr/>
          <p:nvPr/>
        </p:nvSpPr>
        <p:spPr>
          <a:xfrm>
            <a:off x="10067544" y="2130552"/>
            <a:ext cx="1325880" cy="274320"/>
          </a:xfrm>
          <a:prstGeom prst="rect">
            <a:avLst/>
          </a:prstGeom>
          <a:noFill/>
          <a:ln/>
        </p:spPr>
        <p:txBody>
          <a:bodyPr wrap="square" lIns="0" tIns="0" rIns="0" bIns="0" rtlCol="0" anchor="ctr">
            <a:normAutofit/>
          </a:bodyPr>
          <a:lstStyle/>
          <a:p>
            <a:pPr marL="0" indent="0">
              <a:buNone/>
            </a:pPr>
            <a:r>
              <a:rPr lang="en-US" sz="1350" b="1" dirty="0">
                <a:solidFill>
                  <a:srgbClr val="328C8B"/>
                </a:solidFill>
                <a:latin typeface="Aptos" pitchFamily="34" charset="0"/>
                <a:ea typeface="Aptos" pitchFamily="34" charset="-122"/>
                <a:cs typeface="Aptos" pitchFamily="34" charset="-120"/>
              </a:rPr>
              <a:t>A*</a:t>
            </a:r>
            <a:endParaRPr lang="en-US" sz="1350" dirty="0"/>
          </a:p>
        </p:txBody>
      </p:sp>
      <p:sp>
        <p:nvSpPr>
          <p:cNvPr id="30" name="Shape 28"/>
          <p:cNvSpPr/>
          <p:nvPr/>
        </p:nvSpPr>
        <p:spPr>
          <a:xfrm>
            <a:off x="10067544" y="2560320"/>
            <a:ext cx="1271016" cy="0"/>
          </a:xfrm>
          <a:prstGeom prst="line">
            <a:avLst/>
          </a:prstGeom>
          <a:noFill/>
          <a:ln w="12700">
            <a:solidFill>
              <a:srgbClr val="DED2C5"/>
            </a:solidFill>
            <a:prstDash val="solid"/>
          </a:ln>
        </p:spPr>
        <p:txBody>
          <a:bodyPr/>
          <a:lstStyle/>
          <a:p>
            <a:endParaRPr lang="en-US"/>
          </a:p>
        </p:txBody>
      </p:sp>
      <p:sp>
        <p:nvSpPr>
          <p:cNvPr id="31" name="Text 29"/>
          <p:cNvSpPr/>
          <p:nvPr/>
        </p:nvSpPr>
        <p:spPr>
          <a:xfrm>
            <a:off x="9336024" y="2779776"/>
            <a:ext cx="2066544" cy="384048"/>
          </a:xfrm>
          <a:prstGeom prst="rect">
            <a:avLst/>
          </a:prstGeom>
          <a:noFill/>
          <a:ln/>
        </p:spPr>
        <p:txBody>
          <a:bodyPr wrap="square" lIns="0" tIns="0" rIns="0" bIns="0" rtlCol="0" anchor="ctr">
            <a:normAutofit/>
          </a:bodyPr>
          <a:lstStyle/>
          <a:p>
            <a:pPr marL="0" indent="0" algn="ctr">
              <a:buNone/>
            </a:pPr>
            <a:r>
              <a:rPr lang="en-US" sz="1350" dirty="0">
                <a:solidFill>
                  <a:srgbClr val="352B26"/>
                </a:solidFill>
                <a:latin typeface="Georgia" pitchFamily="34" charset="0"/>
                <a:ea typeface="Georgia" pitchFamily="34" charset="-122"/>
                <a:cs typeface="Georgia" pitchFamily="34" charset="-120"/>
              </a:rPr>
              <a:t>optimalnost uz heuristiku</a:t>
            </a:r>
            <a:endParaRPr lang="en-US" sz="1350" dirty="0"/>
          </a:p>
        </p:txBody>
      </p:sp>
      <p:sp>
        <p:nvSpPr>
          <p:cNvPr id="32" name="Shape 30"/>
          <p:cNvSpPr/>
          <p:nvPr/>
        </p:nvSpPr>
        <p:spPr>
          <a:xfrm>
            <a:off x="658368" y="3730752"/>
            <a:ext cx="2523744" cy="1572768"/>
          </a:xfrm>
          <a:prstGeom prst="roundRect">
            <a:avLst/>
          </a:prstGeom>
          <a:solidFill>
            <a:srgbClr val="FFFDFC"/>
          </a:solidFill>
          <a:ln w="12700">
            <a:solidFill>
              <a:srgbClr val="DED2C5"/>
            </a:solidFill>
            <a:prstDash val="solid"/>
          </a:ln>
          <a:effectLst>
            <a:outerShdw blurRad="13970" dist="50800" dir="2700000" algn="bl" rotWithShape="0">
              <a:srgbClr val="B9AA9B">
                <a:alpha val="8000"/>
              </a:srgbClr>
            </a:outerShdw>
          </a:effectLst>
        </p:spPr>
        <p:txBody>
          <a:bodyPr/>
          <a:lstStyle/>
          <a:p>
            <a:endParaRPr lang="en-US"/>
          </a:p>
        </p:txBody>
      </p:sp>
      <p:sp>
        <p:nvSpPr>
          <p:cNvPr id="33" name="Shape 31"/>
          <p:cNvSpPr/>
          <p:nvPr/>
        </p:nvSpPr>
        <p:spPr>
          <a:xfrm>
            <a:off x="886968" y="4014216"/>
            <a:ext cx="566928" cy="566928"/>
          </a:xfrm>
          <a:prstGeom prst="ellipse">
            <a:avLst/>
          </a:prstGeom>
          <a:solidFill>
            <a:srgbClr val="D85B4A">
              <a:alpha val="16000"/>
            </a:srgbClr>
          </a:solidFill>
          <a:ln w="15240">
            <a:solidFill>
              <a:srgbClr val="D85B4A"/>
            </a:solidFill>
            <a:prstDash val="solid"/>
          </a:ln>
        </p:spPr>
        <p:txBody>
          <a:bodyPr/>
          <a:lstStyle/>
          <a:p>
            <a:endParaRPr lang="en-US"/>
          </a:p>
        </p:txBody>
      </p:sp>
      <p:sp>
        <p:nvSpPr>
          <p:cNvPr id="34" name="Text 32"/>
          <p:cNvSpPr/>
          <p:nvPr/>
        </p:nvSpPr>
        <p:spPr>
          <a:xfrm>
            <a:off x="886968" y="4142232"/>
            <a:ext cx="566928" cy="237744"/>
          </a:xfrm>
          <a:prstGeom prst="rect">
            <a:avLst/>
          </a:prstGeom>
          <a:noFill/>
          <a:ln/>
        </p:spPr>
        <p:txBody>
          <a:bodyPr wrap="square" lIns="0" tIns="0" rIns="0" bIns="0" rtlCol="0" anchor="ctr">
            <a:normAutofit/>
          </a:bodyPr>
          <a:lstStyle/>
          <a:p>
            <a:pPr marL="0" indent="0" algn="ctr">
              <a:buNone/>
            </a:pPr>
            <a:r>
              <a:rPr lang="en-US" sz="1250" b="1" dirty="0">
                <a:solidFill>
                  <a:srgbClr val="D85B4A"/>
                </a:solidFill>
                <a:latin typeface="Georgia" pitchFamily="34" charset="0"/>
                <a:ea typeface="Georgia" pitchFamily="34" charset="-122"/>
                <a:cs typeface="Georgia" pitchFamily="34" charset="-120"/>
              </a:rPr>
              <a:t>h</a:t>
            </a:r>
            <a:endParaRPr lang="en-US" sz="1250" dirty="0"/>
          </a:p>
        </p:txBody>
      </p:sp>
      <p:sp>
        <p:nvSpPr>
          <p:cNvPr id="35" name="Text 33"/>
          <p:cNvSpPr/>
          <p:nvPr/>
        </p:nvSpPr>
        <p:spPr>
          <a:xfrm>
            <a:off x="1618488" y="4014216"/>
            <a:ext cx="1325880" cy="274320"/>
          </a:xfrm>
          <a:prstGeom prst="rect">
            <a:avLst/>
          </a:prstGeom>
          <a:noFill/>
          <a:ln/>
        </p:spPr>
        <p:txBody>
          <a:bodyPr wrap="square" lIns="0" tIns="0" rIns="0" bIns="0" rtlCol="0" anchor="ctr">
            <a:normAutofit/>
          </a:bodyPr>
          <a:lstStyle/>
          <a:p>
            <a:pPr marL="0" indent="0">
              <a:buNone/>
            </a:pPr>
            <a:r>
              <a:rPr lang="en-US" sz="1350" b="1" dirty="0">
                <a:solidFill>
                  <a:srgbClr val="D85B4A"/>
                </a:solidFill>
                <a:latin typeface="Aptos" pitchFamily="34" charset="0"/>
                <a:ea typeface="Aptos" pitchFamily="34" charset="-122"/>
                <a:cs typeface="Aptos" pitchFamily="34" charset="-120"/>
              </a:rPr>
              <a:t>Greedy</a:t>
            </a:r>
            <a:endParaRPr lang="en-US" sz="1350" dirty="0"/>
          </a:p>
        </p:txBody>
      </p:sp>
      <p:sp>
        <p:nvSpPr>
          <p:cNvPr id="36" name="Shape 34"/>
          <p:cNvSpPr/>
          <p:nvPr/>
        </p:nvSpPr>
        <p:spPr>
          <a:xfrm>
            <a:off x="1618488" y="4443984"/>
            <a:ext cx="1271016" cy="0"/>
          </a:xfrm>
          <a:prstGeom prst="line">
            <a:avLst/>
          </a:prstGeom>
          <a:noFill/>
          <a:ln w="12700">
            <a:solidFill>
              <a:srgbClr val="DED2C5"/>
            </a:solidFill>
            <a:prstDash val="solid"/>
          </a:ln>
        </p:spPr>
        <p:txBody>
          <a:bodyPr/>
          <a:lstStyle/>
          <a:p>
            <a:endParaRPr lang="en-US"/>
          </a:p>
        </p:txBody>
      </p:sp>
      <p:sp>
        <p:nvSpPr>
          <p:cNvPr id="37" name="Text 35"/>
          <p:cNvSpPr/>
          <p:nvPr/>
        </p:nvSpPr>
        <p:spPr>
          <a:xfrm>
            <a:off x="886968" y="4663440"/>
            <a:ext cx="2066544" cy="384048"/>
          </a:xfrm>
          <a:prstGeom prst="rect">
            <a:avLst/>
          </a:prstGeom>
          <a:noFill/>
          <a:ln/>
        </p:spPr>
        <p:txBody>
          <a:bodyPr wrap="square" lIns="0" tIns="0" rIns="0" bIns="0" rtlCol="0" anchor="ctr">
            <a:normAutofit/>
          </a:bodyPr>
          <a:lstStyle/>
          <a:p>
            <a:pPr marL="0" indent="0" algn="ctr">
              <a:buNone/>
            </a:pPr>
            <a:r>
              <a:rPr lang="en-US" sz="1350" dirty="0">
                <a:solidFill>
                  <a:srgbClr val="352B26"/>
                </a:solidFill>
                <a:latin typeface="Georgia" pitchFamily="34" charset="0"/>
                <a:ea typeface="Georgia" pitchFamily="34" charset="-122"/>
                <a:cs typeface="Georgia" pitchFamily="34" charset="-120"/>
              </a:rPr>
              <a:t>minimum rada, veći rizik</a:t>
            </a:r>
            <a:endParaRPr lang="en-US" sz="1350" dirty="0"/>
          </a:p>
        </p:txBody>
      </p:sp>
      <p:sp>
        <p:nvSpPr>
          <p:cNvPr id="38" name="Shape 36"/>
          <p:cNvSpPr/>
          <p:nvPr/>
        </p:nvSpPr>
        <p:spPr>
          <a:xfrm>
            <a:off x="3474720" y="3730752"/>
            <a:ext cx="2523744" cy="1572768"/>
          </a:xfrm>
          <a:prstGeom prst="roundRect">
            <a:avLst/>
          </a:prstGeom>
          <a:solidFill>
            <a:srgbClr val="FFFDFC"/>
          </a:solidFill>
          <a:ln w="12700">
            <a:solidFill>
              <a:srgbClr val="DED2C5"/>
            </a:solidFill>
            <a:prstDash val="solid"/>
          </a:ln>
          <a:effectLst>
            <a:outerShdw blurRad="13970" dist="50800" dir="2700000" algn="bl" rotWithShape="0">
              <a:srgbClr val="B9AA9B">
                <a:alpha val="8000"/>
              </a:srgbClr>
            </a:outerShdw>
          </a:effectLst>
        </p:spPr>
        <p:txBody>
          <a:bodyPr/>
          <a:lstStyle/>
          <a:p>
            <a:endParaRPr lang="en-US"/>
          </a:p>
        </p:txBody>
      </p:sp>
      <p:sp>
        <p:nvSpPr>
          <p:cNvPr id="39" name="Shape 37"/>
          <p:cNvSpPr/>
          <p:nvPr/>
        </p:nvSpPr>
        <p:spPr>
          <a:xfrm>
            <a:off x="3703320" y="4014216"/>
            <a:ext cx="566928" cy="566928"/>
          </a:xfrm>
          <a:prstGeom prst="ellipse">
            <a:avLst/>
          </a:prstGeom>
          <a:solidFill>
            <a:srgbClr val="4F8D4A">
              <a:alpha val="16000"/>
            </a:srgbClr>
          </a:solidFill>
          <a:ln w="15240">
            <a:solidFill>
              <a:srgbClr val="4F8D4A"/>
            </a:solidFill>
            <a:prstDash val="solid"/>
          </a:ln>
        </p:spPr>
        <p:txBody>
          <a:bodyPr/>
          <a:lstStyle/>
          <a:p>
            <a:endParaRPr lang="en-US"/>
          </a:p>
        </p:txBody>
      </p:sp>
      <p:sp>
        <p:nvSpPr>
          <p:cNvPr id="40" name="Text 38"/>
          <p:cNvSpPr/>
          <p:nvPr/>
        </p:nvSpPr>
        <p:spPr>
          <a:xfrm>
            <a:off x="3703320" y="4142232"/>
            <a:ext cx="566928" cy="237744"/>
          </a:xfrm>
          <a:prstGeom prst="rect">
            <a:avLst/>
          </a:prstGeom>
          <a:noFill/>
          <a:ln/>
        </p:spPr>
        <p:txBody>
          <a:bodyPr wrap="square" lIns="0" tIns="0" rIns="0" bIns="0" rtlCol="0" anchor="ctr">
            <a:normAutofit/>
          </a:bodyPr>
          <a:lstStyle/>
          <a:p>
            <a:pPr marL="0" indent="0" algn="ctr">
              <a:buNone/>
            </a:pPr>
            <a:r>
              <a:rPr lang="en-US" sz="1250" b="1" dirty="0">
                <a:solidFill>
                  <a:srgbClr val="4F8D4A"/>
                </a:solidFill>
                <a:latin typeface="Georgia" pitchFamily="34" charset="0"/>
                <a:ea typeface="Georgia" pitchFamily="34" charset="-122"/>
                <a:cs typeface="Georgia" pitchFamily="34" charset="-120"/>
              </a:rPr>
              <a:t>w₁</a:t>
            </a:r>
            <a:endParaRPr lang="en-US" sz="1250" dirty="0"/>
          </a:p>
        </p:txBody>
      </p:sp>
      <p:sp>
        <p:nvSpPr>
          <p:cNvPr id="41" name="Text 39"/>
          <p:cNvSpPr/>
          <p:nvPr/>
        </p:nvSpPr>
        <p:spPr>
          <a:xfrm>
            <a:off x="4434840" y="4014216"/>
            <a:ext cx="1325880" cy="274320"/>
          </a:xfrm>
          <a:prstGeom prst="rect">
            <a:avLst/>
          </a:prstGeom>
          <a:noFill/>
          <a:ln/>
        </p:spPr>
        <p:txBody>
          <a:bodyPr wrap="square" lIns="0" tIns="0" rIns="0" bIns="0" rtlCol="0" anchor="ctr">
            <a:normAutofit/>
          </a:bodyPr>
          <a:lstStyle/>
          <a:p>
            <a:pPr marL="0" indent="0">
              <a:buNone/>
            </a:pPr>
            <a:r>
              <a:rPr lang="en-US" sz="1350" b="1" dirty="0">
                <a:solidFill>
                  <a:srgbClr val="4F8D4A"/>
                </a:solidFill>
                <a:latin typeface="Aptos" pitchFamily="34" charset="0"/>
                <a:ea typeface="Aptos" pitchFamily="34" charset="-122"/>
                <a:cs typeface="Aptos" pitchFamily="34" charset="-120"/>
              </a:rPr>
              <a:t>Swarm</a:t>
            </a:r>
            <a:endParaRPr lang="en-US" sz="1350" dirty="0"/>
          </a:p>
        </p:txBody>
      </p:sp>
      <p:sp>
        <p:nvSpPr>
          <p:cNvPr id="42" name="Shape 40"/>
          <p:cNvSpPr/>
          <p:nvPr/>
        </p:nvSpPr>
        <p:spPr>
          <a:xfrm>
            <a:off x="4434840" y="4443984"/>
            <a:ext cx="1271016" cy="0"/>
          </a:xfrm>
          <a:prstGeom prst="line">
            <a:avLst/>
          </a:prstGeom>
          <a:noFill/>
          <a:ln w="12700">
            <a:solidFill>
              <a:srgbClr val="DED2C5"/>
            </a:solidFill>
            <a:prstDash val="solid"/>
          </a:ln>
        </p:spPr>
        <p:txBody>
          <a:bodyPr/>
          <a:lstStyle/>
          <a:p>
            <a:endParaRPr lang="en-US"/>
          </a:p>
        </p:txBody>
      </p:sp>
      <p:sp>
        <p:nvSpPr>
          <p:cNvPr id="43" name="Text 41"/>
          <p:cNvSpPr/>
          <p:nvPr/>
        </p:nvSpPr>
        <p:spPr>
          <a:xfrm>
            <a:off x="3703320" y="4663440"/>
            <a:ext cx="2066544" cy="384048"/>
          </a:xfrm>
          <a:prstGeom prst="rect">
            <a:avLst/>
          </a:prstGeom>
          <a:noFill/>
          <a:ln/>
        </p:spPr>
        <p:txBody>
          <a:bodyPr wrap="square" lIns="0" tIns="0" rIns="0" bIns="0" rtlCol="0" anchor="ctr">
            <a:normAutofit/>
          </a:bodyPr>
          <a:lstStyle/>
          <a:p>
            <a:pPr marL="0" indent="0" algn="ctr">
              <a:buNone/>
            </a:pPr>
            <a:r>
              <a:rPr lang="en-US" sz="1350" dirty="0">
                <a:solidFill>
                  <a:srgbClr val="352B26"/>
                </a:solidFill>
                <a:latin typeface="Georgia" pitchFamily="34" charset="0"/>
                <a:ea typeface="Georgia" pitchFamily="34" charset="-122"/>
                <a:cs typeface="Georgia" pitchFamily="34" charset="-120"/>
              </a:rPr>
              <a:t>kompromis rada i cene</a:t>
            </a:r>
            <a:endParaRPr lang="en-US" sz="1350" dirty="0"/>
          </a:p>
        </p:txBody>
      </p:sp>
      <p:sp>
        <p:nvSpPr>
          <p:cNvPr id="44" name="Shape 42"/>
          <p:cNvSpPr/>
          <p:nvPr/>
        </p:nvSpPr>
        <p:spPr>
          <a:xfrm>
            <a:off x="6291072" y="3730752"/>
            <a:ext cx="2523744" cy="1572768"/>
          </a:xfrm>
          <a:prstGeom prst="roundRect">
            <a:avLst/>
          </a:prstGeom>
          <a:solidFill>
            <a:srgbClr val="FFFDFC"/>
          </a:solidFill>
          <a:ln w="12700">
            <a:solidFill>
              <a:srgbClr val="DED2C5"/>
            </a:solidFill>
            <a:prstDash val="solid"/>
          </a:ln>
          <a:effectLst>
            <a:outerShdw blurRad="13970" dist="50800" dir="2700000" algn="bl" rotWithShape="0">
              <a:srgbClr val="B9AA9B">
                <a:alpha val="8000"/>
              </a:srgbClr>
            </a:outerShdw>
          </a:effectLst>
        </p:spPr>
        <p:txBody>
          <a:bodyPr/>
          <a:lstStyle/>
          <a:p>
            <a:endParaRPr lang="en-US"/>
          </a:p>
        </p:txBody>
      </p:sp>
      <p:sp>
        <p:nvSpPr>
          <p:cNvPr id="45" name="Shape 43"/>
          <p:cNvSpPr/>
          <p:nvPr/>
        </p:nvSpPr>
        <p:spPr>
          <a:xfrm>
            <a:off x="6519672" y="4014216"/>
            <a:ext cx="566928" cy="566928"/>
          </a:xfrm>
          <a:prstGeom prst="ellipse">
            <a:avLst/>
          </a:prstGeom>
          <a:solidFill>
            <a:srgbClr val="6E473B">
              <a:alpha val="16000"/>
            </a:srgbClr>
          </a:solidFill>
          <a:ln w="15240">
            <a:solidFill>
              <a:srgbClr val="6E473B"/>
            </a:solidFill>
            <a:prstDash val="solid"/>
          </a:ln>
        </p:spPr>
        <p:txBody>
          <a:bodyPr/>
          <a:lstStyle/>
          <a:p>
            <a:endParaRPr lang="en-US"/>
          </a:p>
        </p:txBody>
      </p:sp>
      <p:sp>
        <p:nvSpPr>
          <p:cNvPr id="46" name="Text 44"/>
          <p:cNvSpPr/>
          <p:nvPr/>
        </p:nvSpPr>
        <p:spPr>
          <a:xfrm>
            <a:off x="6519672" y="4142232"/>
            <a:ext cx="566928" cy="237744"/>
          </a:xfrm>
          <a:prstGeom prst="rect">
            <a:avLst/>
          </a:prstGeom>
          <a:noFill/>
          <a:ln/>
        </p:spPr>
        <p:txBody>
          <a:bodyPr wrap="square" lIns="0" tIns="0" rIns="0" bIns="0" rtlCol="0" anchor="ctr">
            <a:normAutofit/>
          </a:bodyPr>
          <a:lstStyle/>
          <a:p>
            <a:pPr marL="0" indent="0" algn="ctr">
              <a:buNone/>
            </a:pPr>
            <a:r>
              <a:rPr lang="en-US" sz="1250" b="1" dirty="0">
                <a:solidFill>
                  <a:srgbClr val="6E473B"/>
                </a:solidFill>
                <a:latin typeface="Georgia" pitchFamily="34" charset="0"/>
                <a:ea typeface="Georgia" pitchFamily="34" charset="-122"/>
                <a:cs typeface="Georgia" pitchFamily="34" charset="-120"/>
              </a:rPr>
              <a:t>w₂</a:t>
            </a:r>
            <a:endParaRPr lang="en-US" sz="1250" dirty="0"/>
          </a:p>
        </p:txBody>
      </p:sp>
      <p:sp>
        <p:nvSpPr>
          <p:cNvPr id="47" name="Text 45"/>
          <p:cNvSpPr/>
          <p:nvPr/>
        </p:nvSpPr>
        <p:spPr>
          <a:xfrm>
            <a:off x="7251192" y="4014216"/>
            <a:ext cx="1325880" cy="274320"/>
          </a:xfrm>
          <a:prstGeom prst="rect">
            <a:avLst/>
          </a:prstGeom>
          <a:noFill/>
          <a:ln/>
        </p:spPr>
        <p:txBody>
          <a:bodyPr wrap="square" lIns="0" tIns="0" rIns="0" bIns="0" rtlCol="0" anchor="ctr">
            <a:normAutofit/>
          </a:bodyPr>
          <a:lstStyle/>
          <a:p>
            <a:pPr marL="0" indent="0">
              <a:buNone/>
            </a:pPr>
            <a:r>
              <a:rPr lang="en-US" sz="1350" b="1" dirty="0">
                <a:solidFill>
                  <a:srgbClr val="6E473B"/>
                </a:solidFill>
                <a:latin typeface="Aptos" pitchFamily="34" charset="0"/>
                <a:ea typeface="Aptos" pitchFamily="34" charset="-122"/>
                <a:cs typeface="Aptos" pitchFamily="34" charset="-120"/>
              </a:rPr>
              <a:t>Conv. Swarm</a:t>
            </a:r>
            <a:endParaRPr lang="en-US" sz="1350" dirty="0"/>
          </a:p>
        </p:txBody>
      </p:sp>
      <p:sp>
        <p:nvSpPr>
          <p:cNvPr id="48" name="Shape 46"/>
          <p:cNvSpPr/>
          <p:nvPr/>
        </p:nvSpPr>
        <p:spPr>
          <a:xfrm>
            <a:off x="7251192" y="4443984"/>
            <a:ext cx="1271016" cy="0"/>
          </a:xfrm>
          <a:prstGeom prst="line">
            <a:avLst/>
          </a:prstGeom>
          <a:noFill/>
          <a:ln w="12700">
            <a:solidFill>
              <a:srgbClr val="DED2C5"/>
            </a:solidFill>
            <a:prstDash val="solid"/>
          </a:ln>
        </p:spPr>
        <p:txBody>
          <a:bodyPr/>
          <a:lstStyle/>
          <a:p>
            <a:endParaRPr lang="en-US"/>
          </a:p>
        </p:txBody>
      </p:sp>
      <p:sp>
        <p:nvSpPr>
          <p:cNvPr id="49" name="Text 47"/>
          <p:cNvSpPr/>
          <p:nvPr/>
        </p:nvSpPr>
        <p:spPr>
          <a:xfrm>
            <a:off x="6519672" y="4663440"/>
            <a:ext cx="2066544" cy="384048"/>
          </a:xfrm>
          <a:prstGeom prst="rect">
            <a:avLst/>
          </a:prstGeom>
          <a:noFill/>
          <a:ln/>
        </p:spPr>
        <p:txBody>
          <a:bodyPr wrap="square" lIns="0" tIns="0" rIns="0" bIns="0" rtlCol="0" anchor="ctr">
            <a:normAutofit/>
          </a:bodyPr>
          <a:lstStyle/>
          <a:p>
            <a:pPr marL="0" indent="0" algn="ctr">
              <a:buNone/>
            </a:pPr>
            <a:r>
              <a:rPr lang="en-US" sz="1350" dirty="0">
                <a:solidFill>
                  <a:srgbClr val="352B26"/>
                </a:solidFill>
                <a:latin typeface="Georgia" pitchFamily="34" charset="0"/>
                <a:ea typeface="Georgia" pitchFamily="34" charset="-122"/>
                <a:cs typeface="Georgia" pitchFamily="34" charset="-120"/>
              </a:rPr>
              <a:t>agresivnija heuristika</a:t>
            </a:r>
            <a:endParaRPr lang="en-US" sz="1350" dirty="0"/>
          </a:p>
        </p:txBody>
      </p:sp>
      <p:sp>
        <p:nvSpPr>
          <p:cNvPr id="50" name="Shape 48"/>
          <p:cNvSpPr/>
          <p:nvPr/>
        </p:nvSpPr>
        <p:spPr>
          <a:xfrm>
            <a:off x="9107424" y="3730752"/>
            <a:ext cx="2523744" cy="1572768"/>
          </a:xfrm>
          <a:prstGeom prst="roundRect">
            <a:avLst/>
          </a:prstGeom>
          <a:solidFill>
            <a:srgbClr val="FFFDFC"/>
          </a:solidFill>
          <a:ln w="12700">
            <a:solidFill>
              <a:srgbClr val="DED2C5"/>
            </a:solidFill>
            <a:prstDash val="solid"/>
          </a:ln>
          <a:effectLst>
            <a:outerShdw blurRad="13970" dist="50800" dir="2700000" algn="bl" rotWithShape="0">
              <a:srgbClr val="B9AA9B">
                <a:alpha val="8000"/>
              </a:srgbClr>
            </a:outerShdw>
          </a:effectLst>
        </p:spPr>
        <p:txBody>
          <a:bodyPr/>
          <a:lstStyle/>
          <a:p>
            <a:endParaRPr lang="en-US"/>
          </a:p>
        </p:txBody>
      </p:sp>
      <p:sp>
        <p:nvSpPr>
          <p:cNvPr id="51" name="Shape 49"/>
          <p:cNvSpPr/>
          <p:nvPr/>
        </p:nvSpPr>
        <p:spPr>
          <a:xfrm>
            <a:off x="9336024" y="4014216"/>
            <a:ext cx="566928" cy="566928"/>
          </a:xfrm>
          <a:prstGeom prst="ellipse">
            <a:avLst/>
          </a:prstGeom>
          <a:solidFill>
            <a:srgbClr val="D49A32">
              <a:alpha val="16000"/>
            </a:srgbClr>
          </a:solidFill>
          <a:ln w="15240">
            <a:solidFill>
              <a:srgbClr val="D49A32"/>
            </a:solidFill>
            <a:prstDash val="solid"/>
          </a:ln>
        </p:spPr>
        <p:txBody>
          <a:bodyPr/>
          <a:lstStyle/>
          <a:p>
            <a:endParaRPr lang="en-US"/>
          </a:p>
        </p:txBody>
      </p:sp>
      <p:sp>
        <p:nvSpPr>
          <p:cNvPr id="52" name="Text 50"/>
          <p:cNvSpPr/>
          <p:nvPr/>
        </p:nvSpPr>
        <p:spPr>
          <a:xfrm>
            <a:off x="9336024" y="4142232"/>
            <a:ext cx="566928" cy="237744"/>
          </a:xfrm>
          <a:prstGeom prst="rect">
            <a:avLst/>
          </a:prstGeom>
          <a:noFill/>
          <a:ln/>
        </p:spPr>
        <p:txBody>
          <a:bodyPr wrap="square" lIns="0" tIns="0" rIns="0" bIns="0" rtlCol="0" anchor="ctr">
            <a:normAutofit/>
          </a:bodyPr>
          <a:lstStyle/>
          <a:p>
            <a:pPr marL="0" indent="0" algn="ctr">
              <a:buNone/>
            </a:pPr>
            <a:r>
              <a:rPr lang="en-US" sz="1250" b="1" dirty="0">
                <a:solidFill>
                  <a:srgbClr val="D49A32"/>
                </a:solidFill>
                <a:latin typeface="Georgia" pitchFamily="34" charset="0"/>
                <a:ea typeface="Georgia" pitchFamily="34" charset="-122"/>
                <a:cs typeface="Georgia" pitchFamily="34" charset="-120"/>
              </a:rPr>
              <a:t>0|1</a:t>
            </a:r>
            <a:endParaRPr lang="en-US" sz="1250" dirty="0"/>
          </a:p>
        </p:txBody>
      </p:sp>
      <p:sp>
        <p:nvSpPr>
          <p:cNvPr id="53" name="Text 51"/>
          <p:cNvSpPr/>
          <p:nvPr/>
        </p:nvSpPr>
        <p:spPr>
          <a:xfrm>
            <a:off x="10067544" y="4014216"/>
            <a:ext cx="1325880" cy="274320"/>
          </a:xfrm>
          <a:prstGeom prst="rect">
            <a:avLst/>
          </a:prstGeom>
          <a:noFill/>
          <a:ln/>
        </p:spPr>
        <p:txBody>
          <a:bodyPr wrap="square" lIns="0" tIns="0" rIns="0" bIns="0" rtlCol="0" anchor="ctr">
            <a:normAutofit/>
          </a:bodyPr>
          <a:lstStyle/>
          <a:p>
            <a:pPr marL="0" indent="0">
              <a:buNone/>
            </a:pPr>
            <a:r>
              <a:rPr lang="en-US" sz="1350" b="1" dirty="0">
                <a:solidFill>
                  <a:srgbClr val="D49A32"/>
                </a:solidFill>
                <a:latin typeface="Aptos" pitchFamily="34" charset="0"/>
                <a:ea typeface="Aptos" pitchFamily="34" charset="-122"/>
                <a:cs typeface="Aptos" pitchFamily="34" charset="-120"/>
              </a:rPr>
              <a:t>0–1 BFS</a:t>
            </a:r>
            <a:endParaRPr lang="en-US" sz="1350" dirty="0"/>
          </a:p>
        </p:txBody>
      </p:sp>
      <p:sp>
        <p:nvSpPr>
          <p:cNvPr id="54" name="Shape 52"/>
          <p:cNvSpPr/>
          <p:nvPr/>
        </p:nvSpPr>
        <p:spPr>
          <a:xfrm>
            <a:off x="10067544" y="4443984"/>
            <a:ext cx="1271016" cy="0"/>
          </a:xfrm>
          <a:prstGeom prst="line">
            <a:avLst/>
          </a:prstGeom>
          <a:noFill/>
          <a:ln w="12700">
            <a:solidFill>
              <a:srgbClr val="DED2C5"/>
            </a:solidFill>
            <a:prstDash val="solid"/>
          </a:ln>
        </p:spPr>
        <p:txBody>
          <a:bodyPr/>
          <a:lstStyle/>
          <a:p>
            <a:endParaRPr lang="en-US"/>
          </a:p>
        </p:txBody>
      </p:sp>
      <p:sp>
        <p:nvSpPr>
          <p:cNvPr id="55" name="Text 53"/>
          <p:cNvSpPr/>
          <p:nvPr/>
        </p:nvSpPr>
        <p:spPr>
          <a:xfrm>
            <a:off x="9336024" y="4663440"/>
            <a:ext cx="2066544" cy="384048"/>
          </a:xfrm>
          <a:prstGeom prst="rect">
            <a:avLst/>
          </a:prstGeom>
          <a:noFill/>
          <a:ln/>
        </p:spPr>
        <p:txBody>
          <a:bodyPr wrap="square" lIns="0" tIns="0" rIns="0" bIns="0" rtlCol="0" anchor="ctr">
            <a:normAutofit/>
          </a:bodyPr>
          <a:lstStyle/>
          <a:p>
            <a:pPr marL="0" indent="0" algn="ctr">
              <a:buNone/>
            </a:pPr>
            <a:r>
              <a:rPr lang="en-US" sz="1350" dirty="0">
                <a:solidFill>
                  <a:srgbClr val="352B26"/>
                </a:solidFill>
                <a:latin typeface="Georgia" pitchFamily="34" charset="0"/>
                <a:ea typeface="Georgia" pitchFamily="34" charset="-122"/>
                <a:cs typeface="Georgia" pitchFamily="34" charset="-120"/>
              </a:rPr>
              <a:t>specijalista za 0/1 težine</a:t>
            </a:r>
            <a:endParaRPr lang="en-US" sz="1350" dirty="0"/>
          </a:p>
        </p:txBody>
      </p:sp>
      <p:sp>
        <p:nvSpPr>
          <p:cNvPr id="56" name="Text 54"/>
          <p:cNvSpPr/>
          <p:nvPr/>
        </p:nvSpPr>
        <p:spPr>
          <a:xfrm>
            <a:off x="1078992" y="5852160"/>
            <a:ext cx="10040112" cy="274320"/>
          </a:xfrm>
          <a:prstGeom prst="rect">
            <a:avLst/>
          </a:prstGeom>
          <a:noFill/>
          <a:ln/>
        </p:spPr>
        <p:txBody>
          <a:bodyPr wrap="square" lIns="0" tIns="0" rIns="0" bIns="0" rtlCol="0" anchor="ctr">
            <a:normAutofit/>
          </a:bodyPr>
          <a:lstStyle/>
          <a:p>
            <a:pPr marL="0" indent="0" algn="ctr">
              <a:buNone/>
            </a:pPr>
            <a:r>
              <a:rPr lang="en-US" sz="1750" dirty="0">
                <a:solidFill>
                  <a:srgbClr val="6E473B"/>
                </a:solidFill>
                <a:latin typeface="Georgia" pitchFamily="34" charset="0"/>
                <a:ea typeface="Georgia" pitchFamily="34" charset="-122"/>
                <a:cs typeface="Georgia" pitchFamily="34" charset="-120"/>
              </a:rPr>
              <a:t>Izbor algoritma je izbor prioriteta: garancija, brzina, memorija ili specifičan model težina.</a:t>
            </a:r>
            <a:endParaRPr lang="en-US" sz="1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3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
          </a:xfrm>
          <a:prstGeom prst="rect">
            <a:avLst/>
          </a:prstGeom>
          <a:solidFill>
            <a:srgbClr val="8B5E50"/>
          </a:solidFill>
          <a:ln w="12700">
            <a:solidFill>
              <a:srgbClr val="8B5E50"/>
            </a:solidFill>
            <a:prstDash val="solid"/>
          </a:ln>
        </p:spPr>
        <p:txBody>
          <a:bodyPr/>
          <a:lstStyle/>
          <a:p>
            <a:endParaRPr lang="en-US"/>
          </a:p>
        </p:txBody>
      </p:sp>
      <p:sp>
        <p:nvSpPr>
          <p:cNvPr id="3" name="Text 1"/>
          <p:cNvSpPr/>
          <p:nvPr/>
        </p:nvSpPr>
        <p:spPr>
          <a:xfrm>
            <a:off x="658368" y="274320"/>
            <a:ext cx="6858000" cy="182880"/>
          </a:xfrm>
          <a:prstGeom prst="rect">
            <a:avLst/>
          </a:prstGeom>
          <a:noFill/>
          <a:ln/>
        </p:spPr>
        <p:txBody>
          <a:bodyPr wrap="square" lIns="0" tIns="0" rIns="0" bIns="0" rtlCol="0" anchor="ctr">
            <a:normAutofit/>
          </a:bodyPr>
          <a:lstStyle/>
          <a:p>
            <a:pPr marL="0" indent="0">
              <a:buNone/>
            </a:pPr>
            <a:r>
              <a:rPr lang="en-US" sz="1000" b="1" kern="0" spc="120" dirty="0">
                <a:solidFill>
                  <a:srgbClr val="8B5E50"/>
                </a:solidFill>
                <a:latin typeface="Aptos" pitchFamily="34" charset="0"/>
                <a:ea typeface="Aptos" pitchFamily="34" charset="-122"/>
                <a:cs typeface="Aptos" pitchFamily="34" charset="-120"/>
              </a:rPr>
              <a:t>OBIM EVALUACIJE</a:t>
            </a:r>
            <a:endParaRPr lang="en-US" sz="1000" dirty="0"/>
          </a:p>
        </p:txBody>
      </p:sp>
      <p:sp>
        <p:nvSpPr>
          <p:cNvPr id="4" name="Shape 2"/>
          <p:cNvSpPr/>
          <p:nvPr/>
        </p:nvSpPr>
        <p:spPr>
          <a:xfrm>
            <a:off x="658368" y="6428232"/>
            <a:ext cx="10881360" cy="0"/>
          </a:xfrm>
          <a:prstGeom prst="line">
            <a:avLst/>
          </a:prstGeom>
          <a:noFill/>
          <a:ln w="10160">
            <a:solidFill>
              <a:srgbClr val="DED2C5"/>
            </a:solidFill>
            <a:prstDash val="solid"/>
          </a:ln>
        </p:spPr>
        <p:txBody>
          <a:bodyPr/>
          <a:lstStyle/>
          <a:p>
            <a:endParaRPr lang="en-US"/>
          </a:p>
        </p:txBody>
      </p:sp>
      <p:sp>
        <p:nvSpPr>
          <p:cNvPr id="5" name="Text 3"/>
          <p:cNvSpPr/>
          <p:nvPr/>
        </p:nvSpPr>
        <p:spPr>
          <a:xfrm>
            <a:off x="11045952" y="6492240"/>
            <a:ext cx="493776" cy="146304"/>
          </a:xfrm>
          <a:prstGeom prst="rect">
            <a:avLst/>
          </a:prstGeom>
          <a:noFill/>
          <a:ln/>
        </p:spPr>
        <p:txBody>
          <a:bodyPr wrap="square" lIns="0" tIns="0" rIns="0" bIns="0" rtlCol="0" anchor="ctr">
            <a:normAutofit/>
          </a:bodyPr>
          <a:lstStyle/>
          <a:p>
            <a:pPr marL="0" indent="0" algn="r">
              <a:buNone/>
            </a:pPr>
            <a:r>
              <a:rPr lang="en-US" sz="850" b="1" dirty="0">
                <a:solidFill>
                  <a:srgbClr val="786B62"/>
                </a:solidFill>
                <a:latin typeface="Aptos" pitchFamily="34" charset="0"/>
                <a:ea typeface="Aptos" pitchFamily="34" charset="-122"/>
                <a:cs typeface="Aptos" pitchFamily="34" charset="-120"/>
              </a:rPr>
              <a:t>13</a:t>
            </a:r>
            <a:endParaRPr lang="en-US" sz="850" dirty="0"/>
          </a:p>
        </p:txBody>
      </p:sp>
      <p:sp>
        <p:nvSpPr>
          <p:cNvPr id="6" name="Text 4"/>
          <p:cNvSpPr/>
          <p:nvPr/>
        </p:nvSpPr>
        <p:spPr>
          <a:xfrm>
            <a:off x="658368" y="694944"/>
            <a:ext cx="10789920" cy="658368"/>
          </a:xfrm>
          <a:prstGeom prst="rect">
            <a:avLst/>
          </a:prstGeom>
          <a:noFill/>
          <a:ln/>
        </p:spPr>
        <p:txBody>
          <a:bodyPr wrap="square" lIns="0" tIns="0" rIns="0" bIns="0" rtlCol="0" anchor="t">
            <a:normAutofit/>
          </a:bodyPr>
          <a:lstStyle/>
          <a:p>
            <a:pPr marL="0" indent="0">
              <a:buNone/>
            </a:pPr>
            <a:r>
              <a:rPr lang="en-US" sz="2900" dirty="0">
                <a:solidFill>
                  <a:srgbClr val="352B26"/>
                </a:solidFill>
                <a:latin typeface="Georgia" pitchFamily="34" charset="0"/>
                <a:ea typeface="Georgia" pitchFamily="34" charset="-122"/>
                <a:cs typeface="Georgia" pitchFamily="34" charset="-120"/>
              </a:rPr>
              <a:t>Četiri nivoa daju potpuniju sliku sistema.</a:t>
            </a:r>
            <a:endParaRPr lang="en-US" sz="2900" dirty="0"/>
          </a:p>
        </p:txBody>
      </p:sp>
      <p:sp>
        <p:nvSpPr>
          <p:cNvPr id="7" name="Shape 5"/>
          <p:cNvSpPr/>
          <p:nvPr/>
        </p:nvSpPr>
        <p:spPr>
          <a:xfrm>
            <a:off x="1801368" y="2322576"/>
            <a:ext cx="8119872" cy="0"/>
          </a:xfrm>
          <a:prstGeom prst="line">
            <a:avLst/>
          </a:prstGeom>
          <a:noFill/>
          <a:ln w="25400">
            <a:solidFill>
              <a:srgbClr val="DED2C5"/>
            </a:solidFill>
            <a:prstDash val="solid"/>
          </a:ln>
        </p:spPr>
        <p:txBody>
          <a:bodyPr/>
          <a:lstStyle/>
          <a:p>
            <a:endParaRPr lang="en-US"/>
          </a:p>
        </p:txBody>
      </p:sp>
      <p:sp>
        <p:nvSpPr>
          <p:cNvPr id="8" name="Shape 6"/>
          <p:cNvSpPr/>
          <p:nvPr/>
        </p:nvSpPr>
        <p:spPr>
          <a:xfrm>
            <a:off x="749808" y="1755648"/>
            <a:ext cx="2395728" cy="2624328"/>
          </a:xfrm>
          <a:prstGeom prst="roundRect">
            <a:avLst/>
          </a:prstGeom>
          <a:solidFill>
            <a:srgbClr val="FFFDFC"/>
          </a:solidFill>
          <a:ln w="12700">
            <a:solidFill>
              <a:srgbClr val="DED2C5"/>
            </a:solidFill>
            <a:prstDash val="solid"/>
          </a:ln>
        </p:spPr>
        <p:txBody>
          <a:bodyPr/>
          <a:lstStyle/>
          <a:p>
            <a:endParaRPr lang="en-US"/>
          </a:p>
        </p:txBody>
      </p:sp>
      <p:sp>
        <p:nvSpPr>
          <p:cNvPr id="9" name="Shape 7"/>
          <p:cNvSpPr/>
          <p:nvPr/>
        </p:nvSpPr>
        <p:spPr>
          <a:xfrm>
            <a:off x="1728216" y="2103120"/>
            <a:ext cx="438912" cy="438912"/>
          </a:xfrm>
          <a:prstGeom prst="ellipse">
            <a:avLst/>
          </a:prstGeom>
          <a:solidFill>
            <a:srgbClr val="4B91B8"/>
          </a:solidFill>
          <a:ln w="12700">
            <a:solidFill>
              <a:srgbClr val="4B91B8"/>
            </a:solidFill>
            <a:prstDash val="solid"/>
          </a:ln>
        </p:spPr>
        <p:txBody>
          <a:bodyPr/>
          <a:lstStyle/>
          <a:p>
            <a:endParaRPr lang="en-US"/>
          </a:p>
        </p:txBody>
      </p:sp>
      <p:sp>
        <p:nvSpPr>
          <p:cNvPr id="10" name="Text 8"/>
          <p:cNvSpPr/>
          <p:nvPr/>
        </p:nvSpPr>
        <p:spPr>
          <a:xfrm>
            <a:off x="1728216" y="2144268"/>
            <a:ext cx="438912" cy="292608"/>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1</a:t>
            </a:r>
            <a:endParaRPr lang="en-US" sz="1200" dirty="0"/>
          </a:p>
        </p:txBody>
      </p:sp>
      <p:sp>
        <p:nvSpPr>
          <p:cNvPr id="11" name="Text 9"/>
          <p:cNvSpPr/>
          <p:nvPr/>
        </p:nvSpPr>
        <p:spPr>
          <a:xfrm>
            <a:off x="978408" y="2834640"/>
            <a:ext cx="1938528" cy="347472"/>
          </a:xfrm>
          <a:prstGeom prst="rect">
            <a:avLst/>
          </a:prstGeom>
          <a:noFill/>
          <a:ln/>
        </p:spPr>
        <p:txBody>
          <a:bodyPr wrap="square" lIns="0" tIns="0" rIns="0" bIns="0" rtlCol="0" anchor="ctr">
            <a:normAutofit/>
          </a:bodyPr>
          <a:lstStyle/>
          <a:p>
            <a:pPr marL="0" indent="0" algn="ctr">
              <a:buNone/>
            </a:pPr>
            <a:r>
              <a:rPr lang="en-US" sz="1950" dirty="0">
                <a:solidFill>
                  <a:srgbClr val="352B26"/>
                </a:solidFill>
                <a:latin typeface="Georgia" pitchFamily="34" charset="0"/>
                <a:ea typeface="Georgia" pitchFamily="34" charset="-122"/>
                <a:cs typeface="Georgia" pitchFamily="34" charset="-120"/>
              </a:rPr>
              <a:t>Algoritmi</a:t>
            </a:r>
            <a:endParaRPr lang="en-US" sz="1950" dirty="0"/>
          </a:p>
        </p:txBody>
      </p:sp>
      <p:sp>
        <p:nvSpPr>
          <p:cNvPr id="12" name="Text 10"/>
          <p:cNvSpPr/>
          <p:nvPr/>
        </p:nvSpPr>
        <p:spPr>
          <a:xfrm>
            <a:off x="1042416" y="3383280"/>
            <a:ext cx="1810512" cy="603504"/>
          </a:xfrm>
          <a:prstGeom prst="rect">
            <a:avLst/>
          </a:prstGeom>
          <a:noFill/>
          <a:ln/>
        </p:spPr>
        <p:txBody>
          <a:bodyPr wrap="square" lIns="0" tIns="0" rIns="0" bIns="0" rtlCol="0" anchor="t">
            <a:normAutofit/>
          </a:bodyPr>
          <a:lstStyle/>
          <a:p>
            <a:pPr marL="0" indent="0" algn="ctr">
              <a:buNone/>
            </a:pPr>
            <a:r>
              <a:rPr lang="en-US" sz="1400" dirty="0">
                <a:solidFill>
                  <a:srgbClr val="786B62"/>
                </a:solidFill>
                <a:latin typeface="Aptos" pitchFamily="34" charset="0"/>
                <a:ea typeface="Aptos" pitchFamily="34" charset="-122"/>
                <a:cs typeface="Aptos" pitchFamily="34" charset="-120"/>
              </a:rPr>
              <a:t>9.444 simulacije</a:t>
            </a:r>
            <a:endParaRPr lang="en-US" sz="1400" dirty="0"/>
          </a:p>
        </p:txBody>
      </p:sp>
      <p:sp>
        <p:nvSpPr>
          <p:cNvPr id="13" name="Shape 11"/>
          <p:cNvSpPr/>
          <p:nvPr/>
        </p:nvSpPr>
        <p:spPr>
          <a:xfrm>
            <a:off x="3456432" y="1755648"/>
            <a:ext cx="2395728" cy="2624328"/>
          </a:xfrm>
          <a:prstGeom prst="roundRect">
            <a:avLst/>
          </a:prstGeom>
          <a:solidFill>
            <a:srgbClr val="FFFDFC"/>
          </a:solidFill>
          <a:ln w="12700">
            <a:solidFill>
              <a:srgbClr val="DED2C5"/>
            </a:solidFill>
            <a:prstDash val="solid"/>
          </a:ln>
        </p:spPr>
        <p:txBody>
          <a:bodyPr/>
          <a:lstStyle/>
          <a:p>
            <a:endParaRPr lang="en-US"/>
          </a:p>
        </p:txBody>
      </p:sp>
      <p:sp>
        <p:nvSpPr>
          <p:cNvPr id="14" name="Shape 12"/>
          <p:cNvSpPr/>
          <p:nvPr/>
        </p:nvSpPr>
        <p:spPr>
          <a:xfrm>
            <a:off x="4434840" y="2103120"/>
            <a:ext cx="438912" cy="438912"/>
          </a:xfrm>
          <a:prstGeom prst="ellipse">
            <a:avLst/>
          </a:prstGeom>
          <a:solidFill>
            <a:srgbClr val="D49A32"/>
          </a:solidFill>
          <a:ln w="12700">
            <a:solidFill>
              <a:srgbClr val="D49A32"/>
            </a:solidFill>
            <a:prstDash val="solid"/>
          </a:ln>
        </p:spPr>
        <p:txBody>
          <a:bodyPr/>
          <a:lstStyle/>
          <a:p>
            <a:endParaRPr lang="en-US"/>
          </a:p>
        </p:txBody>
      </p:sp>
      <p:sp>
        <p:nvSpPr>
          <p:cNvPr id="15" name="Text 13"/>
          <p:cNvSpPr/>
          <p:nvPr/>
        </p:nvSpPr>
        <p:spPr>
          <a:xfrm>
            <a:off x="4434840" y="2144268"/>
            <a:ext cx="438912" cy="292608"/>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2</a:t>
            </a:r>
            <a:endParaRPr lang="en-US" sz="1200" dirty="0"/>
          </a:p>
        </p:txBody>
      </p:sp>
      <p:sp>
        <p:nvSpPr>
          <p:cNvPr id="16" name="Text 14"/>
          <p:cNvSpPr/>
          <p:nvPr/>
        </p:nvSpPr>
        <p:spPr>
          <a:xfrm>
            <a:off x="3685032" y="2834640"/>
            <a:ext cx="1938528" cy="347472"/>
          </a:xfrm>
          <a:prstGeom prst="rect">
            <a:avLst/>
          </a:prstGeom>
          <a:noFill/>
          <a:ln/>
        </p:spPr>
        <p:txBody>
          <a:bodyPr wrap="square" lIns="0" tIns="0" rIns="0" bIns="0" rtlCol="0" anchor="ctr">
            <a:normAutofit/>
          </a:bodyPr>
          <a:lstStyle/>
          <a:p>
            <a:pPr marL="0" indent="0" algn="ctr">
              <a:buNone/>
            </a:pPr>
            <a:r>
              <a:rPr lang="en-US" sz="1950" dirty="0">
                <a:solidFill>
                  <a:srgbClr val="352B26"/>
                </a:solidFill>
                <a:latin typeface="Georgia" pitchFamily="34" charset="0"/>
                <a:ea typeface="Georgia" pitchFamily="34" charset="-122"/>
                <a:cs typeface="Georgia" pitchFamily="34" charset="-120"/>
              </a:rPr>
              <a:t>Igraonica</a:t>
            </a:r>
            <a:endParaRPr lang="en-US" sz="1950" dirty="0"/>
          </a:p>
        </p:txBody>
      </p:sp>
      <p:sp>
        <p:nvSpPr>
          <p:cNvPr id="17" name="Text 15"/>
          <p:cNvSpPr/>
          <p:nvPr/>
        </p:nvSpPr>
        <p:spPr>
          <a:xfrm>
            <a:off x="3749040" y="3383280"/>
            <a:ext cx="1810512" cy="603504"/>
          </a:xfrm>
          <a:prstGeom prst="rect">
            <a:avLst/>
          </a:prstGeom>
          <a:noFill/>
          <a:ln/>
        </p:spPr>
        <p:txBody>
          <a:bodyPr wrap="square" lIns="0" tIns="0" rIns="0" bIns="0" rtlCol="0" anchor="t">
            <a:normAutofit/>
          </a:bodyPr>
          <a:lstStyle/>
          <a:p>
            <a:pPr marL="0" indent="0" algn="ctr">
              <a:buNone/>
            </a:pPr>
            <a:r>
              <a:rPr lang="en-US" sz="1400" dirty="0">
                <a:solidFill>
                  <a:srgbClr val="786B62"/>
                </a:solidFill>
                <a:latin typeface="Aptos" pitchFamily="34" charset="0"/>
                <a:ea typeface="Aptos" pitchFamily="34" charset="-122"/>
                <a:cs typeface="Aptos" pitchFamily="34" charset="-120"/>
              </a:rPr>
              <a:t>11.250 profila</a:t>
            </a:r>
            <a:endParaRPr lang="en-US" sz="1400" dirty="0"/>
          </a:p>
        </p:txBody>
      </p:sp>
      <p:sp>
        <p:nvSpPr>
          <p:cNvPr id="18" name="Shape 16"/>
          <p:cNvSpPr/>
          <p:nvPr/>
        </p:nvSpPr>
        <p:spPr>
          <a:xfrm>
            <a:off x="6163056" y="1755648"/>
            <a:ext cx="2395728" cy="2624328"/>
          </a:xfrm>
          <a:prstGeom prst="roundRect">
            <a:avLst/>
          </a:prstGeom>
          <a:solidFill>
            <a:srgbClr val="FFFDFC"/>
          </a:solidFill>
          <a:ln w="12700">
            <a:solidFill>
              <a:srgbClr val="DED2C5"/>
            </a:solidFill>
            <a:prstDash val="solid"/>
          </a:ln>
        </p:spPr>
        <p:txBody>
          <a:bodyPr/>
          <a:lstStyle/>
          <a:p>
            <a:endParaRPr lang="en-US"/>
          </a:p>
        </p:txBody>
      </p:sp>
      <p:sp>
        <p:nvSpPr>
          <p:cNvPr id="19" name="Shape 17"/>
          <p:cNvSpPr/>
          <p:nvPr/>
        </p:nvSpPr>
        <p:spPr>
          <a:xfrm>
            <a:off x="7141464" y="2103120"/>
            <a:ext cx="438912" cy="438912"/>
          </a:xfrm>
          <a:prstGeom prst="ellipse">
            <a:avLst/>
          </a:prstGeom>
          <a:solidFill>
            <a:srgbClr val="8066B5"/>
          </a:solidFill>
          <a:ln w="12700">
            <a:solidFill>
              <a:srgbClr val="8066B5"/>
            </a:solidFill>
            <a:prstDash val="solid"/>
          </a:ln>
        </p:spPr>
        <p:txBody>
          <a:bodyPr/>
          <a:lstStyle/>
          <a:p>
            <a:endParaRPr lang="en-US"/>
          </a:p>
        </p:txBody>
      </p:sp>
      <p:sp>
        <p:nvSpPr>
          <p:cNvPr id="20" name="Text 18"/>
          <p:cNvSpPr/>
          <p:nvPr/>
        </p:nvSpPr>
        <p:spPr>
          <a:xfrm>
            <a:off x="7141464" y="2144268"/>
            <a:ext cx="438912" cy="292608"/>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3</a:t>
            </a:r>
            <a:endParaRPr lang="en-US" sz="1200" dirty="0"/>
          </a:p>
        </p:txBody>
      </p:sp>
      <p:sp>
        <p:nvSpPr>
          <p:cNvPr id="21" name="Text 19"/>
          <p:cNvSpPr/>
          <p:nvPr/>
        </p:nvSpPr>
        <p:spPr>
          <a:xfrm>
            <a:off x="6391656" y="2834640"/>
            <a:ext cx="1938528" cy="347472"/>
          </a:xfrm>
          <a:prstGeom prst="rect">
            <a:avLst/>
          </a:prstGeom>
          <a:noFill/>
          <a:ln/>
        </p:spPr>
        <p:txBody>
          <a:bodyPr wrap="square" lIns="0" tIns="0" rIns="0" bIns="0" rtlCol="0" anchor="ctr">
            <a:normAutofit/>
          </a:bodyPr>
          <a:lstStyle/>
          <a:p>
            <a:pPr marL="0" indent="0" algn="ctr">
              <a:buNone/>
            </a:pPr>
            <a:r>
              <a:rPr lang="en-US" sz="1950" dirty="0">
                <a:solidFill>
                  <a:srgbClr val="352B26"/>
                </a:solidFill>
                <a:latin typeface="Georgia" pitchFamily="34" charset="0"/>
                <a:ea typeface="Georgia" pitchFamily="34" charset="-122"/>
                <a:cs typeface="Georgia" pitchFamily="34" charset="-120"/>
              </a:rPr>
              <a:t>AI sloj</a:t>
            </a:r>
            <a:endParaRPr lang="en-US" sz="1950" dirty="0"/>
          </a:p>
        </p:txBody>
      </p:sp>
      <p:sp>
        <p:nvSpPr>
          <p:cNvPr id="22" name="Text 20"/>
          <p:cNvSpPr/>
          <p:nvPr/>
        </p:nvSpPr>
        <p:spPr>
          <a:xfrm>
            <a:off x="6455664" y="3383280"/>
            <a:ext cx="1810512" cy="603504"/>
          </a:xfrm>
          <a:prstGeom prst="rect">
            <a:avLst/>
          </a:prstGeom>
          <a:noFill/>
          <a:ln/>
        </p:spPr>
        <p:txBody>
          <a:bodyPr wrap="square" lIns="0" tIns="0" rIns="0" bIns="0" rtlCol="0" anchor="t">
            <a:normAutofit/>
          </a:bodyPr>
          <a:lstStyle/>
          <a:p>
            <a:pPr marL="0" indent="0" algn="ctr">
              <a:buNone/>
            </a:pPr>
            <a:r>
              <a:rPr lang="en-US" sz="1400" dirty="0">
                <a:solidFill>
                  <a:srgbClr val="786B62"/>
                </a:solidFill>
                <a:latin typeface="Aptos" pitchFamily="34" charset="0"/>
                <a:ea typeface="Aptos" pitchFamily="34" charset="-122"/>
                <a:cs typeface="Aptos" pitchFamily="34" charset="-120"/>
              </a:rPr>
              <a:t>430 poziva</a:t>
            </a:r>
            <a:endParaRPr lang="en-US" sz="1400" dirty="0"/>
          </a:p>
        </p:txBody>
      </p:sp>
      <p:sp>
        <p:nvSpPr>
          <p:cNvPr id="23" name="Shape 21"/>
          <p:cNvSpPr/>
          <p:nvPr/>
        </p:nvSpPr>
        <p:spPr>
          <a:xfrm>
            <a:off x="8869680" y="1755648"/>
            <a:ext cx="2395728" cy="2624328"/>
          </a:xfrm>
          <a:prstGeom prst="roundRect">
            <a:avLst/>
          </a:prstGeom>
          <a:solidFill>
            <a:srgbClr val="FFFDFC"/>
          </a:solidFill>
          <a:ln w="12700">
            <a:solidFill>
              <a:srgbClr val="DED2C5"/>
            </a:solidFill>
            <a:prstDash val="solid"/>
          </a:ln>
        </p:spPr>
        <p:txBody>
          <a:bodyPr/>
          <a:lstStyle/>
          <a:p>
            <a:endParaRPr lang="en-US"/>
          </a:p>
        </p:txBody>
      </p:sp>
      <p:sp>
        <p:nvSpPr>
          <p:cNvPr id="24" name="Shape 22"/>
          <p:cNvSpPr/>
          <p:nvPr/>
        </p:nvSpPr>
        <p:spPr>
          <a:xfrm>
            <a:off x="9848088" y="2103120"/>
            <a:ext cx="438912" cy="438912"/>
          </a:xfrm>
          <a:prstGeom prst="ellipse">
            <a:avLst/>
          </a:prstGeom>
          <a:solidFill>
            <a:srgbClr val="328C8B"/>
          </a:solidFill>
          <a:ln w="12700">
            <a:solidFill>
              <a:srgbClr val="328C8B"/>
            </a:solidFill>
            <a:prstDash val="solid"/>
          </a:ln>
        </p:spPr>
        <p:txBody>
          <a:bodyPr/>
          <a:lstStyle/>
          <a:p>
            <a:endParaRPr lang="en-US"/>
          </a:p>
        </p:txBody>
      </p:sp>
      <p:sp>
        <p:nvSpPr>
          <p:cNvPr id="25" name="Text 23"/>
          <p:cNvSpPr/>
          <p:nvPr/>
        </p:nvSpPr>
        <p:spPr>
          <a:xfrm>
            <a:off x="9848088" y="2144268"/>
            <a:ext cx="438912" cy="292608"/>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4</a:t>
            </a:r>
            <a:endParaRPr lang="en-US" sz="1200" dirty="0"/>
          </a:p>
        </p:txBody>
      </p:sp>
      <p:sp>
        <p:nvSpPr>
          <p:cNvPr id="26" name="Text 24"/>
          <p:cNvSpPr/>
          <p:nvPr/>
        </p:nvSpPr>
        <p:spPr>
          <a:xfrm>
            <a:off x="9098280" y="2834640"/>
            <a:ext cx="1938528" cy="347472"/>
          </a:xfrm>
          <a:prstGeom prst="rect">
            <a:avLst/>
          </a:prstGeom>
          <a:noFill/>
          <a:ln/>
        </p:spPr>
        <p:txBody>
          <a:bodyPr wrap="square" lIns="0" tIns="0" rIns="0" bIns="0" rtlCol="0" anchor="ctr">
            <a:normAutofit/>
          </a:bodyPr>
          <a:lstStyle/>
          <a:p>
            <a:pPr marL="0" indent="0" algn="ctr">
              <a:buNone/>
            </a:pPr>
            <a:r>
              <a:rPr lang="en-US" sz="1950" dirty="0">
                <a:solidFill>
                  <a:srgbClr val="352B26"/>
                </a:solidFill>
                <a:latin typeface="Georgia" pitchFamily="34" charset="0"/>
                <a:ea typeface="Georgia" pitchFamily="34" charset="-122"/>
                <a:cs typeface="Georgia" pitchFamily="34" charset="-120"/>
              </a:rPr>
              <a:t>Interfejs</a:t>
            </a:r>
            <a:endParaRPr lang="en-US" sz="1950" dirty="0"/>
          </a:p>
        </p:txBody>
      </p:sp>
      <p:sp>
        <p:nvSpPr>
          <p:cNvPr id="27" name="Text 25"/>
          <p:cNvSpPr/>
          <p:nvPr/>
        </p:nvSpPr>
        <p:spPr>
          <a:xfrm>
            <a:off x="9162288" y="3383280"/>
            <a:ext cx="1810512" cy="603504"/>
          </a:xfrm>
          <a:prstGeom prst="rect">
            <a:avLst/>
          </a:prstGeom>
          <a:noFill/>
          <a:ln/>
        </p:spPr>
        <p:txBody>
          <a:bodyPr wrap="square" lIns="0" tIns="0" rIns="0" bIns="0" rtlCol="0" anchor="t">
            <a:normAutofit/>
          </a:bodyPr>
          <a:lstStyle/>
          <a:p>
            <a:pPr marL="0" indent="0" algn="ctr">
              <a:buNone/>
            </a:pPr>
            <a:r>
              <a:rPr lang="en-US" sz="1400" dirty="0">
                <a:solidFill>
                  <a:srgbClr val="786B62"/>
                </a:solidFill>
                <a:latin typeface="Aptos" pitchFamily="34" charset="0"/>
                <a:ea typeface="Aptos" pitchFamily="34" charset="-122"/>
                <a:cs typeface="Aptos" pitchFamily="34" charset="-120"/>
              </a:rPr>
              <a:t>10 heuristika</a:t>
            </a:r>
            <a:endParaRPr lang="en-US" sz="1400" dirty="0"/>
          </a:p>
        </p:txBody>
      </p:sp>
      <p:sp>
        <p:nvSpPr>
          <p:cNvPr id="28" name="Shape 26"/>
          <p:cNvSpPr/>
          <p:nvPr/>
        </p:nvSpPr>
        <p:spPr>
          <a:xfrm>
            <a:off x="1216152" y="4800600"/>
            <a:ext cx="9573768" cy="859536"/>
          </a:xfrm>
          <a:prstGeom prst="roundRect">
            <a:avLst/>
          </a:prstGeom>
          <a:solidFill>
            <a:srgbClr val="EEE5DA"/>
          </a:solidFill>
          <a:ln w="12700">
            <a:solidFill>
              <a:srgbClr val="EEE5DA"/>
            </a:solidFill>
            <a:prstDash val="solid"/>
          </a:ln>
        </p:spPr>
        <p:txBody>
          <a:bodyPr/>
          <a:lstStyle/>
          <a:p>
            <a:endParaRPr lang="en-US"/>
          </a:p>
        </p:txBody>
      </p:sp>
      <p:sp>
        <p:nvSpPr>
          <p:cNvPr id="29" name="Text 27"/>
          <p:cNvSpPr/>
          <p:nvPr/>
        </p:nvSpPr>
        <p:spPr>
          <a:xfrm>
            <a:off x="1554480" y="5010912"/>
            <a:ext cx="8897112" cy="201168"/>
          </a:xfrm>
          <a:prstGeom prst="rect">
            <a:avLst/>
          </a:prstGeom>
          <a:noFill/>
          <a:ln/>
        </p:spPr>
        <p:txBody>
          <a:bodyPr wrap="square" lIns="0" tIns="0" rIns="0" bIns="0" rtlCol="0" anchor="ctr">
            <a:normAutofit/>
          </a:bodyPr>
          <a:lstStyle/>
          <a:p>
            <a:pPr marL="0" indent="0" algn="ctr">
              <a:buNone/>
            </a:pPr>
            <a:r>
              <a:rPr lang="en-US" sz="1050" b="1" kern="0" spc="100" dirty="0">
                <a:solidFill>
                  <a:srgbClr val="8B5E50"/>
                </a:solidFill>
                <a:latin typeface="Aptos" pitchFamily="34" charset="0"/>
                <a:ea typeface="Aptos" pitchFamily="34" charset="-122"/>
                <a:cs typeface="Aptos" pitchFamily="34" charset="-120"/>
              </a:rPr>
              <a:t>JEDAN SISTEM · ČETIRI VRSTE DOKAZA</a:t>
            </a:r>
            <a:endParaRPr lang="en-US" sz="1050" dirty="0"/>
          </a:p>
        </p:txBody>
      </p:sp>
      <p:sp>
        <p:nvSpPr>
          <p:cNvPr id="30" name="Text 28"/>
          <p:cNvSpPr/>
          <p:nvPr/>
        </p:nvSpPr>
        <p:spPr>
          <a:xfrm>
            <a:off x="1554480" y="5303520"/>
            <a:ext cx="8897112" cy="228600"/>
          </a:xfrm>
          <a:prstGeom prst="rect">
            <a:avLst/>
          </a:prstGeom>
          <a:noFill/>
          <a:ln/>
        </p:spPr>
        <p:txBody>
          <a:bodyPr wrap="square" lIns="0" tIns="0" rIns="0" bIns="0" rtlCol="0" anchor="ctr">
            <a:normAutofit/>
          </a:bodyPr>
          <a:lstStyle/>
          <a:p>
            <a:pPr marL="0" indent="0" algn="ctr">
              <a:buNone/>
            </a:pPr>
            <a:r>
              <a:rPr lang="en-US" sz="1650" dirty="0">
                <a:solidFill>
                  <a:srgbClr val="6E473B"/>
                </a:solidFill>
                <a:latin typeface="Georgia" pitchFamily="34" charset="0"/>
                <a:ea typeface="Georgia" pitchFamily="34" charset="-122"/>
                <a:cs typeface="Georgia" pitchFamily="34" charset="-120"/>
              </a:rPr>
              <a:t>ponašanje · bodovanje · AI pouzdanost · upotrebljivost</a:t>
            </a:r>
            <a:endParaRPr lang="en-US" sz="16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3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
          </a:xfrm>
          <a:prstGeom prst="rect">
            <a:avLst/>
          </a:prstGeom>
          <a:solidFill>
            <a:srgbClr val="8B5E50"/>
          </a:solidFill>
          <a:ln w="12700">
            <a:solidFill>
              <a:srgbClr val="8B5E50"/>
            </a:solidFill>
            <a:prstDash val="solid"/>
          </a:ln>
        </p:spPr>
        <p:txBody>
          <a:bodyPr/>
          <a:lstStyle/>
          <a:p>
            <a:endParaRPr lang="en-US"/>
          </a:p>
        </p:txBody>
      </p:sp>
      <p:sp>
        <p:nvSpPr>
          <p:cNvPr id="3" name="Text 1"/>
          <p:cNvSpPr/>
          <p:nvPr/>
        </p:nvSpPr>
        <p:spPr>
          <a:xfrm>
            <a:off x="658368" y="274320"/>
            <a:ext cx="6858000" cy="182880"/>
          </a:xfrm>
          <a:prstGeom prst="rect">
            <a:avLst/>
          </a:prstGeom>
          <a:noFill/>
          <a:ln/>
        </p:spPr>
        <p:txBody>
          <a:bodyPr wrap="square" lIns="0" tIns="0" rIns="0" bIns="0" rtlCol="0" anchor="ctr">
            <a:normAutofit/>
          </a:bodyPr>
          <a:lstStyle/>
          <a:p>
            <a:pPr marL="0" indent="0">
              <a:buNone/>
            </a:pPr>
            <a:r>
              <a:rPr lang="en-US" sz="1000" b="1" kern="0" spc="120" dirty="0">
                <a:solidFill>
                  <a:srgbClr val="8B5E50"/>
                </a:solidFill>
                <a:latin typeface="Aptos" pitchFamily="34" charset="0"/>
                <a:ea typeface="Aptos" pitchFamily="34" charset="-122"/>
                <a:cs typeface="Aptos" pitchFamily="34" charset="-120"/>
              </a:rPr>
              <a:t>NIELSENOVA EVALUACIJA</a:t>
            </a:r>
            <a:endParaRPr lang="en-US" sz="1000" dirty="0"/>
          </a:p>
        </p:txBody>
      </p:sp>
      <p:sp>
        <p:nvSpPr>
          <p:cNvPr id="4" name="Shape 2"/>
          <p:cNvSpPr/>
          <p:nvPr/>
        </p:nvSpPr>
        <p:spPr>
          <a:xfrm>
            <a:off x="658368" y="6428232"/>
            <a:ext cx="10881360" cy="0"/>
          </a:xfrm>
          <a:prstGeom prst="line">
            <a:avLst/>
          </a:prstGeom>
          <a:noFill/>
          <a:ln w="10160">
            <a:solidFill>
              <a:srgbClr val="DED2C5"/>
            </a:solidFill>
            <a:prstDash val="solid"/>
          </a:ln>
        </p:spPr>
        <p:txBody>
          <a:bodyPr/>
          <a:lstStyle/>
          <a:p>
            <a:endParaRPr lang="en-US"/>
          </a:p>
        </p:txBody>
      </p:sp>
      <p:sp>
        <p:nvSpPr>
          <p:cNvPr id="5" name="Text 3"/>
          <p:cNvSpPr/>
          <p:nvPr/>
        </p:nvSpPr>
        <p:spPr>
          <a:xfrm>
            <a:off x="11045952" y="6492240"/>
            <a:ext cx="493776" cy="146304"/>
          </a:xfrm>
          <a:prstGeom prst="rect">
            <a:avLst/>
          </a:prstGeom>
          <a:noFill/>
          <a:ln/>
        </p:spPr>
        <p:txBody>
          <a:bodyPr wrap="square" lIns="0" tIns="0" rIns="0" bIns="0" rtlCol="0" anchor="ctr">
            <a:normAutofit/>
          </a:bodyPr>
          <a:lstStyle/>
          <a:p>
            <a:pPr marL="0" indent="0" algn="r">
              <a:buNone/>
            </a:pPr>
            <a:r>
              <a:rPr lang="en-US" sz="850" b="1" dirty="0">
                <a:solidFill>
                  <a:srgbClr val="786B62"/>
                </a:solidFill>
                <a:latin typeface="Aptos" pitchFamily="34" charset="0"/>
                <a:ea typeface="Aptos" pitchFamily="34" charset="-122"/>
                <a:cs typeface="Aptos" pitchFamily="34" charset="-120"/>
              </a:rPr>
              <a:t>14</a:t>
            </a:r>
            <a:endParaRPr lang="en-US" sz="850" dirty="0"/>
          </a:p>
        </p:txBody>
      </p:sp>
      <p:sp>
        <p:nvSpPr>
          <p:cNvPr id="6" name="Text 4"/>
          <p:cNvSpPr/>
          <p:nvPr/>
        </p:nvSpPr>
        <p:spPr>
          <a:xfrm>
            <a:off x="658368" y="694944"/>
            <a:ext cx="10789920" cy="658368"/>
          </a:xfrm>
          <a:prstGeom prst="rect">
            <a:avLst/>
          </a:prstGeom>
          <a:noFill/>
          <a:ln/>
        </p:spPr>
        <p:txBody>
          <a:bodyPr wrap="square" lIns="0" tIns="0" rIns="0" bIns="0" rtlCol="0" anchor="t">
            <a:normAutofit/>
          </a:bodyPr>
          <a:lstStyle/>
          <a:p>
            <a:pPr marL="0" indent="0">
              <a:buNone/>
            </a:pPr>
            <a:r>
              <a:rPr lang="en-US" sz="2700" dirty="0">
                <a:solidFill>
                  <a:srgbClr val="352B26"/>
                </a:solidFill>
                <a:latin typeface="Georgia" pitchFamily="34" charset="0"/>
                <a:ea typeface="Georgia" pitchFamily="34" charset="-122"/>
                <a:cs typeface="Georgia" pitchFamily="34" charset="-120"/>
              </a:rPr>
              <a:t>Deset heuristika, deset konkretnih odgovora interfejsa.</a:t>
            </a:r>
            <a:endParaRPr lang="en-US" sz="2700" dirty="0"/>
          </a:p>
        </p:txBody>
      </p:sp>
      <p:sp>
        <p:nvSpPr>
          <p:cNvPr id="7" name="Text 5"/>
          <p:cNvSpPr/>
          <p:nvPr/>
        </p:nvSpPr>
        <p:spPr>
          <a:xfrm>
            <a:off x="676656" y="1316736"/>
            <a:ext cx="9601200" cy="310896"/>
          </a:xfrm>
          <a:prstGeom prst="rect">
            <a:avLst/>
          </a:prstGeom>
          <a:noFill/>
          <a:ln/>
        </p:spPr>
        <p:txBody>
          <a:bodyPr wrap="square" lIns="0" tIns="0" rIns="0" bIns="0" rtlCol="0" anchor="ctr">
            <a:normAutofit/>
          </a:bodyPr>
          <a:lstStyle/>
          <a:p>
            <a:pPr marL="0" indent="0">
              <a:buNone/>
            </a:pPr>
            <a:r>
              <a:rPr lang="en-US" sz="1600" dirty="0">
                <a:solidFill>
                  <a:srgbClr val="786B62"/>
                </a:solidFill>
                <a:latin typeface="Aptos" pitchFamily="34" charset="0"/>
                <a:ea typeface="Aptos" pitchFamily="34" charset="-122"/>
                <a:cs typeface="Aptos" pitchFamily="34" charset="-120"/>
              </a:rPr>
              <a:t>Svaki princip je mapiran na proverljiv element aplikacije.</a:t>
            </a:r>
            <a:endParaRPr lang="en-US" sz="1600" dirty="0"/>
          </a:p>
        </p:txBody>
      </p:sp>
      <p:sp>
        <p:nvSpPr>
          <p:cNvPr id="8" name="Shape 6"/>
          <p:cNvSpPr/>
          <p:nvPr/>
        </p:nvSpPr>
        <p:spPr>
          <a:xfrm>
            <a:off x="658368" y="1773936"/>
            <a:ext cx="5367528" cy="713232"/>
          </a:xfrm>
          <a:prstGeom prst="roundRect">
            <a:avLst/>
          </a:prstGeom>
          <a:solidFill>
            <a:srgbClr val="FFFDFC"/>
          </a:solidFill>
          <a:ln w="12700">
            <a:solidFill>
              <a:srgbClr val="DED2C5"/>
            </a:solidFill>
            <a:prstDash val="solid"/>
          </a:ln>
        </p:spPr>
        <p:txBody>
          <a:bodyPr/>
          <a:lstStyle/>
          <a:p>
            <a:endParaRPr lang="en-US"/>
          </a:p>
        </p:txBody>
      </p:sp>
      <p:sp>
        <p:nvSpPr>
          <p:cNvPr id="9" name="Shape 7"/>
          <p:cNvSpPr/>
          <p:nvPr/>
        </p:nvSpPr>
        <p:spPr>
          <a:xfrm>
            <a:off x="658368" y="1773936"/>
            <a:ext cx="64008" cy="713232"/>
          </a:xfrm>
          <a:prstGeom prst="rect">
            <a:avLst/>
          </a:prstGeom>
          <a:solidFill>
            <a:srgbClr val="4B91B8"/>
          </a:solidFill>
          <a:ln w="12700">
            <a:solidFill>
              <a:srgbClr val="4B91B8"/>
            </a:solidFill>
            <a:prstDash val="solid"/>
          </a:ln>
        </p:spPr>
        <p:txBody>
          <a:bodyPr/>
          <a:lstStyle/>
          <a:p>
            <a:endParaRPr lang="en-US"/>
          </a:p>
        </p:txBody>
      </p:sp>
      <p:sp>
        <p:nvSpPr>
          <p:cNvPr id="10" name="Shape 8"/>
          <p:cNvSpPr/>
          <p:nvPr/>
        </p:nvSpPr>
        <p:spPr>
          <a:xfrm>
            <a:off x="859536" y="1920240"/>
            <a:ext cx="411480" cy="411480"/>
          </a:xfrm>
          <a:prstGeom prst="ellipse">
            <a:avLst/>
          </a:prstGeom>
          <a:solidFill>
            <a:srgbClr val="4B91B8"/>
          </a:solidFill>
          <a:ln w="12700">
            <a:solidFill>
              <a:srgbClr val="4B91B8"/>
            </a:solidFill>
            <a:prstDash val="solid"/>
          </a:ln>
        </p:spPr>
        <p:txBody>
          <a:bodyPr/>
          <a:lstStyle/>
          <a:p>
            <a:endParaRPr lang="en-US"/>
          </a:p>
        </p:txBody>
      </p:sp>
      <p:sp>
        <p:nvSpPr>
          <p:cNvPr id="11" name="Text 9"/>
          <p:cNvSpPr/>
          <p:nvPr/>
        </p:nvSpPr>
        <p:spPr>
          <a:xfrm>
            <a:off x="859536" y="2011680"/>
            <a:ext cx="411480" cy="192024"/>
          </a:xfrm>
          <a:prstGeom prst="rect">
            <a:avLst/>
          </a:prstGeom>
          <a:noFill/>
          <a:ln/>
        </p:spPr>
        <p:txBody>
          <a:bodyPr wrap="square" lIns="0" tIns="0" rIns="0" bIns="0" rtlCol="0" anchor="ctr">
            <a:normAutofit/>
          </a:bodyPr>
          <a:lstStyle/>
          <a:p>
            <a:pPr marL="0" indent="0" algn="ctr">
              <a:buNone/>
            </a:pPr>
            <a:r>
              <a:rPr lang="en-US" sz="1000" b="1" dirty="0">
                <a:solidFill>
                  <a:srgbClr val="FFFFFF"/>
                </a:solidFill>
                <a:latin typeface="Aptos" pitchFamily="34" charset="0"/>
                <a:ea typeface="Aptos" pitchFamily="34" charset="-122"/>
                <a:cs typeface="Aptos" pitchFamily="34" charset="-120"/>
              </a:rPr>
              <a:t>1</a:t>
            </a:r>
            <a:endParaRPr lang="en-US" sz="1000" dirty="0"/>
          </a:p>
        </p:txBody>
      </p:sp>
      <p:sp>
        <p:nvSpPr>
          <p:cNvPr id="12" name="Text 10"/>
          <p:cNvSpPr/>
          <p:nvPr/>
        </p:nvSpPr>
        <p:spPr>
          <a:xfrm>
            <a:off x="1444752" y="1883664"/>
            <a:ext cx="4187952" cy="219456"/>
          </a:xfrm>
          <a:prstGeom prst="rect">
            <a:avLst/>
          </a:prstGeom>
          <a:noFill/>
          <a:ln/>
        </p:spPr>
        <p:txBody>
          <a:bodyPr wrap="square" lIns="0" tIns="0" rIns="0" bIns="0" rtlCol="0" anchor="ctr">
            <a:normAutofit/>
          </a:bodyPr>
          <a:lstStyle/>
          <a:p>
            <a:pPr marL="0" indent="0">
              <a:buNone/>
            </a:pPr>
            <a:r>
              <a:rPr lang="en-US" sz="1180" b="1" dirty="0">
                <a:solidFill>
                  <a:srgbClr val="4B91B8"/>
                </a:solidFill>
                <a:latin typeface="Aptos" pitchFamily="34" charset="0"/>
                <a:ea typeface="Aptos" pitchFamily="34" charset="-122"/>
                <a:cs typeface="Aptos" pitchFamily="34" charset="-120"/>
              </a:rPr>
              <a:t>Vidljivost statusa sistema</a:t>
            </a:r>
            <a:endParaRPr lang="en-US" sz="1180" dirty="0"/>
          </a:p>
        </p:txBody>
      </p:sp>
      <p:sp>
        <p:nvSpPr>
          <p:cNvPr id="13" name="Text 11"/>
          <p:cNvSpPr/>
          <p:nvPr/>
        </p:nvSpPr>
        <p:spPr>
          <a:xfrm>
            <a:off x="1444752" y="2167128"/>
            <a:ext cx="4187952" cy="182880"/>
          </a:xfrm>
          <a:prstGeom prst="rect">
            <a:avLst/>
          </a:prstGeom>
          <a:noFill/>
          <a:ln/>
        </p:spPr>
        <p:txBody>
          <a:bodyPr wrap="square" lIns="0" tIns="0" rIns="0" bIns="0" rtlCol="0" anchor="ctr">
            <a:normAutofit/>
          </a:bodyPr>
          <a:lstStyle/>
          <a:p>
            <a:pPr marL="0" indent="0">
              <a:buNone/>
            </a:pPr>
            <a:r>
              <a:rPr lang="en-US" sz="1050" dirty="0">
                <a:solidFill>
                  <a:srgbClr val="786B62"/>
                </a:solidFill>
                <a:latin typeface="Aptos" pitchFamily="34" charset="0"/>
                <a:ea typeface="Aptos" pitchFamily="34" charset="-122"/>
                <a:cs typeface="Aptos" pitchFamily="34" charset="-120"/>
              </a:rPr>
              <a:t>stanje, korak i metrike uživo</a:t>
            </a:r>
            <a:endParaRPr lang="en-US" sz="1050" dirty="0"/>
          </a:p>
        </p:txBody>
      </p:sp>
      <p:sp>
        <p:nvSpPr>
          <p:cNvPr id="14" name="Shape 12"/>
          <p:cNvSpPr/>
          <p:nvPr/>
        </p:nvSpPr>
        <p:spPr>
          <a:xfrm>
            <a:off x="6163056" y="1773936"/>
            <a:ext cx="5367528" cy="713232"/>
          </a:xfrm>
          <a:prstGeom prst="roundRect">
            <a:avLst/>
          </a:prstGeom>
          <a:solidFill>
            <a:srgbClr val="FFFDFC"/>
          </a:solidFill>
          <a:ln w="12700">
            <a:solidFill>
              <a:srgbClr val="DED2C5"/>
            </a:solidFill>
            <a:prstDash val="solid"/>
          </a:ln>
        </p:spPr>
        <p:txBody>
          <a:bodyPr/>
          <a:lstStyle/>
          <a:p>
            <a:endParaRPr lang="en-US"/>
          </a:p>
        </p:txBody>
      </p:sp>
      <p:sp>
        <p:nvSpPr>
          <p:cNvPr id="15" name="Shape 13"/>
          <p:cNvSpPr/>
          <p:nvPr/>
        </p:nvSpPr>
        <p:spPr>
          <a:xfrm>
            <a:off x="6163056" y="1773936"/>
            <a:ext cx="64008" cy="713232"/>
          </a:xfrm>
          <a:prstGeom prst="rect">
            <a:avLst/>
          </a:prstGeom>
          <a:solidFill>
            <a:srgbClr val="4B91B8"/>
          </a:solidFill>
          <a:ln w="12700">
            <a:solidFill>
              <a:srgbClr val="4B91B8"/>
            </a:solidFill>
            <a:prstDash val="solid"/>
          </a:ln>
        </p:spPr>
        <p:txBody>
          <a:bodyPr/>
          <a:lstStyle/>
          <a:p>
            <a:endParaRPr lang="en-US"/>
          </a:p>
        </p:txBody>
      </p:sp>
      <p:sp>
        <p:nvSpPr>
          <p:cNvPr id="16" name="Shape 14"/>
          <p:cNvSpPr/>
          <p:nvPr/>
        </p:nvSpPr>
        <p:spPr>
          <a:xfrm>
            <a:off x="6364224" y="1920240"/>
            <a:ext cx="411480" cy="411480"/>
          </a:xfrm>
          <a:prstGeom prst="ellipse">
            <a:avLst/>
          </a:prstGeom>
          <a:solidFill>
            <a:srgbClr val="4B91B8"/>
          </a:solidFill>
          <a:ln w="12700">
            <a:solidFill>
              <a:srgbClr val="4B91B8"/>
            </a:solidFill>
            <a:prstDash val="solid"/>
          </a:ln>
        </p:spPr>
        <p:txBody>
          <a:bodyPr/>
          <a:lstStyle/>
          <a:p>
            <a:endParaRPr lang="en-US"/>
          </a:p>
        </p:txBody>
      </p:sp>
      <p:sp>
        <p:nvSpPr>
          <p:cNvPr id="17" name="Text 15"/>
          <p:cNvSpPr/>
          <p:nvPr/>
        </p:nvSpPr>
        <p:spPr>
          <a:xfrm>
            <a:off x="6364224" y="2011680"/>
            <a:ext cx="411480" cy="192024"/>
          </a:xfrm>
          <a:prstGeom prst="rect">
            <a:avLst/>
          </a:prstGeom>
          <a:noFill/>
          <a:ln/>
        </p:spPr>
        <p:txBody>
          <a:bodyPr wrap="square" lIns="0" tIns="0" rIns="0" bIns="0" rtlCol="0" anchor="ctr">
            <a:normAutofit/>
          </a:bodyPr>
          <a:lstStyle/>
          <a:p>
            <a:pPr marL="0" indent="0" algn="ctr">
              <a:buNone/>
            </a:pPr>
            <a:r>
              <a:rPr lang="en-US" sz="1000" b="1" dirty="0">
                <a:solidFill>
                  <a:srgbClr val="FFFFFF"/>
                </a:solidFill>
                <a:latin typeface="Aptos" pitchFamily="34" charset="0"/>
                <a:ea typeface="Aptos" pitchFamily="34" charset="-122"/>
                <a:cs typeface="Aptos" pitchFamily="34" charset="-120"/>
              </a:rPr>
              <a:t>6</a:t>
            </a:r>
            <a:endParaRPr lang="en-US" sz="1000" dirty="0"/>
          </a:p>
        </p:txBody>
      </p:sp>
      <p:sp>
        <p:nvSpPr>
          <p:cNvPr id="18" name="Text 16"/>
          <p:cNvSpPr/>
          <p:nvPr/>
        </p:nvSpPr>
        <p:spPr>
          <a:xfrm>
            <a:off x="6949440" y="1883664"/>
            <a:ext cx="4187952" cy="219456"/>
          </a:xfrm>
          <a:prstGeom prst="rect">
            <a:avLst/>
          </a:prstGeom>
          <a:noFill/>
          <a:ln/>
        </p:spPr>
        <p:txBody>
          <a:bodyPr wrap="square" lIns="0" tIns="0" rIns="0" bIns="0" rtlCol="0" anchor="ctr">
            <a:normAutofit/>
          </a:bodyPr>
          <a:lstStyle/>
          <a:p>
            <a:pPr marL="0" indent="0">
              <a:buNone/>
            </a:pPr>
            <a:r>
              <a:rPr lang="en-US" sz="1180" b="1" dirty="0">
                <a:solidFill>
                  <a:srgbClr val="4B91B8"/>
                </a:solidFill>
                <a:latin typeface="Aptos" pitchFamily="34" charset="0"/>
                <a:ea typeface="Aptos" pitchFamily="34" charset="-122"/>
                <a:cs typeface="Aptos" pitchFamily="34" charset="-120"/>
              </a:rPr>
              <a:t>Prepoznavanje umesto prisećanja</a:t>
            </a:r>
            <a:endParaRPr lang="en-US" sz="1180" dirty="0"/>
          </a:p>
        </p:txBody>
      </p:sp>
      <p:sp>
        <p:nvSpPr>
          <p:cNvPr id="19" name="Text 17"/>
          <p:cNvSpPr/>
          <p:nvPr/>
        </p:nvSpPr>
        <p:spPr>
          <a:xfrm>
            <a:off x="6949440" y="2167128"/>
            <a:ext cx="4187952" cy="182880"/>
          </a:xfrm>
          <a:prstGeom prst="rect">
            <a:avLst/>
          </a:prstGeom>
          <a:noFill/>
          <a:ln/>
        </p:spPr>
        <p:txBody>
          <a:bodyPr wrap="square" lIns="0" tIns="0" rIns="0" bIns="0" rtlCol="0" anchor="ctr">
            <a:normAutofit/>
          </a:bodyPr>
          <a:lstStyle/>
          <a:p>
            <a:pPr marL="0" indent="0">
              <a:buNone/>
            </a:pPr>
            <a:r>
              <a:rPr lang="en-US" sz="1050" dirty="0">
                <a:solidFill>
                  <a:srgbClr val="786B62"/>
                </a:solidFill>
                <a:latin typeface="Aptos" pitchFamily="34" charset="0"/>
                <a:ea typeface="Aptos" pitchFamily="34" charset="-122"/>
                <a:cs typeface="Aptos" pitchFamily="34" charset="-120"/>
              </a:rPr>
              <a:t>stalna legenda i vidljive metrike</a:t>
            </a:r>
            <a:endParaRPr lang="en-US" sz="1050" dirty="0"/>
          </a:p>
        </p:txBody>
      </p:sp>
      <p:sp>
        <p:nvSpPr>
          <p:cNvPr id="20" name="Shape 18"/>
          <p:cNvSpPr/>
          <p:nvPr/>
        </p:nvSpPr>
        <p:spPr>
          <a:xfrm>
            <a:off x="658368" y="2660904"/>
            <a:ext cx="5367528" cy="713232"/>
          </a:xfrm>
          <a:prstGeom prst="roundRect">
            <a:avLst/>
          </a:prstGeom>
          <a:solidFill>
            <a:srgbClr val="FFFDFC"/>
          </a:solidFill>
          <a:ln w="12700">
            <a:solidFill>
              <a:srgbClr val="DED2C5"/>
            </a:solidFill>
            <a:prstDash val="solid"/>
          </a:ln>
        </p:spPr>
        <p:txBody>
          <a:bodyPr/>
          <a:lstStyle/>
          <a:p>
            <a:endParaRPr lang="en-US"/>
          </a:p>
        </p:txBody>
      </p:sp>
      <p:sp>
        <p:nvSpPr>
          <p:cNvPr id="21" name="Shape 19"/>
          <p:cNvSpPr/>
          <p:nvPr/>
        </p:nvSpPr>
        <p:spPr>
          <a:xfrm>
            <a:off x="658368" y="2660904"/>
            <a:ext cx="64008" cy="713232"/>
          </a:xfrm>
          <a:prstGeom prst="rect">
            <a:avLst/>
          </a:prstGeom>
          <a:solidFill>
            <a:srgbClr val="328C8B"/>
          </a:solidFill>
          <a:ln w="12700">
            <a:solidFill>
              <a:srgbClr val="328C8B"/>
            </a:solidFill>
            <a:prstDash val="solid"/>
          </a:ln>
        </p:spPr>
        <p:txBody>
          <a:bodyPr/>
          <a:lstStyle/>
          <a:p>
            <a:endParaRPr lang="en-US"/>
          </a:p>
        </p:txBody>
      </p:sp>
      <p:sp>
        <p:nvSpPr>
          <p:cNvPr id="22" name="Shape 20"/>
          <p:cNvSpPr/>
          <p:nvPr/>
        </p:nvSpPr>
        <p:spPr>
          <a:xfrm>
            <a:off x="859536" y="2807208"/>
            <a:ext cx="411480" cy="411480"/>
          </a:xfrm>
          <a:prstGeom prst="ellipse">
            <a:avLst/>
          </a:prstGeom>
          <a:solidFill>
            <a:srgbClr val="328C8B"/>
          </a:solidFill>
          <a:ln w="12700">
            <a:solidFill>
              <a:srgbClr val="328C8B"/>
            </a:solidFill>
            <a:prstDash val="solid"/>
          </a:ln>
        </p:spPr>
        <p:txBody>
          <a:bodyPr/>
          <a:lstStyle/>
          <a:p>
            <a:endParaRPr lang="en-US"/>
          </a:p>
        </p:txBody>
      </p:sp>
      <p:sp>
        <p:nvSpPr>
          <p:cNvPr id="23" name="Text 21"/>
          <p:cNvSpPr/>
          <p:nvPr/>
        </p:nvSpPr>
        <p:spPr>
          <a:xfrm>
            <a:off x="859536" y="2898648"/>
            <a:ext cx="411480" cy="192024"/>
          </a:xfrm>
          <a:prstGeom prst="rect">
            <a:avLst/>
          </a:prstGeom>
          <a:noFill/>
          <a:ln/>
        </p:spPr>
        <p:txBody>
          <a:bodyPr wrap="square" lIns="0" tIns="0" rIns="0" bIns="0" rtlCol="0" anchor="ctr">
            <a:normAutofit/>
          </a:bodyPr>
          <a:lstStyle/>
          <a:p>
            <a:pPr marL="0" indent="0" algn="ctr">
              <a:buNone/>
            </a:pPr>
            <a:r>
              <a:rPr lang="en-US" sz="1000" b="1" dirty="0">
                <a:solidFill>
                  <a:srgbClr val="FFFFFF"/>
                </a:solidFill>
                <a:latin typeface="Aptos" pitchFamily="34" charset="0"/>
                <a:ea typeface="Aptos" pitchFamily="34" charset="-122"/>
                <a:cs typeface="Aptos" pitchFamily="34" charset="-120"/>
              </a:rPr>
              <a:t>2</a:t>
            </a:r>
            <a:endParaRPr lang="en-US" sz="1000" dirty="0"/>
          </a:p>
        </p:txBody>
      </p:sp>
      <p:sp>
        <p:nvSpPr>
          <p:cNvPr id="24" name="Text 22"/>
          <p:cNvSpPr/>
          <p:nvPr/>
        </p:nvSpPr>
        <p:spPr>
          <a:xfrm>
            <a:off x="1444752" y="2770632"/>
            <a:ext cx="4187952" cy="219456"/>
          </a:xfrm>
          <a:prstGeom prst="rect">
            <a:avLst/>
          </a:prstGeom>
          <a:noFill/>
          <a:ln/>
        </p:spPr>
        <p:txBody>
          <a:bodyPr wrap="square" lIns="0" tIns="0" rIns="0" bIns="0" rtlCol="0" anchor="ctr">
            <a:normAutofit/>
          </a:bodyPr>
          <a:lstStyle/>
          <a:p>
            <a:pPr marL="0" indent="0">
              <a:buNone/>
            </a:pPr>
            <a:r>
              <a:rPr lang="en-US" sz="1180" b="1" dirty="0">
                <a:solidFill>
                  <a:srgbClr val="328C8B"/>
                </a:solidFill>
                <a:latin typeface="Aptos" pitchFamily="34" charset="0"/>
                <a:ea typeface="Aptos" pitchFamily="34" charset="-122"/>
                <a:cs typeface="Aptos" pitchFamily="34" charset="-120"/>
              </a:rPr>
              <a:t>Podudaranje sistema i stvarnog sveta</a:t>
            </a:r>
            <a:endParaRPr lang="en-US" sz="1180" dirty="0"/>
          </a:p>
        </p:txBody>
      </p:sp>
      <p:sp>
        <p:nvSpPr>
          <p:cNvPr id="25" name="Text 23"/>
          <p:cNvSpPr/>
          <p:nvPr/>
        </p:nvSpPr>
        <p:spPr>
          <a:xfrm>
            <a:off x="1444752" y="3054096"/>
            <a:ext cx="4187952" cy="182880"/>
          </a:xfrm>
          <a:prstGeom prst="rect">
            <a:avLst/>
          </a:prstGeom>
          <a:noFill/>
          <a:ln/>
        </p:spPr>
        <p:txBody>
          <a:bodyPr wrap="square" lIns="0" tIns="0" rIns="0" bIns="0" rtlCol="0" anchor="ctr">
            <a:normAutofit/>
          </a:bodyPr>
          <a:lstStyle/>
          <a:p>
            <a:pPr marL="0" indent="0">
              <a:buNone/>
            </a:pPr>
            <a:r>
              <a:rPr lang="en-US" sz="1050" dirty="0">
                <a:solidFill>
                  <a:srgbClr val="786B62"/>
                </a:solidFill>
                <a:latin typeface="Aptos" pitchFamily="34" charset="0"/>
                <a:ea typeface="Aptos" pitchFamily="34" charset="-122"/>
                <a:cs typeface="Aptos" pitchFamily="34" charset="-120"/>
              </a:rPr>
              <a:t>mapa, zidovi, start/cilj i SR/EN</a:t>
            </a:r>
            <a:endParaRPr lang="en-US" sz="1050" dirty="0"/>
          </a:p>
        </p:txBody>
      </p:sp>
      <p:sp>
        <p:nvSpPr>
          <p:cNvPr id="26" name="Shape 24"/>
          <p:cNvSpPr/>
          <p:nvPr/>
        </p:nvSpPr>
        <p:spPr>
          <a:xfrm>
            <a:off x="6163056" y="2660904"/>
            <a:ext cx="5367528" cy="713232"/>
          </a:xfrm>
          <a:prstGeom prst="roundRect">
            <a:avLst/>
          </a:prstGeom>
          <a:solidFill>
            <a:srgbClr val="FFFDFC"/>
          </a:solidFill>
          <a:ln w="12700">
            <a:solidFill>
              <a:srgbClr val="DED2C5"/>
            </a:solidFill>
            <a:prstDash val="solid"/>
          </a:ln>
        </p:spPr>
        <p:txBody>
          <a:bodyPr/>
          <a:lstStyle/>
          <a:p>
            <a:endParaRPr lang="en-US"/>
          </a:p>
        </p:txBody>
      </p:sp>
      <p:sp>
        <p:nvSpPr>
          <p:cNvPr id="27" name="Shape 25"/>
          <p:cNvSpPr/>
          <p:nvPr/>
        </p:nvSpPr>
        <p:spPr>
          <a:xfrm>
            <a:off x="6163056" y="2660904"/>
            <a:ext cx="64008" cy="713232"/>
          </a:xfrm>
          <a:prstGeom prst="rect">
            <a:avLst/>
          </a:prstGeom>
          <a:solidFill>
            <a:srgbClr val="328C8B"/>
          </a:solidFill>
          <a:ln w="12700">
            <a:solidFill>
              <a:srgbClr val="328C8B"/>
            </a:solidFill>
            <a:prstDash val="solid"/>
          </a:ln>
        </p:spPr>
        <p:txBody>
          <a:bodyPr/>
          <a:lstStyle/>
          <a:p>
            <a:endParaRPr lang="en-US"/>
          </a:p>
        </p:txBody>
      </p:sp>
      <p:sp>
        <p:nvSpPr>
          <p:cNvPr id="28" name="Shape 26"/>
          <p:cNvSpPr/>
          <p:nvPr/>
        </p:nvSpPr>
        <p:spPr>
          <a:xfrm>
            <a:off x="6364224" y="2807208"/>
            <a:ext cx="411480" cy="411480"/>
          </a:xfrm>
          <a:prstGeom prst="ellipse">
            <a:avLst/>
          </a:prstGeom>
          <a:solidFill>
            <a:srgbClr val="328C8B"/>
          </a:solidFill>
          <a:ln w="12700">
            <a:solidFill>
              <a:srgbClr val="328C8B"/>
            </a:solidFill>
            <a:prstDash val="solid"/>
          </a:ln>
        </p:spPr>
        <p:txBody>
          <a:bodyPr/>
          <a:lstStyle/>
          <a:p>
            <a:endParaRPr lang="en-US"/>
          </a:p>
        </p:txBody>
      </p:sp>
      <p:sp>
        <p:nvSpPr>
          <p:cNvPr id="29" name="Text 27"/>
          <p:cNvSpPr/>
          <p:nvPr/>
        </p:nvSpPr>
        <p:spPr>
          <a:xfrm>
            <a:off x="6364224" y="2898648"/>
            <a:ext cx="411480" cy="192024"/>
          </a:xfrm>
          <a:prstGeom prst="rect">
            <a:avLst/>
          </a:prstGeom>
          <a:noFill/>
          <a:ln/>
        </p:spPr>
        <p:txBody>
          <a:bodyPr wrap="square" lIns="0" tIns="0" rIns="0" bIns="0" rtlCol="0" anchor="ctr">
            <a:normAutofit/>
          </a:bodyPr>
          <a:lstStyle/>
          <a:p>
            <a:pPr marL="0" indent="0" algn="ctr">
              <a:buNone/>
            </a:pPr>
            <a:r>
              <a:rPr lang="en-US" sz="1000" b="1" dirty="0">
                <a:solidFill>
                  <a:srgbClr val="FFFFFF"/>
                </a:solidFill>
                <a:latin typeface="Aptos" pitchFamily="34" charset="0"/>
                <a:ea typeface="Aptos" pitchFamily="34" charset="-122"/>
                <a:cs typeface="Aptos" pitchFamily="34" charset="-120"/>
              </a:rPr>
              <a:t>7</a:t>
            </a:r>
            <a:endParaRPr lang="en-US" sz="1000" dirty="0"/>
          </a:p>
        </p:txBody>
      </p:sp>
      <p:sp>
        <p:nvSpPr>
          <p:cNvPr id="30" name="Text 28"/>
          <p:cNvSpPr/>
          <p:nvPr/>
        </p:nvSpPr>
        <p:spPr>
          <a:xfrm>
            <a:off x="6949440" y="2770632"/>
            <a:ext cx="4187952" cy="219456"/>
          </a:xfrm>
          <a:prstGeom prst="rect">
            <a:avLst/>
          </a:prstGeom>
          <a:noFill/>
          <a:ln/>
        </p:spPr>
        <p:txBody>
          <a:bodyPr wrap="square" lIns="0" tIns="0" rIns="0" bIns="0" rtlCol="0" anchor="ctr">
            <a:normAutofit/>
          </a:bodyPr>
          <a:lstStyle/>
          <a:p>
            <a:pPr marL="0" indent="0">
              <a:buNone/>
            </a:pPr>
            <a:r>
              <a:rPr lang="en-US" sz="1180" b="1" dirty="0">
                <a:solidFill>
                  <a:srgbClr val="328C8B"/>
                </a:solidFill>
                <a:latin typeface="Aptos" pitchFamily="34" charset="0"/>
                <a:ea typeface="Aptos" pitchFamily="34" charset="-122"/>
                <a:cs typeface="Aptos" pitchFamily="34" charset="-120"/>
              </a:rPr>
              <a:t>Fleksibilnost i efikasnost korišćenja</a:t>
            </a:r>
            <a:endParaRPr lang="en-US" sz="1180" dirty="0"/>
          </a:p>
        </p:txBody>
      </p:sp>
      <p:sp>
        <p:nvSpPr>
          <p:cNvPr id="31" name="Text 29"/>
          <p:cNvSpPr/>
          <p:nvPr/>
        </p:nvSpPr>
        <p:spPr>
          <a:xfrm>
            <a:off x="6949440" y="3054096"/>
            <a:ext cx="4187952" cy="182880"/>
          </a:xfrm>
          <a:prstGeom prst="rect">
            <a:avLst/>
          </a:prstGeom>
          <a:noFill/>
          <a:ln/>
        </p:spPr>
        <p:txBody>
          <a:bodyPr wrap="square" lIns="0" tIns="0" rIns="0" bIns="0" rtlCol="0" anchor="ctr">
            <a:normAutofit/>
          </a:bodyPr>
          <a:lstStyle/>
          <a:p>
            <a:pPr marL="0" indent="0">
              <a:buNone/>
            </a:pPr>
            <a:r>
              <a:rPr lang="en-US" sz="1050" dirty="0">
                <a:solidFill>
                  <a:srgbClr val="786B62"/>
                </a:solidFill>
                <a:latin typeface="Aptos" pitchFamily="34" charset="0"/>
                <a:ea typeface="Aptos" pitchFamily="34" charset="-122"/>
                <a:cs typeface="Aptos" pitchFamily="34" charset="-120"/>
              </a:rPr>
              <a:t>brzina, premotavanje i generatori</a:t>
            </a:r>
            <a:endParaRPr lang="en-US" sz="1050" dirty="0"/>
          </a:p>
        </p:txBody>
      </p:sp>
      <p:sp>
        <p:nvSpPr>
          <p:cNvPr id="32" name="Shape 30"/>
          <p:cNvSpPr/>
          <p:nvPr/>
        </p:nvSpPr>
        <p:spPr>
          <a:xfrm>
            <a:off x="658368" y="3547872"/>
            <a:ext cx="5367528" cy="713232"/>
          </a:xfrm>
          <a:prstGeom prst="roundRect">
            <a:avLst/>
          </a:prstGeom>
          <a:solidFill>
            <a:srgbClr val="FFFDFC"/>
          </a:solidFill>
          <a:ln w="12700">
            <a:solidFill>
              <a:srgbClr val="DED2C5"/>
            </a:solidFill>
            <a:prstDash val="solid"/>
          </a:ln>
        </p:spPr>
        <p:txBody>
          <a:bodyPr/>
          <a:lstStyle/>
          <a:p>
            <a:endParaRPr lang="en-US"/>
          </a:p>
        </p:txBody>
      </p:sp>
      <p:sp>
        <p:nvSpPr>
          <p:cNvPr id="33" name="Shape 31"/>
          <p:cNvSpPr/>
          <p:nvPr/>
        </p:nvSpPr>
        <p:spPr>
          <a:xfrm>
            <a:off x="658368" y="3547872"/>
            <a:ext cx="64008" cy="713232"/>
          </a:xfrm>
          <a:prstGeom prst="rect">
            <a:avLst/>
          </a:prstGeom>
          <a:solidFill>
            <a:srgbClr val="D49A32"/>
          </a:solidFill>
          <a:ln w="12700">
            <a:solidFill>
              <a:srgbClr val="D49A32"/>
            </a:solidFill>
            <a:prstDash val="solid"/>
          </a:ln>
        </p:spPr>
        <p:txBody>
          <a:bodyPr/>
          <a:lstStyle/>
          <a:p>
            <a:endParaRPr lang="en-US"/>
          </a:p>
        </p:txBody>
      </p:sp>
      <p:sp>
        <p:nvSpPr>
          <p:cNvPr id="34" name="Shape 32"/>
          <p:cNvSpPr/>
          <p:nvPr/>
        </p:nvSpPr>
        <p:spPr>
          <a:xfrm>
            <a:off x="859536" y="3694176"/>
            <a:ext cx="411480" cy="411480"/>
          </a:xfrm>
          <a:prstGeom prst="ellipse">
            <a:avLst/>
          </a:prstGeom>
          <a:solidFill>
            <a:srgbClr val="D49A32"/>
          </a:solidFill>
          <a:ln w="12700">
            <a:solidFill>
              <a:srgbClr val="D49A32"/>
            </a:solidFill>
            <a:prstDash val="solid"/>
          </a:ln>
        </p:spPr>
        <p:txBody>
          <a:bodyPr/>
          <a:lstStyle/>
          <a:p>
            <a:endParaRPr lang="en-US"/>
          </a:p>
        </p:txBody>
      </p:sp>
      <p:sp>
        <p:nvSpPr>
          <p:cNvPr id="35" name="Text 33"/>
          <p:cNvSpPr/>
          <p:nvPr/>
        </p:nvSpPr>
        <p:spPr>
          <a:xfrm>
            <a:off x="859536" y="3785616"/>
            <a:ext cx="411480" cy="192024"/>
          </a:xfrm>
          <a:prstGeom prst="rect">
            <a:avLst/>
          </a:prstGeom>
          <a:noFill/>
          <a:ln/>
        </p:spPr>
        <p:txBody>
          <a:bodyPr wrap="square" lIns="0" tIns="0" rIns="0" bIns="0" rtlCol="0" anchor="ctr">
            <a:normAutofit/>
          </a:bodyPr>
          <a:lstStyle/>
          <a:p>
            <a:pPr marL="0" indent="0" algn="ctr">
              <a:buNone/>
            </a:pPr>
            <a:r>
              <a:rPr lang="en-US" sz="1000" b="1" dirty="0">
                <a:solidFill>
                  <a:srgbClr val="FFFFFF"/>
                </a:solidFill>
                <a:latin typeface="Aptos" pitchFamily="34" charset="0"/>
                <a:ea typeface="Aptos" pitchFamily="34" charset="-122"/>
                <a:cs typeface="Aptos" pitchFamily="34" charset="-120"/>
              </a:rPr>
              <a:t>3</a:t>
            </a:r>
            <a:endParaRPr lang="en-US" sz="1000" dirty="0"/>
          </a:p>
        </p:txBody>
      </p:sp>
      <p:sp>
        <p:nvSpPr>
          <p:cNvPr id="36" name="Text 34"/>
          <p:cNvSpPr/>
          <p:nvPr/>
        </p:nvSpPr>
        <p:spPr>
          <a:xfrm>
            <a:off x="1444752" y="3657600"/>
            <a:ext cx="4187952" cy="219456"/>
          </a:xfrm>
          <a:prstGeom prst="rect">
            <a:avLst/>
          </a:prstGeom>
          <a:noFill/>
          <a:ln/>
        </p:spPr>
        <p:txBody>
          <a:bodyPr wrap="square" lIns="0" tIns="0" rIns="0" bIns="0" rtlCol="0" anchor="ctr">
            <a:normAutofit/>
          </a:bodyPr>
          <a:lstStyle/>
          <a:p>
            <a:pPr marL="0" indent="0">
              <a:buNone/>
            </a:pPr>
            <a:r>
              <a:rPr lang="en-US" sz="1180" b="1" dirty="0">
                <a:solidFill>
                  <a:srgbClr val="D49A32"/>
                </a:solidFill>
                <a:latin typeface="Aptos" pitchFamily="34" charset="0"/>
                <a:ea typeface="Aptos" pitchFamily="34" charset="-122"/>
                <a:cs typeface="Aptos" pitchFamily="34" charset="-120"/>
              </a:rPr>
              <a:t>Korisnička kontrola i sloboda</a:t>
            </a:r>
            <a:endParaRPr lang="en-US" sz="1180" dirty="0"/>
          </a:p>
        </p:txBody>
      </p:sp>
      <p:sp>
        <p:nvSpPr>
          <p:cNvPr id="37" name="Text 35"/>
          <p:cNvSpPr/>
          <p:nvPr/>
        </p:nvSpPr>
        <p:spPr>
          <a:xfrm>
            <a:off x="1444752" y="3941064"/>
            <a:ext cx="4187952" cy="182880"/>
          </a:xfrm>
          <a:prstGeom prst="rect">
            <a:avLst/>
          </a:prstGeom>
          <a:noFill/>
          <a:ln/>
        </p:spPr>
        <p:txBody>
          <a:bodyPr wrap="square" lIns="0" tIns="0" rIns="0" bIns="0" rtlCol="0" anchor="ctr">
            <a:normAutofit/>
          </a:bodyPr>
          <a:lstStyle/>
          <a:p>
            <a:pPr marL="0" indent="0">
              <a:buNone/>
            </a:pPr>
            <a:r>
              <a:rPr lang="en-US" sz="1050" dirty="0">
                <a:solidFill>
                  <a:srgbClr val="786B62"/>
                </a:solidFill>
                <a:latin typeface="Aptos" pitchFamily="34" charset="0"/>
                <a:ea typeface="Aptos" pitchFamily="34" charset="-122"/>
                <a:cs typeface="Aptos" pitchFamily="34" charset="-120"/>
              </a:rPr>
              <a:t>pauza, korak, povratak i reset</a:t>
            </a:r>
            <a:endParaRPr lang="en-US" sz="1050" dirty="0"/>
          </a:p>
        </p:txBody>
      </p:sp>
      <p:sp>
        <p:nvSpPr>
          <p:cNvPr id="38" name="Shape 36"/>
          <p:cNvSpPr/>
          <p:nvPr/>
        </p:nvSpPr>
        <p:spPr>
          <a:xfrm>
            <a:off x="6163056" y="3547872"/>
            <a:ext cx="5367528" cy="713232"/>
          </a:xfrm>
          <a:prstGeom prst="roundRect">
            <a:avLst/>
          </a:prstGeom>
          <a:solidFill>
            <a:srgbClr val="FFFDFC"/>
          </a:solidFill>
          <a:ln w="12700">
            <a:solidFill>
              <a:srgbClr val="DED2C5"/>
            </a:solidFill>
            <a:prstDash val="solid"/>
          </a:ln>
        </p:spPr>
        <p:txBody>
          <a:bodyPr/>
          <a:lstStyle/>
          <a:p>
            <a:endParaRPr lang="en-US"/>
          </a:p>
        </p:txBody>
      </p:sp>
      <p:sp>
        <p:nvSpPr>
          <p:cNvPr id="39" name="Shape 37"/>
          <p:cNvSpPr/>
          <p:nvPr/>
        </p:nvSpPr>
        <p:spPr>
          <a:xfrm>
            <a:off x="6163056" y="3547872"/>
            <a:ext cx="64008" cy="713232"/>
          </a:xfrm>
          <a:prstGeom prst="rect">
            <a:avLst/>
          </a:prstGeom>
          <a:solidFill>
            <a:srgbClr val="D49A32"/>
          </a:solidFill>
          <a:ln w="12700">
            <a:solidFill>
              <a:srgbClr val="D49A32"/>
            </a:solidFill>
            <a:prstDash val="solid"/>
          </a:ln>
        </p:spPr>
        <p:txBody>
          <a:bodyPr/>
          <a:lstStyle/>
          <a:p>
            <a:endParaRPr lang="en-US"/>
          </a:p>
        </p:txBody>
      </p:sp>
      <p:sp>
        <p:nvSpPr>
          <p:cNvPr id="40" name="Shape 38"/>
          <p:cNvSpPr/>
          <p:nvPr/>
        </p:nvSpPr>
        <p:spPr>
          <a:xfrm>
            <a:off x="6364224" y="3694176"/>
            <a:ext cx="411480" cy="411480"/>
          </a:xfrm>
          <a:prstGeom prst="ellipse">
            <a:avLst/>
          </a:prstGeom>
          <a:solidFill>
            <a:srgbClr val="D49A32"/>
          </a:solidFill>
          <a:ln w="12700">
            <a:solidFill>
              <a:srgbClr val="D49A32"/>
            </a:solidFill>
            <a:prstDash val="solid"/>
          </a:ln>
        </p:spPr>
        <p:txBody>
          <a:bodyPr/>
          <a:lstStyle/>
          <a:p>
            <a:endParaRPr lang="en-US"/>
          </a:p>
        </p:txBody>
      </p:sp>
      <p:sp>
        <p:nvSpPr>
          <p:cNvPr id="41" name="Text 39"/>
          <p:cNvSpPr/>
          <p:nvPr/>
        </p:nvSpPr>
        <p:spPr>
          <a:xfrm>
            <a:off x="6364224" y="3785616"/>
            <a:ext cx="411480" cy="192024"/>
          </a:xfrm>
          <a:prstGeom prst="rect">
            <a:avLst/>
          </a:prstGeom>
          <a:noFill/>
          <a:ln/>
        </p:spPr>
        <p:txBody>
          <a:bodyPr wrap="square" lIns="0" tIns="0" rIns="0" bIns="0" rtlCol="0" anchor="ctr">
            <a:normAutofit/>
          </a:bodyPr>
          <a:lstStyle/>
          <a:p>
            <a:pPr marL="0" indent="0" algn="ctr">
              <a:buNone/>
            </a:pPr>
            <a:r>
              <a:rPr lang="en-US" sz="1000" b="1" dirty="0">
                <a:solidFill>
                  <a:srgbClr val="FFFFFF"/>
                </a:solidFill>
                <a:latin typeface="Aptos" pitchFamily="34" charset="0"/>
                <a:ea typeface="Aptos" pitchFamily="34" charset="-122"/>
                <a:cs typeface="Aptos" pitchFamily="34" charset="-120"/>
              </a:rPr>
              <a:t>8</a:t>
            </a:r>
            <a:endParaRPr lang="en-US" sz="1000" dirty="0"/>
          </a:p>
        </p:txBody>
      </p:sp>
      <p:sp>
        <p:nvSpPr>
          <p:cNvPr id="42" name="Text 40"/>
          <p:cNvSpPr/>
          <p:nvPr/>
        </p:nvSpPr>
        <p:spPr>
          <a:xfrm>
            <a:off x="6949440" y="3657600"/>
            <a:ext cx="4187952" cy="219456"/>
          </a:xfrm>
          <a:prstGeom prst="rect">
            <a:avLst/>
          </a:prstGeom>
          <a:noFill/>
          <a:ln/>
        </p:spPr>
        <p:txBody>
          <a:bodyPr wrap="square" lIns="0" tIns="0" rIns="0" bIns="0" rtlCol="0" anchor="ctr">
            <a:normAutofit/>
          </a:bodyPr>
          <a:lstStyle/>
          <a:p>
            <a:pPr marL="0" indent="0">
              <a:buNone/>
            </a:pPr>
            <a:r>
              <a:rPr lang="en-US" sz="1180" b="1" dirty="0">
                <a:solidFill>
                  <a:srgbClr val="D49A32"/>
                </a:solidFill>
                <a:latin typeface="Aptos" pitchFamily="34" charset="0"/>
                <a:ea typeface="Aptos" pitchFamily="34" charset="-122"/>
                <a:cs typeface="Aptos" pitchFamily="34" charset="-120"/>
              </a:rPr>
              <a:t>Estetski i minimalistički dizajn</a:t>
            </a:r>
            <a:endParaRPr lang="en-US" sz="1180" dirty="0"/>
          </a:p>
        </p:txBody>
      </p:sp>
      <p:sp>
        <p:nvSpPr>
          <p:cNvPr id="43" name="Text 41"/>
          <p:cNvSpPr/>
          <p:nvPr/>
        </p:nvSpPr>
        <p:spPr>
          <a:xfrm>
            <a:off x="6949440" y="3941064"/>
            <a:ext cx="4187952" cy="182880"/>
          </a:xfrm>
          <a:prstGeom prst="rect">
            <a:avLst/>
          </a:prstGeom>
          <a:noFill/>
          <a:ln/>
        </p:spPr>
        <p:txBody>
          <a:bodyPr wrap="square" lIns="0" tIns="0" rIns="0" bIns="0" rtlCol="0" anchor="ctr">
            <a:normAutofit/>
          </a:bodyPr>
          <a:lstStyle/>
          <a:p>
            <a:pPr marL="0" indent="0">
              <a:buNone/>
            </a:pPr>
            <a:r>
              <a:rPr lang="en-US" sz="1050" dirty="0">
                <a:solidFill>
                  <a:srgbClr val="786B62"/>
                </a:solidFill>
                <a:latin typeface="Aptos" pitchFamily="34" charset="0"/>
                <a:ea typeface="Aptos" pitchFamily="34" charset="-122"/>
                <a:cs typeface="Aptos" pitchFamily="34" charset="-120"/>
              </a:rPr>
              <a:t>Canvas u fokusu, opcije po potrebi</a:t>
            </a:r>
            <a:endParaRPr lang="en-US" sz="1050" dirty="0"/>
          </a:p>
        </p:txBody>
      </p:sp>
      <p:sp>
        <p:nvSpPr>
          <p:cNvPr id="44" name="Shape 42"/>
          <p:cNvSpPr/>
          <p:nvPr/>
        </p:nvSpPr>
        <p:spPr>
          <a:xfrm>
            <a:off x="658368" y="4434840"/>
            <a:ext cx="5367528" cy="713232"/>
          </a:xfrm>
          <a:prstGeom prst="roundRect">
            <a:avLst/>
          </a:prstGeom>
          <a:solidFill>
            <a:srgbClr val="FFFDFC"/>
          </a:solidFill>
          <a:ln w="12700">
            <a:solidFill>
              <a:srgbClr val="DED2C5"/>
            </a:solidFill>
            <a:prstDash val="solid"/>
          </a:ln>
        </p:spPr>
        <p:txBody>
          <a:bodyPr/>
          <a:lstStyle/>
          <a:p>
            <a:endParaRPr lang="en-US"/>
          </a:p>
        </p:txBody>
      </p:sp>
      <p:sp>
        <p:nvSpPr>
          <p:cNvPr id="45" name="Shape 43"/>
          <p:cNvSpPr/>
          <p:nvPr/>
        </p:nvSpPr>
        <p:spPr>
          <a:xfrm>
            <a:off x="658368" y="4434840"/>
            <a:ext cx="64008" cy="713232"/>
          </a:xfrm>
          <a:prstGeom prst="rect">
            <a:avLst/>
          </a:prstGeom>
          <a:solidFill>
            <a:srgbClr val="8066B5"/>
          </a:solidFill>
          <a:ln w="12700">
            <a:solidFill>
              <a:srgbClr val="8066B5"/>
            </a:solidFill>
            <a:prstDash val="solid"/>
          </a:ln>
        </p:spPr>
        <p:txBody>
          <a:bodyPr/>
          <a:lstStyle/>
          <a:p>
            <a:endParaRPr lang="en-US"/>
          </a:p>
        </p:txBody>
      </p:sp>
      <p:sp>
        <p:nvSpPr>
          <p:cNvPr id="46" name="Shape 44"/>
          <p:cNvSpPr/>
          <p:nvPr/>
        </p:nvSpPr>
        <p:spPr>
          <a:xfrm>
            <a:off x="859536" y="4581144"/>
            <a:ext cx="411480" cy="411480"/>
          </a:xfrm>
          <a:prstGeom prst="ellipse">
            <a:avLst/>
          </a:prstGeom>
          <a:solidFill>
            <a:srgbClr val="8066B5"/>
          </a:solidFill>
          <a:ln w="12700">
            <a:solidFill>
              <a:srgbClr val="8066B5"/>
            </a:solidFill>
            <a:prstDash val="solid"/>
          </a:ln>
        </p:spPr>
        <p:txBody>
          <a:bodyPr/>
          <a:lstStyle/>
          <a:p>
            <a:endParaRPr lang="en-US"/>
          </a:p>
        </p:txBody>
      </p:sp>
      <p:sp>
        <p:nvSpPr>
          <p:cNvPr id="47" name="Text 45"/>
          <p:cNvSpPr/>
          <p:nvPr/>
        </p:nvSpPr>
        <p:spPr>
          <a:xfrm>
            <a:off x="859536" y="4672584"/>
            <a:ext cx="411480" cy="192024"/>
          </a:xfrm>
          <a:prstGeom prst="rect">
            <a:avLst/>
          </a:prstGeom>
          <a:noFill/>
          <a:ln/>
        </p:spPr>
        <p:txBody>
          <a:bodyPr wrap="square" lIns="0" tIns="0" rIns="0" bIns="0" rtlCol="0" anchor="ctr">
            <a:normAutofit/>
          </a:bodyPr>
          <a:lstStyle/>
          <a:p>
            <a:pPr marL="0" indent="0" algn="ctr">
              <a:buNone/>
            </a:pPr>
            <a:r>
              <a:rPr lang="en-US" sz="1000" b="1" dirty="0">
                <a:solidFill>
                  <a:srgbClr val="FFFFFF"/>
                </a:solidFill>
                <a:latin typeface="Aptos" pitchFamily="34" charset="0"/>
                <a:ea typeface="Aptos" pitchFamily="34" charset="-122"/>
                <a:cs typeface="Aptos" pitchFamily="34" charset="-120"/>
              </a:rPr>
              <a:t>4</a:t>
            </a:r>
            <a:endParaRPr lang="en-US" sz="1000" dirty="0"/>
          </a:p>
        </p:txBody>
      </p:sp>
      <p:sp>
        <p:nvSpPr>
          <p:cNvPr id="48" name="Text 46"/>
          <p:cNvSpPr/>
          <p:nvPr/>
        </p:nvSpPr>
        <p:spPr>
          <a:xfrm>
            <a:off x="1444752" y="4544568"/>
            <a:ext cx="4187952" cy="219456"/>
          </a:xfrm>
          <a:prstGeom prst="rect">
            <a:avLst/>
          </a:prstGeom>
          <a:noFill/>
          <a:ln/>
        </p:spPr>
        <p:txBody>
          <a:bodyPr wrap="square" lIns="0" tIns="0" rIns="0" bIns="0" rtlCol="0" anchor="ctr">
            <a:normAutofit/>
          </a:bodyPr>
          <a:lstStyle/>
          <a:p>
            <a:pPr marL="0" indent="0">
              <a:buNone/>
            </a:pPr>
            <a:r>
              <a:rPr lang="en-US" sz="1180" b="1" dirty="0">
                <a:solidFill>
                  <a:srgbClr val="8066B5"/>
                </a:solidFill>
                <a:latin typeface="Aptos" pitchFamily="34" charset="0"/>
                <a:ea typeface="Aptos" pitchFamily="34" charset="-122"/>
                <a:cs typeface="Aptos" pitchFamily="34" charset="-120"/>
              </a:rPr>
              <a:t>Konzistentnost i standardi</a:t>
            </a:r>
            <a:endParaRPr lang="en-US" sz="1180" dirty="0"/>
          </a:p>
        </p:txBody>
      </p:sp>
      <p:sp>
        <p:nvSpPr>
          <p:cNvPr id="49" name="Text 47"/>
          <p:cNvSpPr/>
          <p:nvPr/>
        </p:nvSpPr>
        <p:spPr>
          <a:xfrm>
            <a:off x="1444752" y="4828032"/>
            <a:ext cx="4187952" cy="182880"/>
          </a:xfrm>
          <a:prstGeom prst="rect">
            <a:avLst/>
          </a:prstGeom>
          <a:noFill/>
          <a:ln/>
        </p:spPr>
        <p:txBody>
          <a:bodyPr wrap="square" lIns="0" tIns="0" rIns="0" bIns="0" rtlCol="0" anchor="ctr">
            <a:normAutofit/>
          </a:bodyPr>
          <a:lstStyle/>
          <a:p>
            <a:pPr marL="0" indent="0">
              <a:buNone/>
            </a:pPr>
            <a:r>
              <a:rPr lang="en-US" sz="1050" dirty="0">
                <a:solidFill>
                  <a:srgbClr val="786B62"/>
                </a:solidFill>
                <a:latin typeface="Aptos" pitchFamily="34" charset="0"/>
                <a:ea typeface="Aptos" pitchFamily="34" charset="-122"/>
                <a:cs typeface="Aptos" pitchFamily="34" charset="-120"/>
              </a:rPr>
              <a:t>iste boje, raspored i termini</a:t>
            </a:r>
            <a:endParaRPr lang="en-US" sz="1050" dirty="0"/>
          </a:p>
        </p:txBody>
      </p:sp>
      <p:sp>
        <p:nvSpPr>
          <p:cNvPr id="50" name="Shape 48"/>
          <p:cNvSpPr/>
          <p:nvPr/>
        </p:nvSpPr>
        <p:spPr>
          <a:xfrm>
            <a:off x="6163056" y="4434840"/>
            <a:ext cx="5367528" cy="713232"/>
          </a:xfrm>
          <a:prstGeom prst="roundRect">
            <a:avLst/>
          </a:prstGeom>
          <a:solidFill>
            <a:srgbClr val="FFFDFC"/>
          </a:solidFill>
          <a:ln w="12700">
            <a:solidFill>
              <a:srgbClr val="DED2C5"/>
            </a:solidFill>
            <a:prstDash val="solid"/>
          </a:ln>
        </p:spPr>
        <p:txBody>
          <a:bodyPr/>
          <a:lstStyle/>
          <a:p>
            <a:endParaRPr lang="en-US"/>
          </a:p>
        </p:txBody>
      </p:sp>
      <p:sp>
        <p:nvSpPr>
          <p:cNvPr id="51" name="Shape 49"/>
          <p:cNvSpPr/>
          <p:nvPr/>
        </p:nvSpPr>
        <p:spPr>
          <a:xfrm>
            <a:off x="6163056" y="4434840"/>
            <a:ext cx="64008" cy="713232"/>
          </a:xfrm>
          <a:prstGeom prst="rect">
            <a:avLst/>
          </a:prstGeom>
          <a:solidFill>
            <a:srgbClr val="8066B5"/>
          </a:solidFill>
          <a:ln w="12700">
            <a:solidFill>
              <a:srgbClr val="8066B5"/>
            </a:solidFill>
            <a:prstDash val="solid"/>
          </a:ln>
        </p:spPr>
        <p:txBody>
          <a:bodyPr/>
          <a:lstStyle/>
          <a:p>
            <a:endParaRPr lang="en-US"/>
          </a:p>
        </p:txBody>
      </p:sp>
      <p:sp>
        <p:nvSpPr>
          <p:cNvPr id="52" name="Shape 50"/>
          <p:cNvSpPr/>
          <p:nvPr/>
        </p:nvSpPr>
        <p:spPr>
          <a:xfrm>
            <a:off x="6364224" y="4581144"/>
            <a:ext cx="411480" cy="411480"/>
          </a:xfrm>
          <a:prstGeom prst="ellipse">
            <a:avLst/>
          </a:prstGeom>
          <a:solidFill>
            <a:srgbClr val="8066B5"/>
          </a:solidFill>
          <a:ln w="12700">
            <a:solidFill>
              <a:srgbClr val="8066B5"/>
            </a:solidFill>
            <a:prstDash val="solid"/>
          </a:ln>
        </p:spPr>
        <p:txBody>
          <a:bodyPr/>
          <a:lstStyle/>
          <a:p>
            <a:endParaRPr lang="en-US"/>
          </a:p>
        </p:txBody>
      </p:sp>
      <p:sp>
        <p:nvSpPr>
          <p:cNvPr id="53" name="Text 51"/>
          <p:cNvSpPr/>
          <p:nvPr/>
        </p:nvSpPr>
        <p:spPr>
          <a:xfrm>
            <a:off x="6364224" y="4672584"/>
            <a:ext cx="411480" cy="192024"/>
          </a:xfrm>
          <a:prstGeom prst="rect">
            <a:avLst/>
          </a:prstGeom>
          <a:noFill/>
          <a:ln/>
        </p:spPr>
        <p:txBody>
          <a:bodyPr wrap="square" lIns="0" tIns="0" rIns="0" bIns="0" rtlCol="0" anchor="ctr">
            <a:normAutofit/>
          </a:bodyPr>
          <a:lstStyle/>
          <a:p>
            <a:pPr marL="0" indent="0" algn="ctr">
              <a:buNone/>
            </a:pPr>
            <a:r>
              <a:rPr lang="en-US" sz="1000" b="1" dirty="0">
                <a:solidFill>
                  <a:srgbClr val="FFFFFF"/>
                </a:solidFill>
                <a:latin typeface="Aptos" pitchFamily="34" charset="0"/>
                <a:ea typeface="Aptos" pitchFamily="34" charset="-122"/>
                <a:cs typeface="Aptos" pitchFamily="34" charset="-120"/>
              </a:rPr>
              <a:t>9</a:t>
            </a:r>
            <a:endParaRPr lang="en-US" sz="1000" dirty="0"/>
          </a:p>
        </p:txBody>
      </p:sp>
      <p:sp>
        <p:nvSpPr>
          <p:cNvPr id="54" name="Text 52"/>
          <p:cNvSpPr/>
          <p:nvPr/>
        </p:nvSpPr>
        <p:spPr>
          <a:xfrm>
            <a:off x="6949440" y="4544568"/>
            <a:ext cx="4187952" cy="219456"/>
          </a:xfrm>
          <a:prstGeom prst="rect">
            <a:avLst/>
          </a:prstGeom>
          <a:noFill/>
          <a:ln/>
        </p:spPr>
        <p:txBody>
          <a:bodyPr wrap="square" lIns="0" tIns="0" rIns="0" bIns="0" rtlCol="0" anchor="ctr">
            <a:normAutofit/>
          </a:bodyPr>
          <a:lstStyle/>
          <a:p>
            <a:pPr marL="0" indent="0">
              <a:buNone/>
            </a:pPr>
            <a:r>
              <a:rPr lang="en-US" sz="980" b="1" dirty="0">
                <a:solidFill>
                  <a:srgbClr val="8066B5"/>
                </a:solidFill>
                <a:latin typeface="Aptos" pitchFamily="34" charset="0"/>
                <a:ea typeface="Aptos" pitchFamily="34" charset="-122"/>
                <a:cs typeface="Aptos" pitchFamily="34" charset="-120"/>
              </a:rPr>
              <a:t>Pomoć korisnicima da prepoznaju, dijagnostikuju i reše greške</a:t>
            </a:r>
            <a:endParaRPr lang="en-US" sz="980" dirty="0"/>
          </a:p>
        </p:txBody>
      </p:sp>
      <p:sp>
        <p:nvSpPr>
          <p:cNvPr id="55" name="Text 53"/>
          <p:cNvSpPr/>
          <p:nvPr/>
        </p:nvSpPr>
        <p:spPr>
          <a:xfrm>
            <a:off x="6949440" y="4828032"/>
            <a:ext cx="4187952" cy="182880"/>
          </a:xfrm>
          <a:prstGeom prst="rect">
            <a:avLst/>
          </a:prstGeom>
          <a:noFill/>
          <a:ln/>
        </p:spPr>
        <p:txBody>
          <a:bodyPr wrap="square" lIns="0" tIns="0" rIns="0" bIns="0" rtlCol="0" anchor="ctr">
            <a:normAutofit/>
          </a:bodyPr>
          <a:lstStyle/>
          <a:p>
            <a:pPr marL="0" indent="0">
              <a:buNone/>
            </a:pPr>
            <a:r>
              <a:rPr lang="en-US" sz="1050" dirty="0">
                <a:solidFill>
                  <a:srgbClr val="786B62"/>
                </a:solidFill>
                <a:latin typeface="Aptos" pitchFamily="34" charset="0"/>
                <a:ea typeface="Aptos" pitchFamily="34" charset="-122"/>
                <a:cs typeface="Aptos" pitchFamily="34" charset="-120"/>
              </a:rPr>
              <a:t>jasne poruke, breakdown i fallback</a:t>
            </a:r>
            <a:endParaRPr lang="en-US" sz="1050" dirty="0"/>
          </a:p>
        </p:txBody>
      </p:sp>
      <p:sp>
        <p:nvSpPr>
          <p:cNvPr id="56" name="Shape 54"/>
          <p:cNvSpPr/>
          <p:nvPr/>
        </p:nvSpPr>
        <p:spPr>
          <a:xfrm>
            <a:off x="658368" y="5321808"/>
            <a:ext cx="5367528" cy="713232"/>
          </a:xfrm>
          <a:prstGeom prst="roundRect">
            <a:avLst/>
          </a:prstGeom>
          <a:solidFill>
            <a:srgbClr val="FFFDFC"/>
          </a:solidFill>
          <a:ln w="12700">
            <a:solidFill>
              <a:srgbClr val="DED2C5"/>
            </a:solidFill>
            <a:prstDash val="solid"/>
          </a:ln>
        </p:spPr>
        <p:txBody>
          <a:bodyPr/>
          <a:lstStyle/>
          <a:p>
            <a:endParaRPr lang="en-US"/>
          </a:p>
        </p:txBody>
      </p:sp>
      <p:sp>
        <p:nvSpPr>
          <p:cNvPr id="57" name="Shape 55"/>
          <p:cNvSpPr/>
          <p:nvPr/>
        </p:nvSpPr>
        <p:spPr>
          <a:xfrm>
            <a:off x="658368" y="5321808"/>
            <a:ext cx="64008" cy="713232"/>
          </a:xfrm>
          <a:prstGeom prst="rect">
            <a:avLst/>
          </a:prstGeom>
          <a:solidFill>
            <a:srgbClr val="D85B4A"/>
          </a:solidFill>
          <a:ln w="12700">
            <a:solidFill>
              <a:srgbClr val="D85B4A"/>
            </a:solidFill>
            <a:prstDash val="solid"/>
          </a:ln>
        </p:spPr>
        <p:txBody>
          <a:bodyPr/>
          <a:lstStyle/>
          <a:p>
            <a:endParaRPr lang="en-US"/>
          </a:p>
        </p:txBody>
      </p:sp>
      <p:sp>
        <p:nvSpPr>
          <p:cNvPr id="58" name="Shape 56"/>
          <p:cNvSpPr/>
          <p:nvPr/>
        </p:nvSpPr>
        <p:spPr>
          <a:xfrm>
            <a:off x="859536" y="5468112"/>
            <a:ext cx="411480" cy="411480"/>
          </a:xfrm>
          <a:prstGeom prst="ellipse">
            <a:avLst/>
          </a:prstGeom>
          <a:solidFill>
            <a:srgbClr val="D85B4A"/>
          </a:solidFill>
          <a:ln w="12700">
            <a:solidFill>
              <a:srgbClr val="D85B4A"/>
            </a:solidFill>
            <a:prstDash val="solid"/>
          </a:ln>
        </p:spPr>
        <p:txBody>
          <a:bodyPr/>
          <a:lstStyle/>
          <a:p>
            <a:endParaRPr lang="en-US"/>
          </a:p>
        </p:txBody>
      </p:sp>
      <p:sp>
        <p:nvSpPr>
          <p:cNvPr id="59" name="Text 57"/>
          <p:cNvSpPr/>
          <p:nvPr/>
        </p:nvSpPr>
        <p:spPr>
          <a:xfrm>
            <a:off x="859536" y="5559552"/>
            <a:ext cx="411480" cy="192024"/>
          </a:xfrm>
          <a:prstGeom prst="rect">
            <a:avLst/>
          </a:prstGeom>
          <a:noFill/>
          <a:ln/>
        </p:spPr>
        <p:txBody>
          <a:bodyPr wrap="square" lIns="0" tIns="0" rIns="0" bIns="0" rtlCol="0" anchor="ctr">
            <a:normAutofit/>
          </a:bodyPr>
          <a:lstStyle/>
          <a:p>
            <a:pPr marL="0" indent="0" algn="ctr">
              <a:buNone/>
            </a:pPr>
            <a:r>
              <a:rPr lang="en-US" sz="1000" b="1" dirty="0">
                <a:solidFill>
                  <a:srgbClr val="FFFFFF"/>
                </a:solidFill>
                <a:latin typeface="Aptos" pitchFamily="34" charset="0"/>
                <a:ea typeface="Aptos" pitchFamily="34" charset="-122"/>
                <a:cs typeface="Aptos" pitchFamily="34" charset="-120"/>
              </a:rPr>
              <a:t>5</a:t>
            </a:r>
            <a:endParaRPr lang="en-US" sz="1000" dirty="0"/>
          </a:p>
        </p:txBody>
      </p:sp>
      <p:sp>
        <p:nvSpPr>
          <p:cNvPr id="60" name="Text 58"/>
          <p:cNvSpPr/>
          <p:nvPr/>
        </p:nvSpPr>
        <p:spPr>
          <a:xfrm>
            <a:off x="1444752" y="5431536"/>
            <a:ext cx="4187952" cy="219456"/>
          </a:xfrm>
          <a:prstGeom prst="rect">
            <a:avLst/>
          </a:prstGeom>
          <a:noFill/>
          <a:ln/>
        </p:spPr>
        <p:txBody>
          <a:bodyPr wrap="square" lIns="0" tIns="0" rIns="0" bIns="0" rtlCol="0" anchor="ctr">
            <a:normAutofit/>
          </a:bodyPr>
          <a:lstStyle/>
          <a:p>
            <a:pPr marL="0" indent="0">
              <a:buNone/>
            </a:pPr>
            <a:r>
              <a:rPr lang="en-US" sz="1180" b="1" dirty="0">
                <a:solidFill>
                  <a:srgbClr val="D85B4A"/>
                </a:solidFill>
                <a:latin typeface="Aptos" pitchFamily="34" charset="0"/>
                <a:ea typeface="Aptos" pitchFamily="34" charset="-122"/>
                <a:cs typeface="Aptos" pitchFamily="34" charset="-120"/>
              </a:rPr>
              <a:t>Prevencija grešaka</a:t>
            </a:r>
            <a:endParaRPr lang="en-US" sz="1180" dirty="0"/>
          </a:p>
        </p:txBody>
      </p:sp>
      <p:sp>
        <p:nvSpPr>
          <p:cNvPr id="61" name="Text 59"/>
          <p:cNvSpPr/>
          <p:nvPr/>
        </p:nvSpPr>
        <p:spPr>
          <a:xfrm>
            <a:off x="1444752" y="5715000"/>
            <a:ext cx="4187952" cy="182880"/>
          </a:xfrm>
          <a:prstGeom prst="rect">
            <a:avLst/>
          </a:prstGeom>
          <a:noFill/>
          <a:ln/>
        </p:spPr>
        <p:txBody>
          <a:bodyPr wrap="square" lIns="0" tIns="0" rIns="0" bIns="0" rtlCol="0" anchor="ctr">
            <a:normAutofit/>
          </a:bodyPr>
          <a:lstStyle/>
          <a:p>
            <a:pPr marL="0" indent="0">
              <a:buNone/>
            </a:pPr>
            <a:r>
              <a:rPr lang="en-US" sz="1050" dirty="0">
                <a:solidFill>
                  <a:srgbClr val="786B62"/>
                </a:solidFill>
                <a:latin typeface="Aptos" pitchFamily="34" charset="0"/>
                <a:ea typeface="Aptos" pitchFamily="34" charset="-122"/>
                <a:cs typeface="Aptos" pitchFamily="34" charset="-120"/>
              </a:rPr>
              <a:t>zaštita čvorova i validacija puta</a:t>
            </a:r>
            <a:endParaRPr lang="en-US" sz="1050" dirty="0"/>
          </a:p>
        </p:txBody>
      </p:sp>
      <p:sp>
        <p:nvSpPr>
          <p:cNvPr id="62" name="Shape 60"/>
          <p:cNvSpPr/>
          <p:nvPr/>
        </p:nvSpPr>
        <p:spPr>
          <a:xfrm>
            <a:off x="6163056" y="5321808"/>
            <a:ext cx="5367528" cy="713232"/>
          </a:xfrm>
          <a:prstGeom prst="roundRect">
            <a:avLst/>
          </a:prstGeom>
          <a:solidFill>
            <a:srgbClr val="FFFDFC"/>
          </a:solidFill>
          <a:ln w="12700">
            <a:solidFill>
              <a:srgbClr val="DED2C5"/>
            </a:solidFill>
            <a:prstDash val="solid"/>
          </a:ln>
        </p:spPr>
        <p:txBody>
          <a:bodyPr/>
          <a:lstStyle/>
          <a:p>
            <a:endParaRPr lang="en-US"/>
          </a:p>
        </p:txBody>
      </p:sp>
      <p:sp>
        <p:nvSpPr>
          <p:cNvPr id="63" name="Shape 61"/>
          <p:cNvSpPr/>
          <p:nvPr/>
        </p:nvSpPr>
        <p:spPr>
          <a:xfrm>
            <a:off x="6163056" y="5321808"/>
            <a:ext cx="64008" cy="713232"/>
          </a:xfrm>
          <a:prstGeom prst="rect">
            <a:avLst/>
          </a:prstGeom>
          <a:solidFill>
            <a:srgbClr val="D85B4A"/>
          </a:solidFill>
          <a:ln w="12700">
            <a:solidFill>
              <a:srgbClr val="D85B4A"/>
            </a:solidFill>
            <a:prstDash val="solid"/>
          </a:ln>
        </p:spPr>
        <p:txBody>
          <a:bodyPr/>
          <a:lstStyle/>
          <a:p>
            <a:endParaRPr lang="en-US"/>
          </a:p>
        </p:txBody>
      </p:sp>
      <p:sp>
        <p:nvSpPr>
          <p:cNvPr id="64" name="Shape 62"/>
          <p:cNvSpPr/>
          <p:nvPr/>
        </p:nvSpPr>
        <p:spPr>
          <a:xfrm>
            <a:off x="6364224" y="5468112"/>
            <a:ext cx="411480" cy="411480"/>
          </a:xfrm>
          <a:prstGeom prst="ellipse">
            <a:avLst/>
          </a:prstGeom>
          <a:solidFill>
            <a:srgbClr val="D85B4A"/>
          </a:solidFill>
          <a:ln w="12700">
            <a:solidFill>
              <a:srgbClr val="D85B4A"/>
            </a:solidFill>
            <a:prstDash val="solid"/>
          </a:ln>
        </p:spPr>
        <p:txBody>
          <a:bodyPr/>
          <a:lstStyle/>
          <a:p>
            <a:endParaRPr lang="en-US"/>
          </a:p>
        </p:txBody>
      </p:sp>
      <p:sp>
        <p:nvSpPr>
          <p:cNvPr id="65" name="Text 63"/>
          <p:cNvSpPr/>
          <p:nvPr/>
        </p:nvSpPr>
        <p:spPr>
          <a:xfrm>
            <a:off x="6364224" y="5559552"/>
            <a:ext cx="411480" cy="192024"/>
          </a:xfrm>
          <a:prstGeom prst="rect">
            <a:avLst/>
          </a:prstGeom>
          <a:noFill/>
          <a:ln/>
        </p:spPr>
        <p:txBody>
          <a:bodyPr wrap="square" lIns="0" tIns="0" rIns="0" bIns="0" rtlCol="0" anchor="ctr">
            <a:normAutofit/>
          </a:bodyPr>
          <a:lstStyle/>
          <a:p>
            <a:pPr marL="0" indent="0" algn="ctr">
              <a:buNone/>
            </a:pPr>
            <a:r>
              <a:rPr lang="en-US" sz="1000" b="1" dirty="0">
                <a:solidFill>
                  <a:srgbClr val="FFFFFF"/>
                </a:solidFill>
                <a:latin typeface="Aptos" pitchFamily="34" charset="0"/>
                <a:ea typeface="Aptos" pitchFamily="34" charset="-122"/>
                <a:cs typeface="Aptos" pitchFamily="34" charset="-120"/>
              </a:rPr>
              <a:t>10</a:t>
            </a:r>
            <a:endParaRPr lang="en-US" sz="1000" dirty="0"/>
          </a:p>
        </p:txBody>
      </p:sp>
      <p:sp>
        <p:nvSpPr>
          <p:cNvPr id="66" name="Text 64"/>
          <p:cNvSpPr/>
          <p:nvPr/>
        </p:nvSpPr>
        <p:spPr>
          <a:xfrm>
            <a:off x="6949440" y="5431536"/>
            <a:ext cx="4187952" cy="219456"/>
          </a:xfrm>
          <a:prstGeom prst="rect">
            <a:avLst/>
          </a:prstGeom>
          <a:noFill/>
          <a:ln/>
        </p:spPr>
        <p:txBody>
          <a:bodyPr wrap="square" lIns="0" tIns="0" rIns="0" bIns="0" rtlCol="0" anchor="ctr">
            <a:normAutofit/>
          </a:bodyPr>
          <a:lstStyle/>
          <a:p>
            <a:pPr marL="0" indent="0">
              <a:buNone/>
            </a:pPr>
            <a:r>
              <a:rPr lang="en-US" sz="1180" b="1" dirty="0">
                <a:solidFill>
                  <a:srgbClr val="D85B4A"/>
                </a:solidFill>
                <a:latin typeface="Aptos" pitchFamily="34" charset="0"/>
                <a:ea typeface="Aptos" pitchFamily="34" charset="-122"/>
                <a:cs typeface="Aptos" pitchFamily="34" charset="-120"/>
              </a:rPr>
              <a:t>Pomoć i dokumentacija</a:t>
            </a:r>
            <a:endParaRPr lang="en-US" sz="1180" dirty="0"/>
          </a:p>
        </p:txBody>
      </p:sp>
      <p:sp>
        <p:nvSpPr>
          <p:cNvPr id="67" name="Text 65"/>
          <p:cNvSpPr/>
          <p:nvPr/>
        </p:nvSpPr>
        <p:spPr>
          <a:xfrm>
            <a:off x="6949440" y="5715000"/>
            <a:ext cx="4187952" cy="182880"/>
          </a:xfrm>
          <a:prstGeom prst="rect">
            <a:avLst/>
          </a:prstGeom>
          <a:noFill/>
          <a:ln/>
        </p:spPr>
        <p:txBody>
          <a:bodyPr wrap="square" lIns="0" tIns="0" rIns="0" bIns="0" rtlCol="0" anchor="ctr">
            <a:normAutofit/>
          </a:bodyPr>
          <a:lstStyle/>
          <a:p>
            <a:pPr marL="0" indent="0">
              <a:buNone/>
            </a:pPr>
            <a:r>
              <a:rPr lang="en-US" sz="1050" dirty="0">
                <a:solidFill>
                  <a:srgbClr val="786B62"/>
                </a:solidFill>
                <a:latin typeface="Aptos" pitchFamily="34" charset="0"/>
                <a:ea typeface="Aptos" pitchFamily="34" charset="-122"/>
                <a:cs typeface="Aptos" pitchFamily="34" charset="-120"/>
              </a:rPr>
              <a:t>vodič od 17 koraka i AI Tutor</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3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
          </a:xfrm>
          <a:prstGeom prst="rect">
            <a:avLst/>
          </a:prstGeom>
          <a:solidFill>
            <a:srgbClr val="8B5E50"/>
          </a:solidFill>
          <a:ln w="12700">
            <a:solidFill>
              <a:srgbClr val="8B5E50"/>
            </a:solidFill>
            <a:prstDash val="solid"/>
          </a:ln>
        </p:spPr>
        <p:txBody>
          <a:bodyPr/>
          <a:lstStyle/>
          <a:p>
            <a:endParaRPr lang="en-US"/>
          </a:p>
        </p:txBody>
      </p:sp>
      <p:sp>
        <p:nvSpPr>
          <p:cNvPr id="3" name="Text 1"/>
          <p:cNvSpPr/>
          <p:nvPr/>
        </p:nvSpPr>
        <p:spPr>
          <a:xfrm>
            <a:off x="658368" y="384048"/>
            <a:ext cx="2926080" cy="182880"/>
          </a:xfrm>
          <a:prstGeom prst="rect">
            <a:avLst/>
          </a:prstGeom>
          <a:noFill/>
          <a:ln/>
        </p:spPr>
        <p:txBody>
          <a:bodyPr wrap="square" lIns="0" tIns="0" rIns="0" bIns="0" rtlCol="0" anchor="ctr">
            <a:normAutofit/>
          </a:bodyPr>
          <a:lstStyle/>
          <a:p>
            <a:pPr marL="0" indent="0">
              <a:buNone/>
            </a:pPr>
            <a:r>
              <a:rPr lang="en-US" sz="1000" b="1" kern="0" spc="120" dirty="0">
                <a:solidFill>
                  <a:srgbClr val="8B5E50"/>
                </a:solidFill>
                <a:latin typeface="Aptos" pitchFamily="34" charset="0"/>
                <a:ea typeface="Aptos" pitchFamily="34" charset="-122"/>
                <a:cs typeface="Aptos" pitchFamily="34" charset="-120"/>
              </a:rPr>
              <a:t>ODBRANA MASTER RADA</a:t>
            </a:r>
            <a:endParaRPr lang="en-US" sz="1000" dirty="0"/>
          </a:p>
        </p:txBody>
      </p:sp>
      <p:sp>
        <p:nvSpPr>
          <p:cNvPr id="4" name="Text 2"/>
          <p:cNvSpPr/>
          <p:nvPr/>
        </p:nvSpPr>
        <p:spPr>
          <a:xfrm>
            <a:off x="1051560" y="1481328"/>
            <a:ext cx="10104120" cy="914400"/>
          </a:xfrm>
          <a:prstGeom prst="rect">
            <a:avLst/>
          </a:prstGeom>
          <a:noFill/>
          <a:ln/>
        </p:spPr>
        <p:txBody>
          <a:bodyPr wrap="square" lIns="0" tIns="0" rIns="0" bIns="0" rtlCol="0" anchor="ctr">
            <a:normAutofit/>
          </a:bodyPr>
          <a:lstStyle/>
          <a:p>
            <a:pPr marL="0" indent="0" algn="ctr">
              <a:buNone/>
            </a:pPr>
            <a:r>
              <a:rPr lang="en-US" sz="3700" dirty="0">
                <a:solidFill>
                  <a:srgbClr val="352B26"/>
                </a:solidFill>
                <a:latin typeface="Georgia" pitchFamily="34" charset="0"/>
                <a:ea typeface="Georgia" pitchFamily="34" charset="-122"/>
                <a:cs typeface="Georgia" pitchFamily="34" charset="-120"/>
              </a:rPr>
              <a:t>Hvala na pažnji.</a:t>
            </a:r>
            <a:endParaRPr lang="en-US" sz="3700" dirty="0"/>
          </a:p>
        </p:txBody>
      </p:sp>
      <p:sp>
        <p:nvSpPr>
          <p:cNvPr id="5" name="Shape 3"/>
          <p:cNvSpPr/>
          <p:nvPr/>
        </p:nvSpPr>
        <p:spPr>
          <a:xfrm>
            <a:off x="4041648" y="2834640"/>
            <a:ext cx="4105656" cy="0"/>
          </a:xfrm>
          <a:prstGeom prst="line">
            <a:avLst/>
          </a:prstGeom>
          <a:noFill/>
          <a:ln w="15240">
            <a:solidFill>
              <a:srgbClr val="DED2C5"/>
            </a:solidFill>
            <a:prstDash val="solid"/>
          </a:ln>
        </p:spPr>
        <p:txBody>
          <a:bodyPr/>
          <a:lstStyle/>
          <a:p>
            <a:endParaRPr lang="en-US"/>
          </a:p>
        </p:txBody>
      </p:sp>
      <p:sp>
        <p:nvSpPr>
          <p:cNvPr id="6" name="Text 4"/>
          <p:cNvSpPr/>
          <p:nvPr/>
        </p:nvSpPr>
        <p:spPr>
          <a:xfrm>
            <a:off x="2852928" y="3200400"/>
            <a:ext cx="6483096" cy="841248"/>
          </a:xfrm>
          <a:prstGeom prst="rect">
            <a:avLst/>
          </a:prstGeom>
          <a:noFill/>
          <a:ln/>
        </p:spPr>
        <p:txBody>
          <a:bodyPr wrap="square" lIns="0" tIns="0" rIns="0" bIns="0" rtlCol="0" anchor="ctr">
            <a:normAutofit/>
          </a:bodyPr>
          <a:lstStyle/>
          <a:p>
            <a:pPr marL="0" indent="0" algn="ctr">
              <a:buNone/>
            </a:pPr>
            <a:r>
              <a:rPr lang="en-US" sz="3400" dirty="0">
                <a:solidFill>
                  <a:srgbClr val="6E473B"/>
                </a:solidFill>
                <a:latin typeface="Georgia" pitchFamily="34" charset="0"/>
                <a:ea typeface="Georgia" pitchFamily="34" charset="-122"/>
                <a:cs typeface="Georgia" pitchFamily="34" charset="-120"/>
              </a:rPr>
              <a:t>Pitanja?</a:t>
            </a:r>
            <a:endParaRPr lang="en-US" sz="3400" dirty="0"/>
          </a:p>
        </p:txBody>
      </p:sp>
      <p:sp>
        <p:nvSpPr>
          <p:cNvPr id="7" name="Text 5"/>
          <p:cNvSpPr/>
          <p:nvPr/>
        </p:nvSpPr>
        <p:spPr>
          <a:xfrm>
            <a:off x="4041648" y="5010912"/>
            <a:ext cx="4105656" cy="274320"/>
          </a:xfrm>
          <a:prstGeom prst="rect">
            <a:avLst/>
          </a:prstGeom>
          <a:noFill/>
          <a:ln/>
        </p:spPr>
        <p:txBody>
          <a:bodyPr wrap="square" lIns="0" tIns="0" rIns="0" bIns="0" rtlCol="0" anchor="ctr">
            <a:normAutofit/>
          </a:bodyPr>
          <a:lstStyle/>
          <a:p>
            <a:pPr marL="0" indent="0" algn="ctr">
              <a:buNone/>
            </a:pPr>
            <a:r>
              <a:rPr lang="en-US" sz="1350" dirty="0">
                <a:solidFill>
                  <a:srgbClr val="786B62"/>
                </a:solidFill>
                <a:latin typeface="Aptos" pitchFamily="34" charset="0"/>
                <a:ea typeface="Aptos" pitchFamily="34" charset="-122"/>
                <a:cs typeface="Aptos" pitchFamily="34" charset="-120"/>
              </a:rPr>
              <a:t>Predrag Pešić · 2024/3281</a:t>
            </a:r>
            <a:endParaRPr lang="en-US" sz="1350" dirty="0"/>
          </a:p>
        </p:txBody>
      </p:sp>
      <p:sp>
        <p:nvSpPr>
          <p:cNvPr id="8" name="Text 6"/>
          <p:cNvSpPr/>
          <p:nvPr/>
        </p:nvSpPr>
        <p:spPr>
          <a:xfrm>
            <a:off x="2743200" y="5422392"/>
            <a:ext cx="6702552" cy="566928"/>
          </a:xfrm>
          <a:prstGeom prst="rect">
            <a:avLst/>
          </a:prstGeom>
          <a:noFill/>
          <a:ln/>
        </p:spPr>
        <p:txBody>
          <a:bodyPr wrap="square" lIns="0" tIns="0" rIns="0" bIns="0" rtlCol="0" anchor="t">
            <a:normAutofit/>
          </a:bodyPr>
          <a:lstStyle/>
          <a:p>
            <a:pPr marL="0" indent="0" algn="ctr">
              <a:buNone/>
            </a:pPr>
            <a:r>
              <a:rPr lang="en-US" sz="1200" dirty="0">
                <a:solidFill>
                  <a:srgbClr val="786B62"/>
                </a:solidFill>
                <a:latin typeface="Aptos" pitchFamily="34" charset="0"/>
                <a:ea typeface="Aptos" pitchFamily="34" charset="-122"/>
                <a:cs typeface="Aptos" pitchFamily="34" charset="-120"/>
              </a:rPr>
              <a:t>Interaktivna vizualizacija grafovskih algoritama za pronalaženje puta sa podrškom veštačke inteligencije</a:t>
            </a:r>
            <a:endParaRPr lang="en-US" sz="1200" dirty="0"/>
          </a:p>
        </p:txBody>
      </p:sp>
      <p:sp>
        <p:nvSpPr>
          <p:cNvPr id="9" name="Shape 7"/>
          <p:cNvSpPr/>
          <p:nvPr/>
        </p:nvSpPr>
        <p:spPr>
          <a:xfrm>
            <a:off x="658368" y="6428232"/>
            <a:ext cx="10881360" cy="0"/>
          </a:xfrm>
          <a:prstGeom prst="line">
            <a:avLst/>
          </a:prstGeom>
          <a:noFill/>
          <a:ln w="10160">
            <a:solidFill>
              <a:srgbClr val="DED2C5"/>
            </a:solidFill>
            <a:prstDash val="solid"/>
          </a:ln>
        </p:spPr>
        <p:txBody>
          <a:bodyPr/>
          <a:lstStyle/>
          <a:p>
            <a:endParaRPr lang="en-US"/>
          </a:p>
        </p:txBody>
      </p:sp>
      <p:sp>
        <p:nvSpPr>
          <p:cNvPr id="10" name="Text 8"/>
          <p:cNvSpPr/>
          <p:nvPr/>
        </p:nvSpPr>
        <p:spPr>
          <a:xfrm>
            <a:off x="11045952" y="6492240"/>
            <a:ext cx="493776" cy="146304"/>
          </a:xfrm>
          <a:prstGeom prst="rect">
            <a:avLst/>
          </a:prstGeom>
          <a:noFill/>
          <a:ln/>
        </p:spPr>
        <p:txBody>
          <a:bodyPr wrap="square" lIns="0" tIns="0" rIns="0" bIns="0" rtlCol="0" anchor="ctr">
            <a:normAutofit/>
          </a:bodyPr>
          <a:lstStyle/>
          <a:p>
            <a:pPr marL="0" indent="0" algn="r">
              <a:buNone/>
            </a:pPr>
            <a:r>
              <a:rPr lang="en-US" sz="850" b="1" dirty="0">
                <a:solidFill>
                  <a:srgbClr val="786B62"/>
                </a:solidFill>
                <a:latin typeface="Aptos" pitchFamily="34" charset="0"/>
                <a:ea typeface="Aptos" pitchFamily="34" charset="-122"/>
                <a:cs typeface="Aptos" pitchFamily="34" charset="-120"/>
              </a:rPr>
              <a:t>15</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TotalTime>
  <Words>1712</Words>
  <Application>Microsoft Office PowerPoint</Application>
  <PresentationFormat>Widescreen</PresentationFormat>
  <Paragraphs>311</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Aptos</vt:lpstr>
      <vt:lpstr>Arial</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Univerzitet u Beogradu · Elektrotehnički fakultet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Interaktivna vizualizacija grafovskih algoritama za pronalaženje puta sa podrškom veštačke inteligencije</dc:title>
  <dc:subject>Odbrana master rada</dc:subject>
  <dc:creator>Predrag Pešić</dc:creator>
  <cp:lastModifiedBy>Predrag Pesic</cp:lastModifiedBy>
  <cp:revision>7</cp:revision>
  <dcterms:created xsi:type="dcterms:W3CDTF">2026-09-04T07:51:43Z</dcterms:created>
  <dcterms:modified xsi:type="dcterms:W3CDTF">2026-09-04T08:13:52Z</dcterms:modified>
</cp:coreProperties>
</file>